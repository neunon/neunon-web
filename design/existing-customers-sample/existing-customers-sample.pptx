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33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5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4"/>
    <p:sldMasterId id="2147483700" r:id="rId8"/>
    <p:sldMasterId id="2147483746" r:id="rId12"/>
  </p:sldMasterIdLst>
  <p:notesMasterIdLst>
    <p:notesMasterId r:id="rId92"/>
  </p:notesMasterIdLst>
  <p:handoutMasterIdLst>
    <p:handoutMasterId r:id="rId93"/>
  </p:handoutMasterIdLst>
  <p:sldIdLst>
    <p:sldId id="2830" r:id="rId16"/>
    <p:sldId id="2147482256" r:id="rId33"/>
    <p:sldId id="404" r:id="rId35"/>
    <p:sldId id="402" r:id="rId36"/>
    <p:sldId id="2147482257" r:id="rId39"/>
    <p:sldId id="359" r:id="rId41"/>
    <p:sldId id="2147482268" r:id="rId101"/>
    <p:sldId id="2147482269" r:id="rId102"/>
    <p:sldId id="364" r:id="rId48"/>
    <p:sldId id="2147482270" r:id="rId103"/>
  </p:sldIdLst>
  <p:sldSz cx="9906000" cy="6858000" type="A4"/>
  <p:notesSz cx="6797675" cy="9926638"/>
  <p:custDataLst>
    <p:tags r:id="rId94"/>
  </p:custDataLst>
  <p:defaultTextStyle>
    <a:defPPr>
      <a:defRPr lang="ja-JP"/>
    </a:defPPr>
    <a:lvl1pPr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5pPr>
    <a:lvl6pPr marL="22860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6pPr>
    <a:lvl7pPr marL="27432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7pPr>
    <a:lvl8pPr marL="32004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8pPr>
    <a:lvl9pPr marL="36576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  <p15:guide id="3" pos="50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222"/>
    <a:srgbClr val="E4E4E4"/>
    <a:srgbClr val="F2F2F2"/>
    <a:srgbClr val="FFCCCC"/>
    <a:srgbClr val="3366CC"/>
    <a:srgbClr val="0066FF"/>
    <a:srgbClr val="4D4D4D"/>
    <a:srgbClr val="060000"/>
    <a:srgbClr val="969696"/>
    <a:srgbClr val="8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76" autoAdjust="0"/>
    <p:restoredTop sz="94660"/>
  </p:normalViewPr>
  <p:slideViewPr>
    <p:cSldViewPr snapToObjects="1" showGuides="1">
      <p:cViewPr varScale="1">
        <p:scale>
          <a:sx n="78" d="100"/>
          <a:sy n="78" d="100"/>
        </p:scale>
        <p:origin x="756" y="18"/>
      </p:cViewPr>
      <p:guideLst>
        <p:guide orient="horz" pos="2160"/>
        <p:guide pos="3120"/>
        <p:guide pos="50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10356"/>
    </p:cViewPr>
  </p:sorterViewPr>
  <p:notesViewPr>
    <p:cSldViewPr snapToObjects="1">
      <p:cViewPr varScale="1">
        <p:scale>
          <a:sx n="44" d="100"/>
          <a:sy n="44" d="100"/>
        </p:scale>
        <p:origin x="2852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Master" Target="slideMasters/slideMaster5.xml"/><Relationship Id="rId12" Type="http://schemas.openxmlformats.org/officeDocument/2006/relationships/slideMaster" Target="slideMasters/slideMaster9.xml"/><Relationship Id="rId16" Type="http://schemas.openxmlformats.org/officeDocument/2006/relationships/slide" Target="slides/slide1.xml"/><Relationship Id="rId33" Type="http://schemas.openxmlformats.org/officeDocument/2006/relationships/slide" Target="slides/slide18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9" Type="http://schemas.openxmlformats.org/officeDocument/2006/relationships/slide" Target="slides/slide24.xml"/><Relationship Id="rId41" Type="http://schemas.openxmlformats.org/officeDocument/2006/relationships/slide" Target="slides/slide26.xml"/><Relationship Id="rId48" Type="http://schemas.openxmlformats.org/officeDocument/2006/relationships/slide" Target="slides/slide33.xml"/><Relationship Id="rId92" Type="http://schemas.openxmlformats.org/officeDocument/2006/relationships/notesMaster" Target="notesMasters/notesMaster1.xml"/><Relationship Id="rId93" Type="http://schemas.openxmlformats.org/officeDocument/2006/relationships/handoutMaster" Target="handoutMasters/handoutMaster1.xml"/><Relationship Id="rId94" Type="http://schemas.openxmlformats.org/officeDocument/2006/relationships/tags" Target="tags/tag1.xml"/><Relationship Id="rId95" Type="http://schemas.openxmlformats.org/officeDocument/2006/relationships/presProps" Target="presProps.xml"/><Relationship Id="rId96" Type="http://schemas.openxmlformats.org/officeDocument/2006/relationships/viewProps" Target="viewProps.xml"/><Relationship Id="rId97" Type="http://schemas.openxmlformats.org/officeDocument/2006/relationships/theme" Target="theme/theme1.xml"/><Relationship Id="rId98" Type="http://schemas.openxmlformats.org/officeDocument/2006/relationships/tableStyles" Target="tableStyles.xml"/><Relationship Id="rId101" Type="http://schemas.openxmlformats.org/officeDocument/2006/relationships/slide" Target="slides/slide77.xml"/><Relationship Id="rId102" Type="http://schemas.openxmlformats.org/officeDocument/2006/relationships/slide" Target="slides/slide78.xml"/><Relationship Id="rId103" Type="http://schemas.openxmlformats.org/officeDocument/2006/relationships/slide" Target="slides/slide79.xml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4C6C9C"/>
            </a:solidFill>
            <a:ln w="6350">
              <a:solidFill>
                <a:srgbClr val="595959"/>
              </a:solidFill>
            </a:ln>
          </c:spPr>
          <c:dLbls>
            <c:txPr>
              <a:bodyPr/>
              <a:lstStyle/>
              <a:p>
                <a:pPr>
                  <a:defRPr sz="95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36</c:v>
                </c:pt>
                <c:pt idx="2">
                  <c:v>34</c:v>
                </c:pt>
                <c:pt idx="3">
                  <c:v>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UV・ボディ</c:v>
                </c:pt>
              </c:strCache>
            </c:strRef>
          </c:tx>
          <c:spPr>
            <a:solidFill>
              <a:srgbClr val="9DB1CF"/>
            </a:solidFill>
            <a:ln w="6350">
              <a:solidFill>
                <a:srgbClr val="595959"/>
              </a:solidFill>
            </a:ln>
          </c:spPr>
          <c:dLbls>
            <c:txPr>
              <a:bodyPr/>
              <a:lstStyle/>
              <a:p>
                <a:pPr>
                  <a:defRPr sz="950">
                    <a:solidFill>
                      <a:srgbClr val="000000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41</c:v>
                </c:pt>
                <c:pt idx="1">
                  <c:v>48</c:v>
                </c:pt>
                <c:pt idx="2">
                  <c:v>55</c:v>
                </c:pt>
                <c:pt idx="3">
                  <c:v>63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ヘアケア</c:v>
                </c:pt>
              </c:strCache>
            </c:strRef>
          </c:tx>
          <c:spPr>
            <a:solidFill>
              <a:srgbClr val="C3CFE1"/>
            </a:solidFill>
            <a:ln w="6350">
              <a:solidFill>
                <a:srgbClr val="595959"/>
              </a:solidFill>
            </a:ln>
          </c:spPr>
          <c:dLbls>
            <c:txPr>
              <a:bodyPr/>
              <a:lstStyle/>
              <a:p>
                <a:pPr>
                  <a:defRPr sz="950">
                    <a:solidFill>
                      <a:srgbClr val="000000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92</c:v>
                </c:pt>
                <c:pt idx="1">
                  <c:v>95</c:v>
                </c:pt>
                <c:pt idx="2">
                  <c:v>101</c:v>
                </c:pt>
                <c:pt idx="3">
                  <c:v>112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スキンケア</c:v>
                </c:pt>
              </c:strCache>
            </c:strRef>
          </c:tx>
          <c:spPr>
            <a:solidFill>
              <a:srgbClr val="DFE5EF"/>
            </a:solidFill>
            <a:ln w="6350">
              <a:solidFill>
                <a:srgbClr val="595959"/>
              </a:solidFill>
            </a:ln>
          </c:spPr>
          <c:dLbls>
            <c:txPr>
              <a:bodyPr/>
              <a:lstStyle/>
              <a:p>
                <a:pPr>
                  <a:defRPr sz="950">
                    <a:solidFill>
                      <a:srgbClr val="000000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168</c:v>
                </c:pt>
                <c:pt idx="1">
                  <c:v>176</c:v>
                </c:pt>
                <c:pt idx="2">
                  <c:v>189</c:v>
                </c:pt>
                <c:pt idx="3">
                  <c:v>204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合計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050" b="0"/>
                      <a:t>339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50" b="0"/>
                      <a:t>355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50" b="0"/>
                      <a:t>379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50" b="0"/>
                      <a:t>412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95959"/>
            </a:solidFill>
          </a:ln>
        </c:spPr>
        <c:txPr>
          <a:bodyPr/>
          <a:lstStyle/>
          <a:p>
            <a:pPr>
              <a:defRPr sz="10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海外</c:v>
                </c:pt>
              </c:strCache>
            </c:strRef>
          </c:tx>
          <c:spPr>
            <a:solidFill>
              <a:srgbClr val="4C6C9C"/>
            </a:solidFill>
            <a:ln w="6350">
              <a:solidFill>
                <a:srgbClr val="595959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5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百貨店・専門店</c:v>
                </c:pt>
              </c:strCache>
            </c:strRef>
          </c:tx>
          <c:spPr>
            <a:solidFill>
              <a:srgbClr val="6F8DB9"/>
            </a:solidFill>
            <a:ln w="6350">
              <a:solidFill>
                <a:srgbClr val="595959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5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</c:v>
                </c:pt>
                <c:pt idx="1">
                  <c:v>11</c:v>
                </c:pt>
                <c:pt idx="2">
                  <c:v>11</c:v>
                </c:pt>
                <c:pt idx="3">
                  <c:v>10</c:v>
                </c:pt>
                <c:pt idx="4">
                  <c:v>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EC</c:v>
                </c:pt>
              </c:strCache>
            </c:strRef>
          </c:tx>
          <c:spPr>
            <a:solidFill>
              <a:srgbClr val="9DB1CF"/>
            </a:solidFill>
            <a:ln w="6350">
              <a:solidFill>
                <a:srgbClr val="595959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50">
                    <a:solidFill>
                      <a:srgbClr val="000000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</c:v>
                </c:pt>
                <c:pt idx="1">
                  <c:v>9</c:v>
                </c:pt>
                <c:pt idx="2">
                  <c:v>11</c:v>
                </c:pt>
                <c:pt idx="3">
                  <c:v>13</c:v>
                </c:pt>
                <c:pt idx="4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量販・バラエティ</c:v>
                </c:pt>
              </c:strCache>
            </c:strRef>
          </c:tx>
          <c:spPr>
            <a:solidFill>
              <a:srgbClr val="C3CFE1"/>
            </a:solidFill>
            <a:ln w="6350">
              <a:solidFill>
                <a:srgbClr val="595959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50">
                    <a:solidFill>
                      <a:srgbClr val="000000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15</c:v>
                </c:pt>
                <c:pt idx="1">
                  <c:v>14</c:v>
                </c:pt>
                <c:pt idx="2">
                  <c:v>14</c:v>
                </c:pt>
                <c:pt idx="3">
                  <c:v>13</c:v>
                </c:pt>
                <c:pt idx="4">
                  <c:v>13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ドラッグストア</c:v>
                </c:pt>
              </c:strCache>
            </c:strRef>
          </c:tx>
          <c:spPr>
            <a:solidFill>
              <a:srgbClr val="DFE5EF"/>
            </a:solidFill>
            <a:ln w="6350">
              <a:solidFill>
                <a:srgbClr val="595959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50">
                    <a:solidFill>
                      <a:srgbClr val="000000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63</c:v>
                </c:pt>
                <c:pt idx="1">
                  <c:v>63</c:v>
                </c:pt>
                <c:pt idx="2">
                  <c:v>60</c:v>
                </c:pt>
                <c:pt idx="3">
                  <c:v>60</c:v>
                </c:pt>
                <c:pt idx="4">
                  <c:v>56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95959"/>
            </a:solidFill>
          </a:ln>
        </c:spPr>
        <c:txPr>
          <a:bodyPr/>
          <a:lstStyle/>
          <a:p>
            <a:pPr>
              <a:defRPr sz="10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2270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2270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fld id="{57715CEF-FD4F-4EE3-910E-BC32EAFBD6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12327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11200" y="744538"/>
            <a:ext cx="537845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3288"/>
            <a:ext cx="4984750" cy="4468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fld id="{081FFEF9-9ACD-4A97-BB83-C27864A5F5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8357374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2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34.xml.rels><?xml version='1.0' encoding='UTF-8' standalone='yes'?>
<Relationships xmlns="http://schemas.openxmlformats.org/package/2006/relationships"><Relationship Id="rId2" Type="http://schemas.openxmlformats.org/officeDocument/2006/relationships/slideMaster" Target="../slideMasters/slideMaster5.xml"/></Relationships>
</file>

<file path=ppt/slideLayouts/_rels/slideLayout38.xml.rels><?xml version='1.0' encoding='UTF-8' standalone='yes'?>
<Relationships xmlns="http://schemas.openxmlformats.org/package/2006/relationships"><Relationship Id="rId2" Type="http://schemas.openxmlformats.org/officeDocument/2006/relationships/slideMaster" Target="../slideMasters/slideMaster5.xml"/></Relationships>
</file>

<file path=ppt/slideLayouts/_rels/slideLayout76.xml.rels><?xml version='1.0' encoding='UTF-8' standalone='yes'?>
<Relationships xmlns="http://schemas.openxmlformats.org/package/2006/relationships"><Relationship Id="rId2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図 47">
            <a:extLst>
              <a:ext uri="{FF2B5EF4-FFF2-40B4-BE49-F238E27FC236}">
                <a16:creationId xmlns:a16="http://schemas.microsoft.com/office/drawing/2014/main" id="{29814DD8-AC49-C28C-E0D8-7AB9BC4BFD2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-12" t="46" b="66"/>
          <a:stretch>
            <a:fillRect/>
          </a:stretch>
        </p:blipFill>
        <p:spPr>
          <a:xfrm>
            <a:off x="0" y="3176"/>
            <a:ext cx="9907200" cy="6854824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CFF7D3B-C27D-BE5E-FBD7-027415FE4CB4}"/>
              </a:ext>
            </a:extLst>
          </p:cNvPr>
          <p:cNvPicPr>
            <a:picLocks/>
          </p:cNvPicPr>
          <p:nvPr userDrawn="1"/>
        </p:nvPicPr>
        <p:blipFill>
          <a:blip r:embed="rId6">
            <a:alphaModFix amt="75000"/>
          </a:blip>
          <a:stretch>
            <a:fillRect/>
          </a:stretch>
        </p:blipFill>
        <p:spPr>
          <a:xfrm>
            <a:off x="0" y="0"/>
            <a:ext cx="9907200" cy="6858000"/>
          </a:xfrm>
          <a:prstGeom prst="rect">
            <a:avLst/>
          </a:prstGeom>
        </p:spPr>
      </p:pic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F17FDA8-9DE4-DC49-2498-66BDF50EE2D9}"/>
              </a:ext>
            </a:extLst>
          </p:cNvPr>
          <p:cNvSpPr txBox="1"/>
          <p:nvPr userDrawn="1"/>
        </p:nvSpPr>
        <p:spPr>
          <a:xfrm>
            <a:off x="2036676" y="6114782"/>
            <a:ext cx="58326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株式会社</a:t>
            </a:r>
            <a:r>
              <a:rPr kumimoji="1" lang="en-US" altLang="ja-JP" sz="1400" dirty="0" err="1">
                <a:solidFill>
                  <a:schemeClr val="accent6">
                    <a:lumMod val="40000"/>
                    <a:lumOff val="60000"/>
                  </a:schemeClr>
                </a:solidFill>
              </a:rPr>
              <a:t>Neunon</a:t>
            </a:r>
            <a:r>
              <a:rPr kumimoji="1" lang="en-US" altLang="ja-JP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Consulting</a:t>
            </a:r>
            <a:endParaRPr kumimoji="1" lang="ja-JP" altLang="en-US" sz="1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38444736-D8EC-E433-D4B6-37608948A00D}"/>
              </a:ext>
            </a:extLst>
          </p:cNvPr>
          <p:cNvGrpSpPr/>
          <p:nvPr userDrawn="1"/>
        </p:nvGrpSpPr>
        <p:grpSpPr>
          <a:xfrm>
            <a:off x="988838" y="1916832"/>
            <a:ext cx="7928324" cy="2880360"/>
            <a:chOff x="1139666" y="2194560"/>
            <a:chExt cx="8412480" cy="2880360"/>
          </a:xfrm>
        </p:grpSpPr>
        <p:sp>
          <p:nvSpPr>
            <p:cNvPr id="6" name="Shape 1">
              <a:extLst>
                <a:ext uri="{FF2B5EF4-FFF2-40B4-BE49-F238E27FC236}">
                  <a16:creationId xmlns:a16="http://schemas.microsoft.com/office/drawing/2014/main" id="{DC0B9F42-D2C4-9B2A-26DC-3E6BBE41F7C6}"/>
                </a:ext>
              </a:extLst>
            </p:cNvPr>
            <p:cNvSpPr/>
            <p:nvPr userDrawn="1"/>
          </p:nvSpPr>
          <p:spPr>
            <a:xfrm>
              <a:off x="1139666" y="2194560"/>
              <a:ext cx="8412480" cy="2880360"/>
            </a:xfrm>
            <a:prstGeom prst="rect">
              <a:avLst/>
            </a:prstGeom>
            <a:solidFill>
              <a:srgbClr val="F2F2F2">
                <a:alpha val="7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" name="Shape 5">
              <a:extLst>
                <a:ext uri="{FF2B5EF4-FFF2-40B4-BE49-F238E27FC236}">
                  <a16:creationId xmlns:a16="http://schemas.microsoft.com/office/drawing/2014/main" id="{A77E6329-A0B2-33BD-EE08-9D25B925F91B}"/>
                </a:ext>
              </a:extLst>
            </p:cNvPr>
            <p:cNvSpPr/>
            <p:nvPr userDrawn="1"/>
          </p:nvSpPr>
          <p:spPr>
            <a:xfrm>
              <a:off x="4251960" y="3986784"/>
              <a:ext cx="2194560" cy="0"/>
            </a:xfrm>
            <a:prstGeom prst="line">
              <a:avLst/>
            </a:prstGeom>
            <a:noFill/>
            <a:ln w="6985">
              <a:solidFill>
                <a:srgbClr val="333333">
                  <a:alpha val="8000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</p:grpSp>
      <p:sp>
        <p:nvSpPr>
          <p:cNvPr id="52" name="テキスト プレースホルダー 10">
            <a:extLst>
              <a:ext uri="{FF2B5EF4-FFF2-40B4-BE49-F238E27FC236}">
                <a16:creationId xmlns:a16="http://schemas.microsoft.com/office/drawing/2014/main" id="{BF025AEC-CF30-4D7E-354E-44A3D8EA3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8838" y="2924944"/>
            <a:ext cx="7928324" cy="936104"/>
          </a:xfrm>
        </p:spPr>
        <p:txBody>
          <a:bodyPr anchor="ctr"/>
          <a:lstStyle>
            <a:lvl1pPr algn="ctr">
              <a:buNone/>
              <a:defRPr sz="25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53" name="テキスト プレースホルダー 10">
            <a:extLst>
              <a:ext uri="{FF2B5EF4-FFF2-40B4-BE49-F238E27FC236}">
                <a16:creationId xmlns:a16="http://schemas.microsoft.com/office/drawing/2014/main" id="{8ACF2ADE-6466-95BC-294E-224040255E8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88838" y="2276872"/>
            <a:ext cx="7928324" cy="576064"/>
          </a:xfrm>
        </p:spPr>
        <p:txBody>
          <a:bodyPr anchor="ctr"/>
          <a:lstStyle>
            <a:lvl1pPr algn="ctr">
              <a:buNone/>
              <a:defRPr sz="13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クライアント名　御中</a:t>
            </a:r>
          </a:p>
        </p:txBody>
      </p:sp>
      <p:sp>
        <p:nvSpPr>
          <p:cNvPr id="54" name="テキスト プレースホルダー 10">
            <a:extLst>
              <a:ext uri="{FF2B5EF4-FFF2-40B4-BE49-F238E27FC236}">
                <a16:creationId xmlns:a16="http://schemas.microsoft.com/office/drawing/2014/main" id="{C4F8F933-18B4-CDE4-3E04-F9C882661F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88838" y="4005064"/>
            <a:ext cx="7928324" cy="385194"/>
          </a:xfrm>
        </p:spPr>
        <p:txBody>
          <a:bodyPr anchor="ctr"/>
          <a:lstStyle>
            <a:lvl1pPr algn="ctr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○○○○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○○</a:t>
            </a:r>
          </a:p>
        </p:txBody>
      </p:sp>
    </p:spTree>
    <p:extLst>
      <p:ext uri="{BB962C8B-B14F-4D97-AF65-F5344CB8AC3E}">
        <p14:creationId xmlns:p14="http://schemas.microsoft.com/office/powerpoint/2010/main" val="406945258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 vert="horz" rIns="36000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- </a:t>
            </a:r>
            <a:fld id="{FB495C54-DA7D-4CB3-B2BA-24F6A02A0389}" type="slidenum">
              <a:rPr lang="en-US" altLang="ja-JP"/>
              <a:pPr>
                <a:defRPr/>
              </a:pPr>
              <a:t>‹#›</a:t>
            </a:fld>
            <a:r>
              <a:rPr lang="en-US" altLang="ja-JP"/>
              <a:t> -</a:t>
            </a:r>
          </a:p>
        </p:txBody>
      </p:sp>
    </p:spTree>
    <p:extLst>
      <p:ext uri="{BB962C8B-B14F-4D97-AF65-F5344CB8AC3E}">
        <p14:creationId xmlns:p14="http://schemas.microsoft.com/office/powerpoint/2010/main" val="414441701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 vert="horz" rIns="36000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- </a:t>
            </a:r>
            <a:fld id="{AF75C7C4-BB14-4691-A9FF-6E7798E48C8C}" type="slidenum">
              <a:rPr lang="en-US" altLang="ja-JP"/>
              <a:pPr>
                <a:defRPr/>
              </a:pPr>
              <a:t>‹#›</a:t>
            </a:fld>
            <a:r>
              <a:rPr lang="en-US" altLang="ja-JP"/>
              <a:t> -</a:t>
            </a:r>
          </a:p>
        </p:txBody>
      </p:sp>
    </p:spTree>
    <p:extLst>
      <p:ext uri="{BB962C8B-B14F-4D97-AF65-F5344CB8AC3E}">
        <p14:creationId xmlns:p14="http://schemas.microsoft.com/office/powerpoint/2010/main" val="346186326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 vert="horz" rIns="36000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- </a:t>
            </a:r>
            <a:fld id="{FB495C54-DA7D-4CB3-B2BA-24F6A02A0389}" type="slidenum">
              <a:rPr lang="en-US" altLang="ja-JP"/>
              <a:pPr>
                <a:defRPr/>
              </a:pPr>
              <a:t>‹#›</a:t>
            </a:fld>
            <a:r>
              <a:rPr lang="en-US" altLang="ja-JP"/>
              <a:t> -</a:t>
            </a:r>
          </a:p>
        </p:txBody>
      </p:sp>
    </p:spTree>
    <p:extLst>
      <p:ext uri="{BB962C8B-B14F-4D97-AF65-F5344CB8AC3E}">
        <p14:creationId xmlns:p14="http://schemas.microsoft.com/office/powerpoint/2010/main" val="423278655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theme" Target="../theme/theme1.xml"/><Relationship Id="rId12" Type="http://schemas.openxmlformats.org/officeDocument/2006/relationships/image" Target="../media/image2.png"/></Relationships>
</file>

<file path=ppt/slideMasters/_rels/slideMaster5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8.xml"/><Relationship Id="rId13" Type="http://schemas.openxmlformats.org/officeDocument/2006/relationships/theme" Target="../theme/theme5.xml"/></Relationships>
</file>

<file path=ppt/slideMasters/_rels/slideMaster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76.xml"/><Relationship Id="rId13" Type="http://schemas.openxmlformats.org/officeDocument/2006/relationships/theme" Target="../theme/theme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4488" y="188640"/>
            <a:ext cx="9217024" cy="536103"/>
          </a:xfrm>
          <a:prstGeom prst="rect">
            <a:avLst/>
          </a:prstGeom>
          <a:noFill/>
          <a:ln>
            <a:noFill/>
          </a:ln>
          <a:effectLst/>
          <a:scene3d>
            <a:camera prst="orthographicFront"/>
            <a:lightRig rig="threePt" dir="t"/>
          </a:scene3d>
          <a:sp3d>
            <a:bevelT w="101600" prst="riblet"/>
          </a:sp3d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6000" tIns="36000" rIns="36000" bIns="360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1402432"/>
            <a:ext cx="84201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63137" y="6664014"/>
            <a:ext cx="488504" cy="2169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ct val="90000"/>
              </a:lnSpc>
              <a:defRPr sz="900" b="1" smtClean="0">
                <a:latin typeface="Arial" charset="0"/>
              </a:defRPr>
            </a:lvl1pPr>
          </a:lstStyle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pic>
        <p:nvPicPr>
          <p:cNvPr id="22" name="図 21" descr="図形  AI 生成コンテンツは誤りを含む可能性があります。">
            <a:extLst>
              <a:ext uri="{FF2B5EF4-FFF2-40B4-BE49-F238E27FC236}">
                <a16:creationId xmlns:a16="http://schemas.microsoft.com/office/drawing/2014/main" id="{4EE04B1D-E248-8A80-5249-52C14F07C935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173" y="6680160"/>
            <a:ext cx="362266" cy="204230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9A722D8B-7D5A-AF8F-41AE-DF0D6C7E84DE}"/>
              </a:ext>
            </a:extLst>
          </p:cNvPr>
          <p:cNvSpPr>
            <a:spLocks/>
          </p:cNvSpPr>
          <p:nvPr userDrawn="1"/>
        </p:nvSpPr>
        <p:spPr bwMode="auto">
          <a:xfrm rot="10800000">
            <a:off x="342680" y="6669360"/>
            <a:ext cx="9214456" cy="21600"/>
          </a:xfrm>
          <a:prstGeom prst="rect">
            <a:avLst/>
          </a:prstGeom>
          <a:gradFill flip="none" rotWithShape="1">
            <a:gsLst>
              <a:gs pos="40000">
                <a:schemeClr val="accent4">
                  <a:lumMod val="75000"/>
                  <a:lumOff val="2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/>
              <a:ea typeface="ＭＳ Ｐゴシック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B82C2A2-EFD0-A16E-E83A-27A8723353E9}"/>
              </a:ext>
            </a:extLst>
          </p:cNvPr>
          <p:cNvSpPr txBox="1"/>
          <p:nvPr userDrawn="1"/>
        </p:nvSpPr>
        <p:spPr>
          <a:xfrm>
            <a:off x="674439" y="6669360"/>
            <a:ext cx="1038201" cy="23083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ja-JP" sz="900" dirty="0"/>
              <a:t>Confidential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44C8385-0E42-C940-122D-78C87F6CAEEF}"/>
              </a:ext>
            </a:extLst>
          </p:cNvPr>
          <p:cNvSpPr txBox="1"/>
          <p:nvPr userDrawn="1"/>
        </p:nvSpPr>
        <p:spPr>
          <a:xfrm>
            <a:off x="1333499" y="6651228"/>
            <a:ext cx="288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00" dirty="0"/>
              <a:t>|</a:t>
            </a:r>
            <a:endParaRPr kumimoji="1" lang="ja-JP" altLang="en-US" sz="9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hf hdr="0" ftr="0"/>
  <p:txStyles>
    <p:titleStyle>
      <a:lvl1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2pPr>
      <a:lvl3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3pPr>
      <a:lvl4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4pPr>
      <a:lvl5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5pPr>
      <a:lvl6pPr marL="4572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6pPr>
      <a:lvl7pPr marL="9144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7pPr>
      <a:lvl8pPr marL="13716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8pPr>
      <a:lvl9pPr marL="18288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9pPr>
    </p:titleStyle>
    <p:bodyStyle>
      <a:lvl1pPr marL="342900" indent="-252000" algn="l" rtl="0" eaLnBrk="0" fontAlgn="base" hangingPunct="0">
        <a:spcBef>
          <a:spcPct val="30000"/>
        </a:spcBef>
        <a:spcAft>
          <a:spcPct val="0"/>
        </a:spcAft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16000" algn="l" rtl="0" eaLnBrk="0" fontAlgn="base" hangingPunct="0">
        <a:spcBef>
          <a:spcPct val="30000"/>
        </a:spcBef>
        <a:spcAft>
          <a:spcPct val="0"/>
        </a:spcAft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2pPr>
      <a:lvl3pPr marL="95250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3pPr>
      <a:lvl4pPr marL="139065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4pPr>
      <a:lvl5pPr marL="2073600" indent="-216000" algn="l" rtl="0" eaLnBrk="1" fontAlgn="base" hangingPunct="1">
        <a:spcBef>
          <a:spcPct val="30000"/>
        </a:spcBef>
        <a:spcAft>
          <a:spcPct val="0"/>
        </a:spcAft>
        <a:buSzPct val="5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5pPr>
      <a:lvl6pPr marL="22669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6pPr>
      <a:lvl7pPr marL="27241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7pPr>
      <a:lvl8pPr marL="31813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8pPr>
      <a:lvl9pPr marL="36385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42950" y="228600"/>
            <a:ext cx="842010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6000" tIns="36000" rIns="36000" bIns="36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1143000"/>
            <a:ext cx="84201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842250" y="6705600"/>
            <a:ext cx="20637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lnSpc>
                <a:spcPct val="90000"/>
              </a:lnSpc>
              <a:defRPr sz="1000" b="1" smtClean="0">
                <a:latin typeface="Arial" charset="0"/>
              </a:defRPr>
            </a:lvl1pPr>
          </a:lstStyle>
          <a:p>
            <a:pPr>
              <a:defRPr/>
            </a:pPr>
            <a:r>
              <a:rPr lang="en-US" altLang="ja-JP"/>
              <a:t>- </a:t>
            </a:r>
            <a:fld id="{58D3BF63-0B8B-40DF-876F-B581181B7E64}" type="slidenum">
              <a:rPr lang="en-US" altLang="ja-JP"/>
              <a:pPr>
                <a:defRPr/>
              </a:pPr>
              <a:t>‹#›</a:t>
            </a:fld>
            <a:r>
              <a:rPr lang="en-US" altLang="ja-JP"/>
              <a:t> -</a:t>
            </a:r>
          </a:p>
        </p:txBody>
      </p:sp>
    </p:spTree>
    <p:extLst>
      <p:ext uri="{BB962C8B-B14F-4D97-AF65-F5344CB8AC3E}">
        <p14:creationId xmlns:p14="http://schemas.microsoft.com/office/powerpoint/2010/main" val="978080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2"/>
    <p:sldLayoutId id="2147483706" r:id="rId6"/>
  </p:sldLayoutIdLst>
  <p:hf hdr="0" ftr="0" dt="0"/>
  <p:txStyles>
    <p:titleStyle>
      <a:lvl1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2pPr>
      <a:lvl3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3pPr>
      <a:lvl4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4pPr>
      <a:lvl5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5pPr>
      <a:lvl6pPr marL="4572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6pPr>
      <a:lvl7pPr marL="9144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7pPr>
      <a:lvl8pPr marL="13716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8pPr>
      <a:lvl9pPr marL="18288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9pPr>
    </p:titleStyle>
    <p:bodyStyle>
      <a:lvl1pPr marL="342900" indent="-342900" algn="l" rtl="0" eaLnBrk="0" fontAlgn="base" hangingPunct="0">
        <a:spcBef>
          <a:spcPct val="30000"/>
        </a:spcBef>
        <a:spcAft>
          <a:spcPct val="0"/>
        </a:spcAft>
        <a:defRPr kumimoji="1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85750" algn="l" rtl="0" eaLnBrk="0" fontAlgn="base" hangingPunct="0">
        <a:spcBef>
          <a:spcPct val="30000"/>
        </a:spcBef>
        <a:spcAft>
          <a:spcPct val="0"/>
        </a:spcAft>
        <a:buFont typeface="Wingdings" pitchFamily="2" charset="2"/>
        <a:buChar char="l"/>
        <a:defRPr kumimoji="1">
          <a:solidFill>
            <a:schemeClr val="tx1"/>
          </a:solidFill>
          <a:latin typeface="+mn-lt"/>
          <a:ea typeface="+mn-ea"/>
        </a:defRPr>
      </a:lvl2pPr>
      <a:lvl3pPr marL="952500" indent="-222250" algn="l" rtl="0" eaLnBrk="0" fontAlgn="base" hangingPunct="0">
        <a:spcBef>
          <a:spcPct val="30000"/>
        </a:spcBef>
        <a:spcAft>
          <a:spcPct val="0"/>
        </a:spcAft>
        <a:buChar char="–"/>
        <a:defRPr kumimoji="1">
          <a:solidFill>
            <a:schemeClr val="tx1"/>
          </a:solidFill>
          <a:latin typeface="+mn-lt"/>
          <a:ea typeface="+mn-ea"/>
        </a:defRPr>
      </a:lvl3pPr>
      <a:lvl4pPr marL="1390650" indent="-247650" algn="l" rtl="0" eaLnBrk="0" fontAlgn="base" hangingPunct="0">
        <a:spcBef>
          <a:spcPct val="30000"/>
        </a:spcBef>
        <a:spcAft>
          <a:spcPct val="0"/>
        </a:spcAft>
        <a:buSzPct val="70000"/>
        <a:buFont typeface="Wingdings" pitchFamily="2" charset="2"/>
        <a:buChar char="l"/>
        <a:defRPr kumimoji="1">
          <a:solidFill>
            <a:schemeClr val="tx1"/>
          </a:solidFill>
          <a:latin typeface="+mn-lt"/>
          <a:ea typeface="+mn-ea"/>
        </a:defRPr>
      </a:lvl4pPr>
      <a:lvl5pPr marL="1809750" indent="-228600" algn="l" rtl="0" eaLnBrk="0" fontAlgn="base" hangingPunct="0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5pPr>
      <a:lvl6pPr marL="22669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6pPr>
      <a:lvl7pPr marL="27241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7pPr>
      <a:lvl8pPr marL="31813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8pPr>
      <a:lvl9pPr marL="36385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42950" y="228600"/>
            <a:ext cx="842010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6000" tIns="36000" rIns="36000" bIns="36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1143000"/>
            <a:ext cx="84201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842250" y="6705600"/>
            <a:ext cx="20637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lnSpc>
                <a:spcPct val="90000"/>
              </a:lnSpc>
              <a:defRPr sz="1000" b="1" smtClean="0">
                <a:latin typeface="Arial" charset="0"/>
              </a:defRPr>
            </a:lvl1pPr>
          </a:lstStyle>
          <a:p>
            <a:pPr>
              <a:defRPr/>
            </a:pPr>
            <a:r>
              <a:rPr lang="en-US" altLang="ja-JP"/>
              <a:t>- </a:t>
            </a:r>
            <a:fld id="{58D3BF63-0B8B-40DF-876F-B581181B7E64}" type="slidenum">
              <a:rPr lang="en-US" altLang="ja-JP"/>
              <a:pPr>
                <a:defRPr/>
              </a:pPr>
              <a:t>‹#›</a:t>
            </a:fld>
            <a:r>
              <a:rPr lang="en-US" altLang="ja-JP"/>
              <a:t> -</a:t>
            </a:r>
          </a:p>
        </p:txBody>
      </p:sp>
    </p:spTree>
    <p:extLst>
      <p:ext uri="{BB962C8B-B14F-4D97-AF65-F5344CB8AC3E}">
        <p14:creationId xmlns:p14="http://schemas.microsoft.com/office/powerpoint/2010/main" val="40301298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2"/>
  </p:sldLayoutIdLst>
  <p:hf hdr="0" ftr="0" dt="0"/>
  <p:txStyles>
    <p:titleStyle>
      <a:lvl1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2pPr>
      <a:lvl3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3pPr>
      <a:lvl4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4pPr>
      <a:lvl5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5pPr>
      <a:lvl6pPr marL="4572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6pPr>
      <a:lvl7pPr marL="9144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7pPr>
      <a:lvl8pPr marL="13716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8pPr>
      <a:lvl9pPr marL="18288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9pPr>
    </p:titleStyle>
    <p:bodyStyle>
      <a:lvl1pPr marL="342900" indent="-342900" algn="l" rtl="0" eaLnBrk="0" fontAlgn="base" hangingPunct="0">
        <a:spcBef>
          <a:spcPct val="30000"/>
        </a:spcBef>
        <a:spcAft>
          <a:spcPct val="0"/>
        </a:spcAft>
        <a:defRPr kumimoji="1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85750" algn="l" rtl="0" eaLnBrk="0" fontAlgn="base" hangingPunct="0">
        <a:spcBef>
          <a:spcPct val="30000"/>
        </a:spcBef>
        <a:spcAft>
          <a:spcPct val="0"/>
        </a:spcAft>
        <a:buFont typeface="Wingdings" pitchFamily="2" charset="2"/>
        <a:buChar char="l"/>
        <a:defRPr kumimoji="1">
          <a:solidFill>
            <a:schemeClr val="tx1"/>
          </a:solidFill>
          <a:latin typeface="+mn-lt"/>
          <a:ea typeface="+mn-ea"/>
        </a:defRPr>
      </a:lvl2pPr>
      <a:lvl3pPr marL="952500" indent="-222250" algn="l" rtl="0" eaLnBrk="0" fontAlgn="base" hangingPunct="0">
        <a:spcBef>
          <a:spcPct val="30000"/>
        </a:spcBef>
        <a:spcAft>
          <a:spcPct val="0"/>
        </a:spcAft>
        <a:buChar char="–"/>
        <a:defRPr kumimoji="1">
          <a:solidFill>
            <a:schemeClr val="tx1"/>
          </a:solidFill>
          <a:latin typeface="+mn-lt"/>
          <a:ea typeface="+mn-ea"/>
        </a:defRPr>
      </a:lvl3pPr>
      <a:lvl4pPr marL="1390650" indent="-247650" algn="l" rtl="0" eaLnBrk="0" fontAlgn="base" hangingPunct="0">
        <a:spcBef>
          <a:spcPct val="30000"/>
        </a:spcBef>
        <a:spcAft>
          <a:spcPct val="0"/>
        </a:spcAft>
        <a:buSzPct val="70000"/>
        <a:buFont typeface="Wingdings" pitchFamily="2" charset="2"/>
        <a:buChar char="l"/>
        <a:defRPr kumimoji="1">
          <a:solidFill>
            <a:schemeClr val="tx1"/>
          </a:solidFill>
          <a:latin typeface="+mn-lt"/>
          <a:ea typeface="+mn-ea"/>
        </a:defRPr>
      </a:lvl4pPr>
      <a:lvl5pPr marL="1809750" indent="-228600" algn="l" rtl="0" eaLnBrk="0" fontAlgn="base" hangingPunct="0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5pPr>
      <a:lvl6pPr marL="22669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6pPr>
      <a:lvl7pPr marL="27241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7pPr>
      <a:lvl8pPr marL="31813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8pPr>
      <a:lvl9pPr marL="36385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27" Type="http://schemas.openxmlformats.org/officeDocument/2006/relationships/slideLayout" Target="../slideLayouts/slideLayout76.xml"/><Relationship Id="rId31" Type="http://schemas.openxmlformats.org/officeDocument/2006/relationships/chart" Target="../charts/chart27.xml"/></Relationships>
</file>

<file path=ppt/slides/_rels/slide20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34.xml"/></Relationships>
</file>

<file path=ppt/slides/_rels/slide21.xml.rels><?xml version='1.0' encoding='UTF-8' standalone='yes'?>
<Relationships xmlns="http://schemas.openxmlformats.org/package/2006/relationships"><Relationship Id="rId38" Type="http://schemas.openxmlformats.org/officeDocument/2006/relationships/slideLayout" Target="../slideLayouts/slideLayout34.xml"/><Relationship Id="rId42" Type="http://schemas.openxmlformats.org/officeDocument/2006/relationships/chart" Target="../charts/chart28.xml"/></Relationships>
</file>

<file path=ppt/slides/_rels/slide2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76.xml"/><Relationship Id="rId17" Type="http://schemas.openxmlformats.org/officeDocument/2006/relationships/image" Target="../media/image108.png"/><Relationship Id="rId18" Type="http://schemas.openxmlformats.org/officeDocument/2006/relationships/image" Target="../media/image109.png"/><Relationship Id="rId19" Type="http://schemas.openxmlformats.org/officeDocument/2006/relationships/image" Target="../media/image110.png"/><Relationship Id="rId20" Type="http://schemas.openxmlformats.org/officeDocument/2006/relationships/image" Target="../media/image111.png"/><Relationship Id="rId21" Type="http://schemas.openxmlformats.org/officeDocument/2006/relationships/image" Target="../media/image112.png"/><Relationship Id="rId22" Type="http://schemas.openxmlformats.org/officeDocument/2006/relationships/image" Target="../media/image113.png"/><Relationship Id="rId23" Type="http://schemas.openxmlformats.org/officeDocument/2006/relationships/image" Target="../media/image114.png"/><Relationship Id="rId24" Type="http://schemas.openxmlformats.org/officeDocument/2006/relationships/image" Target="../media/image115.png"/><Relationship Id="rId25" Type="http://schemas.openxmlformats.org/officeDocument/2006/relationships/image" Target="../media/image116.png"/><Relationship Id="rId26" Type="http://schemas.openxmlformats.org/officeDocument/2006/relationships/image" Target="../media/image117.png"/><Relationship Id="rId27" Type="http://schemas.openxmlformats.org/officeDocument/2006/relationships/image" Target="../media/image118.png"/><Relationship Id="rId28" Type="http://schemas.openxmlformats.org/officeDocument/2006/relationships/image" Target="../media/image119.png"/></Relationships>
</file>

<file path=ppt/slides/_rels/slide26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34.xml"/><Relationship Id="rId11" Type="http://schemas.openxmlformats.org/officeDocument/2006/relationships/image" Target="../media/image108.png"/><Relationship Id="rId12" Type="http://schemas.openxmlformats.org/officeDocument/2006/relationships/image" Target="../media/image109.png"/><Relationship Id="rId13" Type="http://schemas.openxmlformats.org/officeDocument/2006/relationships/image" Target="../media/image110.png"/><Relationship Id="rId14" Type="http://schemas.openxmlformats.org/officeDocument/2006/relationships/image" Target="../media/image111.png"/></Relationships>
</file>

<file path=ppt/slides/_rels/slide33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38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AE43DBD-6FB8-1F2E-D280-1F157A6550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サンプル化粧品株式会社　企業クローズアップ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ED71038-9B51-E394-6B99-37B7A33F10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サンプル容器株式会社　御中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1AB7F64-B77E-98D0-93C4-B68142A980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2026/10/22　（架空企業による分析サンプル）</a:t>
            </a:r>
          </a:p>
        </p:txBody>
      </p:sp>
    </p:spTree>
    <p:extLst>
      <p:ext uri="{BB962C8B-B14F-4D97-AF65-F5344CB8AC3E}">
        <p14:creationId xmlns:p14="http://schemas.microsoft.com/office/powerpoint/2010/main" val="3456980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5BBBA-7F00-9586-186A-D2557E233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スライド番号プレースホルダー 3">
            <a:extLst>
              <a:ext uri="{FF2B5EF4-FFF2-40B4-BE49-F238E27FC236}">
                <a16:creationId xmlns:a16="http://schemas.microsoft.com/office/drawing/2014/main" id="{E9D81F6D-60FA-D047-D299-84E2D7661A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 eaLnBrk="0" hangingPunct="0">
              <a:defRPr kumimoji="1" sz="1488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1pPr>
            <a:lvl2pPr marL="742950" indent="-285750" eaLnBrk="0" hangingPunct="0">
              <a:defRPr kumimoji="1" sz="1488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2pPr>
            <a:lvl3pPr marL="1143000" indent="-228600" eaLnBrk="0" hangingPunct="0">
              <a:defRPr kumimoji="1" sz="1488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3pPr>
            <a:lvl4pPr marL="1600200" indent="-228600" eaLnBrk="0" hangingPunct="0">
              <a:defRPr kumimoji="1" sz="1488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4pPr>
            <a:lvl5pPr marL="2057400" indent="-228600" eaLnBrk="0" hangingPunct="0">
              <a:defRPr kumimoji="1" sz="1488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88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88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88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88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9pPr>
          </a:lstStyle>
          <a:p>
            <a:r>
              <a:t>- 1 -</a:t>
            </a:r>
          </a:p>
        </p:txBody>
      </p:sp>
      <p:sp>
        <p:nvSpPr>
          <p:cNvPr id="7172" name="Rectangle 9">
            <a:extLst>
              <a:ext uri="{FF2B5EF4-FFF2-40B4-BE49-F238E27FC236}">
                <a16:creationId xmlns:a16="http://schemas.microsoft.com/office/drawing/2014/main" id="{5E513A91-851C-C777-145E-0A50B717AB9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4094" y="228600"/>
            <a:ext cx="9197813" cy="762000"/>
          </a:xfrm>
          <a:noFill/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rIns="36000"/>
          <a:lstStyle/>
          <a:p>
            <a:pPr eaLnBrk="1" hangingPunct="1"/>
            <a:r>
              <a:rPr lang="zh-TW" altLang="en-US" dirty="0"/>
              <a:t>サンプル化粧品株式会社（1）　会社概要</a:t>
            </a:r>
            <a:br>
              <a:rPr lang="en-US" altLang="ja-JP" dirty="0"/>
            </a:br>
            <a:br>
              <a:rPr lang="en-US" altLang="zh-TW" dirty="0"/>
            </a:br>
            <a:r>
              <a:rPr lang="zh-TW" altLang="en-US" sz="1800" dirty="0"/>
              <a:t>主力のスキンケアが成長をけん引。容器のプラスチック削減と海外生産を中計の柱に据える</a:t>
            </a:r>
            <a:br>
              <a:rPr lang="ja-JP" altLang="en-US" sz="1800" dirty="0"/>
            </a:br>
            <a:br>
              <a:rPr lang="en-US" altLang="ja-JP" sz="1674" dirty="0"/>
            </a:br>
            <a:endParaRPr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BA6438B-2AAB-2896-1558-806795C5C4D2}"/>
              </a:ext>
            </a:extLst>
          </p:cNvPr>
          <p:cNvSpPr txBox="1">
            <a:spLocks/>
          </p:cNvSpPr>
          <p:nvPr/>
        </p:nvSpPr>
        <p:spPr bwMode="auto">
          <a:xfrm>
            <a:off x="1085393" y="5111749"/>
            <a:ext cx="3322638" cy="1559012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91440" tIns="45720" rIns="91440" bIns="45720" rtlCol="0" anchor="t">
            <a:noAutofit/>
          </a:bodyPr>
          <a:lstStyle>
            <a:lvl1pPr marL="198000" indent="-198000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16" baseline="0"/>
            </a:lvl1pPr>
            <a:lvl2pPr marL="432000" lvl="1" indent="-1476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‒"/>
              <a:defRPr sz="1116"/>
            </a:lvl2pPr>
            <a:lvl3pPr marL="648000" lvl="2" indent="-1368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116"/>
            </a:lvl3pPr>
            <a:lvl4pPr marL="864000" indent="-1224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-"/>
              <a:defRPr sz="1116"/>
            </a:lvl4pPr>
            <a:lvl5pPr marL="1080000" indent="-108000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·"/>
              <a:defRPr sz="1116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化粧品・医薬部外品の企画・研究開発から製造・販売までを一貫して展開</a:t>
            </a:r>
            <a:endParaRPr kumimoji="1" lang="en-US" altLang="ja-JP" sz="1116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500700" marR="0" lvl="1" indent="-2667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‒"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スキンケアが売上の約5割</a:t>
            </a:r>
            <a:endParaRPr kumimoji="1" lang="en-US" altLang="ja-JP" sz="1116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中期経営計画で、2030年に容器のプラスチック使用量30%削減を掲げる</a:t>
            </a:r>
            <a:endParaRPr kumimoji="1" lang="en-US" altLang="ja-JP" sz="1116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500700" marR="0" lvl="1" indent="-2667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‒"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2025/10に海外子会社を設立し、現地生産を開始予定</a:t>
            </a:r>
            <a:endParaRPr kumimoji="1" lang="en-US" altLang="ja-JP" sz="1116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8C1790A9-C7F3-1B15-9ED4-CE8748C9B4FB}"/>
              </a:ext>
            </a:extLst>
          </p:cNvPr>
          <p:cNvGrpSpPr/>
          <p:nvPr/>
        </p:nvGrpSpPr>
        <p:grpSpPr>
          <a:xfrm>
            <a:off x="202819" y="1343189"/>
            <a:ext cx="4390141" cy="333211"/>
            <a:chOff x="609600" y="1343189"/>
            <a:chExt cx="3962400" cy="333211"/>
          </a:xfrm>
        </p:grpSpPr>
        <p:sp>
          <p:nvSpPr>
            <p:cNvPr id="5" name="Line 3">
              <a:extLst>
                <a:ext uri="{FF2B5EF4-FFF2-40B4-BE49-F238E27FC236}">
                  <a16:creationId xmlns:a16="http://schemas.microsoft.com/office/drawing/2014/main" id="{FE7FC81A-6768-8A0F-9931-A98E9C9D39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9600" y="1676400"/>
              <a:ext cx="396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0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88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</p:txBody>
        </p:sp>
        <p:sp>
          <p:nvSpPr>
            <p:cNvPr id="7" name="Text Box 4">
              <a:extLst>
                <a:ext uri="{FF2B5EF4-FFF2-40B4-BE49-F238E27FC236}">
                  <a16:creationId xmlns:a16="http://schemas.microsoft.com/office/drawing/2014/main" id="{2EC2E996-ABFE-15C2-052C-D6187EFDD4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34160" y="1343189"/>
              <a:ext cx="1311702" cy="3189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36000" tIns="36000" rIns="36000" bIns="36000" anchor="b">
              <a:spAutoFit/>
            </a:bodyPr>
            <a:lstStyle>
              <a:lvl1pPr eaLnBrk="0" hangingPunct="0"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1pPr>
              <a:lvl2pPr marL="742950" indent="-285750" eaLnBrk="0" hangingPunct="0"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2pPr>
              <a:lvl3pPr marL="1143000" indent="-228600" eaLnBrk="0" hangingPunct="0"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3pPr>
              <a:lvl4pPr marL="1600200" indent="-228600" eaLnBrk="0" hangingPunct="0"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4pPr>
              <a:lvl5pPr marL="2057400" indent="-228600" eaLnBrk="0" hangingPunct="0"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88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>基本情報・業績</a:t>
              </a:r>
              <a:endParaRPr kumimoji="1" lang="en-US" altLang="ja-JP" sz="1488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</p:txBody>
        </p:sp>
      </p:grpSp>
      <p:sp>
        <p:nvSpPr>
          <p:cNvPr id="16" name="TopicBox">
            <a:extLst>
              <a:ext uri="{FF2B5EF4-FFF2-40B4-BE49-F238E27FC236}">
                <a16:creationId xmlns:a16="http://schemas.microsoft.com/office/drawing/2014/main" id="{607BBB72-7056-5397-A82A-CC82ED3F5FC9}"/>
              </a:ext>
            </a:extLst>
          </p:cNvPr>
          <p:cNvSpPr/>
          <p:nvPr/>
        </p:nvSpPr>
        <p:spPr bwMode="auto">
          <a:xfrm>
            <a:off x="202820" y="5106408"/>
            <a:ext cx="717732" cy="1564352"/>
          </a:xfrm>
          <a:prstGeom prst="rect">
            <a:avLst/>
          </a:prstGeom>
          <a:solidFill>
            <a:srgbClr val="EAEAEA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事業概要</a:t>
            </a:r>
            <a:endParaRPr kumimoji="1" lang="en-US" altLang="ja-JP" sz="1116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経営動向</a:t>
            </a:r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F4A3A50-C341-3DF1-3B59-E301FE93A01A}"/>
              </a:ext>
            </a:extLst>
          </p:cNvPr>
          <p:cNvGrpSpPr/>
          <p:nvPr/>
        </p:nvGrpSpPr>
        <p:grpSpPr>
          <a:xfrm>
            <a:off x="5454708" y="1343189"/>
            <a:ext cx="4248472" cy="333211"/>
            <a:chOff x="609600" y="1343189"/>
            <a:chExt cx="3962400" cy="333211"/>
          </a:xfrm>
        </p:grpSpPr>
        <p:sp>
          <p:nvSpPr>
            <p:cNvPr id="28" name="Line 3">
              <a:extLst>
                <a:ext uri="{FF2B5EF4-FFF2-40B4-BE49-F238E27FC236}">
                  <a16:creationId xmlns:a16="http://schemas.microsoft.com/office/drawing/2014/main" id="{CCD0C2EC-5732-347B-48A8-C9B37357F0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9600" y="1676400"/>
              <a:ext cx="396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0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88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</p:txBody>
        </p:sp>
        <p:sp>
          <p:nvSpPr>
            <p:cNvPr id="29" name="Text Box 4">
              <a:extLst>
                <a:ext uri="{FF2B5EF4-FFF2-40B4-BE49-F238E27FC236}">
                  <a16:creationId xmlns:a16="http://schemas.microsoft.com/office/drawing/2014/main" id="{A6F0A727-FB7E-DA84-33B3-FE47248E49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06502" y="1343189"/>
              <a:ext cx="1367018" cy="3189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36000" tIns="36000" rIns="36000" bIns="36000" anchor="b">
              <a:spAutoFit/>
            </a:bodyPr>
            <a:lstStyle>
              <a:lvl1pPr eaLnBrk="0" hangingPunct="0"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1pPr>
              <a:lvl2pPr marL="742950" indent="-285750" eaLnBrk="0" hangingPunct="0"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2pPr>
              <a:lvl3pPr marL="1143000" indent="-228600" eaLnBrk="0" hangingPunct="0"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3pPr>
              <a:lvl4pPr marL="1600200" indent="-228600" eaLnBrk="0" hangingPunct="0"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4pPr>
              <a:lvl5pPr marL="2057400" indent="-228600" eaLnBrk="0" hangingPunct="0"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488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88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>グループ組織図</a:t>
              </a:r>
              <a:endParaRPr kumimoji="1" lang="en-US" altLang="ja-JP" sz="1488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</p:txBody>
        </p:sp>
      </p:grpSp>
      <p:sp>
        <p:nvSpPr>
          <p:cNvPr id="7256" name="TopicBox">
            <a:extLst>
              <a:ext uri="{FF2B5EF4-FFF2-40B4-BE49-F238E27FC236}">
                <a16:creationId xmlns:a16="http://schemas.microsoft.com/office/drawing/2014/main" id="{3727E89C-EC45-8948-8967-1CA65251E1CC}"/>
              </a:ext>
            </a:extLst>
          </p:cNvPr>
          <p:cNvSpPr/>
          <p:nvPr/>
        </p:nvSpPr>
        <p:spPr bwMode="auto">
          <a:xfrm>
            <a:off x="202820" y="1790700"/>
            <a:ext cx="717731" cy="2818944"/>
          </a:xfrm>
          <a:prstGeom prst="rect">
            <a:avLst/>
          </a:prstGeom>
          <a:solidFill>
            <a:srgbClr val="EAEAEA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itchFamily="50" charset="-128"/>
                <a:cs typeface="+mn-cs"/>
              </a:rPr>
              <a:t>売上</a:t>
            </a:r>
            <a:r>
              <a:rPr kumimoji="1" lang="en-US" altLang="ja-JP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itchFamily="50" charset="-128"/>
                <a:cs typeface="+mn-cs"/>
              </a:rPr>
              <a:t>/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itchFamily="50" charset="-128"/>
                <a:cs typeface="+mn-cs"/>
              </a:rPr>
              <a:t>利益</a:t>
            </a:r>
          </a:p>
        </p:txBody>
      </p:sp>
      <p:sp>
        <p:nvSpPr>
          <p:cNvPr id="7175" name="source">
            <a:extLst>
              <a:ext uri="{FF2B5EF4-FFF2-40B4-BE49-F238E27FC236}">
                <a16:creationId xmlns:a16="http://schemas.microsoft.com/office/drawing/2014/main" id="{E033FFBF-A84F-331A-AD2B-8A89DB43F0ED}"/>
              </a:ext>
            </a:extLst>
          </p:cNvPr>
          <p:cNvSpPr txBox="1"/>
          <p:nvPr/>
        </p:nvSpPr>
        <p:spPr bwMode="auto">
          <a:xfrm>
            <a:off x="920552" y="6687841"/>
            <a:ext cx="8944665" cy="152400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0" tIns="0" rIns="0" bIns="0" rtlCol="0" anchor="b">
            <a:noAutofit/>
          </a:bodyPr>
          <a:lstStyle/>
          <a:p>
            <a:pPr marL="327629" marR="0" lvl="0" indent="-327629" algn="l" defTabSz="914400" rtl="0" eaLnBrk="1" fontAlgn="auto" latinLnBrk="0" hangingPunct="1">
              <a:lnSpc>
                <a:spcPct val="95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1" lang="ja-JP" altLang="en-US" sz="837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/>
                <a:cs typeface="+mn-cs"/>
              </a:rPr>
              <a:t>出所：会社案内、決算公告（想定）</a:t>
            </a:r>
          </a:p>
        </p:txBody>
      </p:sp>
      <p:sp>
        <p:nvSpPr>
          <p:cNvPr id="9" name="TopicBox">
            <a:extLst>
              <a:ext uri="{FF2B5EF4-FFF2-40B4-BE49-F238E27FC236}">
                <a16:creationId xmlns:a16="http://schemas.microsoft.com/office/drawing/2014/main" id="{3F30BD0C-2678-5AF3-36C8-DD2EF4410ADB}"/>
              </a:ext>
            </a:extLst>
          </p:cNvPr>
          <p:cNvSpPr/>
          <p:nvPr/>
        </p:nvSpPr>
        <p:spPr bwMode="auto">
          <a:xfrm>
            <a:off x="202819" y="4709375"/>
            <a:ext cx="717732" cy="297303"/>
          </a:xfrm>
          <a:prstGeom prst="rect">
            <a:avLst/>
          </a:prstGeom>
          <a:solidFill>
            <a:srgbClr val="EAEAEA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従業員数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0EE083A-B1B4-5D9D-80B2-BCC8EE18FB5D}"/>
              </a:ext>
            </a:extLst>
          </p:cNvPr>
          <p:cNvSpPr txBox="1"/>
          <p:nvPr/>
        </p:nvSpPr>
        <p:spPr>
          <a:xfrm>
            <a:off x="7427738" y="5069820"/>
            <a:ext cx="2578216" cy="36067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・・・・間接所有</a:t>
            </a:r>
            <a:r>
              <a:rPr kumimoji="1" lang="en-US" altLang="ja-JP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100%</a:t>
            </a: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（所有元不明）</a:t>
            </a:r>
            <a:endParaRPr kumimoji="1" lang="en-US" altLang="ja-JP" sz="1116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</p:txBody>
      </p:sp>
      <p:sp>
        <p:nvSpPr>
          <p:cNvPr id="14" name="TopicBox">
            <a:extLst>
              <a:ext uri="{FF2B5EF4-FFF2-40B4-BE49-F238E27FC236}">
                <a16:creationId xmlns:a16="http://schemas.microsoft.com/office/drawing/2014/main" id="{F699C771-F706-A604-CF44-0E564BB6D3EF}"/>
              </a:ext>
            </a:extLst>
          </p:cNvPr>
          <p:cNvSpPr/>
          <p:nvPr/>
        </p:nvSpPr>
        <p:spPr bwMode="auto">
          <a:xfrm>
            <a:off x="6268895" y="1790701"/>
            <a:ext cx="2618405" cy="45454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2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サンプルホールディングス株式会社</a:t>
            </a:r>
          </a:p>
        </p:txBody>
      </p:sp>
      <p:sp>
        <p:nvSpPr>
          <p:cNvPr id="23" name="TopicBox">
            <a:extLst>
              <a:ext uri="{FF2B5EF4-FFF2-40B4-BE49-F238E27FC236}">
                <a16:creationId xmlns:a16="http://schemas.microsoft.com/office/drawing/2014/main" id="{13A5B5FD-838E-56EA-808E-8D4D804B096C}"/>
              </a:ext>
            </a:extLst>
          </p:cNvPr>
          <p:cNvSpPr/>
          <p:nvPr/>
        </p:nvSpPr>
        <p:spPr bwMode="auto">
          <a:xfrm>
            <a:off x="6268894" y="2529145"/>
            <a:ext cx="2618405" cy="45454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2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サンプル化粧品株式会社</a:t>
            </a:r>
          </a:p>
        </p:txBody>
      </p:sp>
      <p:sp>
        <p:nvSpPr>
          <p:cNvPr id="30" name="TopicBox">
            <a:extLst>
              <a:ext uri="{FF2B5EF4-FFF2-40B4-BE49-F238E27FC236}">
                <a16:creationId xmlns:a16="http://schemas.microsoft.com/office/drawing/2014/main" id="{A820EA6A-AD4D-5642-281A-054832780DCD}"/>
              </a:ext>
            </a:extLst>
          </p:cNvPr>
          <p:cNvSpPr>
            <a:spLocks/>
          </p:cNvSpPr>
          <p:nvPr/>
        </p:nvSpPr>
        <p:spPr bwMode="auto">
          <a:xfrm>
            <a:off x="5454053" y="3332835"/>
            <a:ext cx="1328166" cy="638071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㈱ブランドA社</a:t>
            </a:r>
            <a:endParaRPr kumimoji="1" lang="en-US" altLang="ja-JP" sz="1116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ブランドA運営</a:t>
            </a:r>
            <a:endParaRPr kumimoji="1" lang="en-US" altLang="ja-JP" sz="1116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</p:txBody>
      </p:sp>
      <p:sp>
        <p:nvSpPr>
          <p:cNvPr id="7422" name="TopicBox">
            <a:extLst>
              <a:ext uri="{FF2B5EF4-FFF2-40B4-BE49-F238E27FC236}">
                <a16:creationId xmlns:a16="http://schemas.microsoft.com/office/drawing/2014/main" id="{33086344-901C-5C55-FAFD-B9FE483B9680}"/>
              </a:ext>
            </a:extLst>
          </p:cNvPr>
          <p:cNvSpPr>
            <a:spLocks/>
          </p:cNvSpPr>
          <p:nvPr/>
        </p:nvSpPr>
        <p:spPr bwMode="auto">
          <a:xfrm>
            <a:off x="6918306" y="3332835"/>
            <a:ext cx="1328166" cy="638071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㈱サンプルファクトリー*1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製造機能</a:t>
            </a:r>
          </a:p>
        </p:txBody>
      </p:sp>
      <p:sp>
        <p:nvSpPr>
          <p:cNvPr id="7424" name="TopicBox">
            <a:extLst>
              <a:ext uri="{FF2B5EF4-FFF2-40B4-BE49-F238E27FC236}">
                <a16:creationId xmlns:a16="http://schemas.microsoft.com/office/drawing/2014/main" id="{89BFA08E-F6DB-255A-CD34-F6A3361C1C82}"/>
              </a:ext>
            </a:extLst>
          </p:cNvPr>
          <p:cNvSpPr>
            <a:spLocks/>
          </p:cNvSpPr>
          <p:nvPr/>
        </p:nvSpPr>
        <p:spPr bwMode="auto">
          <a:xfrm>
            <a:off x="8379307" y="3332835"/>
            <a:ext cx="1328166" cy="638071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SAMPLE ASIA</a:t>
            </a:r>
          </a:p>
        </p:txBody>
      </p:sp>
      <p:sp>
        <p:nvSpPr>
          <p:cNvPr id="7426" name="TopicBox">
            <a:extLst>
              <a:ext uri="{FF2B5EF4-FFF2-40B4-BE49-F238E27FC236}">
                <a16:creationId xmlns:a16="http://schemas.microsoft.com/office/drawing/2014/main" id="{30EEB799-B074-7417-43FA-3E4FA9AB200C}"/>
              </a:ext>
            </a:extLst>
          </p:cNvPr>
          <p:cNvSpPr>
            <a:spLocks/>
          </p:cNvSpPr>
          <p:nvPr/>
        </p:nvSpPr>
        <p:spPr bwMode="auto">
          <a:xfrm>
            <a:off x="8379307" y="4242264"/>
            <a:ext cx="1328166" cy="638071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SAMPLE INTERNATIONAL</a:t>
            </a:r>
          </a:p>
        </p:txBody>
      </p:sp>
      <p:sp>
        <p:nvSpPr>
          <p:cNvPr id="7430" name="TopicBox">
            <a:extLst>
              <a:ext uri="{FF2B5EF4-FFF2-40B4-BE49-F238E27FC236}">
                <a16:creationId xmlns:a16="http://schemas.microsoft.com/office/drawing/2014/main" id="{0BB735A0-7D58-B67C-3D75-9FED25AE489F}"/>
              </a:ext>
            </a:extLst>
          </p:cNvPr>
          <p:cNvSpPr>
            <a:spLocks/>
          </p:cNvSpPr>
          <p:nvPr/>
        </p:nvSpPr>
        <p:spPr bwMode="auto">
          <a:xfrm>
            <a:off x="5667583" y="4965429"/>
            <a:ext cx="1760156" cy="517765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関連会社㈱X</a:t>
            </a:r>
            <a:endParaRPr kumimoji="1" lang="en-US" altLang="ja-JP" sz="1116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化粧品のODM</a:t>
            </a:r>
            <a:endParaRPr kumimoji="1" lang="en-US" altLang="ja-JP" sz="1116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</p:txBody>
      </p:sp>
      <p:sp>
        <p:nvSpPr>
          <p:cNvPr id="7432" name="TopicBox">
            <a:extLst>
              <a:ext uri="{FF2B5EF4-FFF2-40B4-BE49-F238E27FC236}">
                <a16:creationId xmlns:a16="http://schemas.microsoft.com/office/drawing/2014/main" id="{2720C24F-87E0-A963-B8D8-C58AF5C74EB9}"/>
              </a:ext>
            </a:extLst>
          </p:cNvPr>
          <p:cNvSpPr>
            <a:spLocks/>
          </p:cNvSpPr>
          <p:nvPr/>
        </p:nvSpPr>
        <p:spPr bwMode="auto">
          <a:xfrm>
            <a:off x="5667583" y="5559212"/>
            <a:ext cx="1760156" cy="517765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㈱サンプルロジ</a:t>
            </a:r>
            <a:endParaRPr kumimoji="1" lang="en-US" altLang="ja-JP" sz="1116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包装、出荷等</a:t>
            </a:r>
            <a:endParaRPr kumimoji="1" lang="en-US" altLang="ja-JP" sz="1116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</p:txBody>
      </p:sp>
      <p:sp>
        <p:nvSpPr>
          <p:cNvPr id="7434" name="TopicBox">
            <a:extLst>
              <a:ext uri="{FF2B5EF4-FFF2-40B4-BE49-F238E27FC236}">
                <a16:creationId xmlns:a16="http://schemas.microsoft.com/office/drawing/2014/main" id="{71A39BD3-4530-68F7-A2CD-78D585675501}"/>
              </a:ext>
            </a:extLst>
          </p:cNvPr>
          <p:cNvSpPr>
            <a:spLocks/>
          </p:cNvSpPr>
          <p:nvPr/>
        </p:nvSpPr>
        <p:spPr bwMode="auto">
          <a:xfrm>
            <a:off x="5667583" y="6152995"/>
            <a:ext cx="1760155" cy="517765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SAMPLE (海外) Trading Limited</a:t>
            </a:r>
          </a:p>
        </p:txBody>
      </p:sp>
      <p:cxnSp>
        <p:nvCxnSpPr>
          <p:cNvPr id="7436" name="コネクタ: カギ線 7435">
            <a:extLst>
              <a:ext uri="{FF2B5EF4-FFF2-40B4-BE49-F238E27FC236}">
                <a16:creationId xmlns:a16="http://schemas.microsoft.com/office/drawing/2014/main" id="{7B468579-029E-C129-D202-FA0F12015304}"/>
              </a:ext>
            </a:extLst>
          </p:cNvPr>
          <p:cNvCxnSpPr>
            <a:stCxn id="23" idx="2"/>
            <a:endCxn id="30" idx="0"/>
          </p:cNvCxnSpPr>
          <p:nvPr/>
        </p:nvCxnSpPr>
        <p:spPr bwMode="auto">
          <a:xfrm rot="5400000">
            <a:off x="6673542" y="2428280"/>
            <a:ext cx="349150" cy="1459961"/>
          </a:xfrm>
          <a:prstGeom prst="bentConnector3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437" name="コネクタ: カギ線 7436">
            <a:extLst>
              <a:ext uri="{FF2B5EF4-FFF2-40B4-BE49-F238E27FC236}">
                <a16:creationId xmlns:a16="http://schemas.microsoft.com/office/drawing/2014/main" id="{722CDA71-437F-AC59-E059-BD1490511DF2}"/>
              </a:ext>
            </a:extLst>
          </p:cNvPr>
          <p:cNvCxnSpPr>
            <a:stCxn id="23" idx="2"/>
            <a:endCxn id="7424" idx="0"/>
          </p:cNvCxnSpPr>
          <p:nvPr/>
        </p:nvCxnSpPr>
        <p:spPr bwMode="auto">
          <a:xfrm rot="16200000" flipH="1">
            <a:off x="8136168" y="2425613"/>
            <a:ext cx="349150" cy="1465293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441" name="直線コネクタ 7440">
            <a:extLst>
              <a:ext uri="{FF2B5EF4-FFF2-40B4-BE49-F238E27FC236}">
                <a16:creationId xmlns:a16="http://schemas.microsoft.com/office/drawing/2014/main" id="{EB17E594-9BD3-6C3C-732D-3D188A25D27B}"/>
              </a:ext>
            </a:extLst>
          </p:cNvPr>
          <p:cNvCxnSpPr>
            <a:stCxn id="14" idx="2"/>
            <a:endCxn id="23" idx="0"/>
          </p:cNvCxnSpPr>
          <p:nvPr/>
        </p:nvCxnSpPr>
        <p:spPr bwMode="auto">
          <a:xfrm flipH="1">
            <a:off x="7578097" y="2245241"/>
            <a:ext cx="1" cy="283904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442" name="直線コネクタ 7441">
            <a:extLst>
              <a:ext uri="{FF2B5EF4-FFF2-40B4-BE49-F238E27FC236}">
                <a16:creationId xmlns:a16="http://schemas.microsoft.com/office/drawing/2014/main" id="{10B283C2-1777-CE67-9646-34E4EB7E5A50}"/>
              </a:ext>
            </a:extLst>
          </p:cNvPr>
          <p:cNvCxnSpPr>
            <a:stCxn id="23" idx="2"/>
            <a:endCxn id="7422" idx="0"/>
          </p:cNvCxnSpPr>
          <p:nvPr/>
        </p:nvCxnSpPr>
        <p:spPr bwMode="auto">
          <a:xfrm>
            <a:off x="7578097" y="2983685"/>
            <a:ext cx="4292" cy="349150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445" name="直線コネクタ 7444">
            <a:extLst>
              <a:ext uri="{FF2B5EF4-FFF2-40B4-BE49-F238E27FC236}">
                <a16:creationId xmlns:a16="http://schemas.microsoft.com/office/drawing/2014/main" id="{BF793DFD-B582-0258-5F7D-6046D25F99E0}"/>
              </a:ext>
            </a:extLst>
          </p:cNvPr>
          <p:cNvCxnSpPr>
            <a:stCxn id="7424" idx="2"/>
            <a:endCxn id="7426" idx="0"/>
          </p:cNvCxnSpPr>
          <p:nvPr/>
        </p:nvCxnSpPr>
        <p:spPr bwMode="auto">
          <a:xfrm>
            <a:off x="9043390" y="3970906"/>
            <a:ext cx="0" cy="271358"/>
          </a:xfrm>
          <a:prstGeom prst="line">
            <a:avLst/>
          </a:prstGeom>
          <a:noFill/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7449" name="テキスト ボックス 7448">
            <a:extLst>
              <a:ext uri="{FF2B5EF4-FFF2-40B4-BE49-F238E27FC236}">
                <a16:creationId xmlns:a16="http://schemas.microsoft.com/office/drawing/2014/main" id="{10F79382-7CAC-2C96-91B4-1826F055B0CB}"/>
              </a:ext>
            </a:extLst>
          </p:cNvPr>
          <p:cNvSpPr txBox="1"/>
          <p:nvPr/>
        </p:nvSpPr>
        <p:spPr>
          <a:xfrm>
            <a:off x="5587284" y="3068655"/>
            <a:ext cx="576032" cy="36067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100%</a:t>
            </a:r>
          </a:p>
        </p:txBody>
      </p:sp>
      <p:sp>
        <p:nvSpPr>
          <p:cNvPr id="7451" name="テキスト ボックス 7450">
            <a:extLst>
              <a:ext uri="{FF2B5EF4-FFF2-40B4-BE49-F238E27FC236}">
                <a16:creationId xmlns:a16="http://schemas.microsoft.com/office/drawing/2014/main" id="{3D19AA8B-0407-30CB-EB96-5E3AAD5C312D}"/>
              </a:ext>
            </a:extLst>
          </p:cNvPr>
          <p:cNvSpPr txBox="1"/>
          <p:nvPr/>
        </p:nvSpPr>
        <p:spPr>
          <a:xfrm>
            <a:off x="7509755" y="2203606"/>
            <a:ext cx="576032" cy="36067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100%</a:t>
            </a:r>
          </a:p>
        </p:txBody>
      </p:sp>
      <p:sp>
        <p:nvSpPr>
          <p:cNvPr id="7453" name="テキスト ボックス 7452">
            <a:extLst>
              <a:ext uri="{FF2B5EF4-FFF2-40B4-BE49-F238E27FC236}">
                <a16:creationId xmlns:a16="http://schemas.microsoft.com/office/drawing/2014/main" id="{3896CF74-7AFA-3893-166F-1EBDC4CA399C}"/>
              </a:ext>
            </a:extLst>
          </p:cNvPr>
          <p:cNvSpPr txBox="1"/>
          <p:nvPr/>
        </p:nvSpPr>
        <p:spPr>
          <a:xfrm>
            <a:off x="8975875" y="3056959"/>
            <a:ext cx="576032" cy="36067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100%</a:t>
            </a:r>
          </a:p>
        </p:txBody>
      </p:sp>
      <p:sp>
        <p:nvSpPr>
          <p:cNvPr id="7455" name="テキスト ボックス 7454">
            <a:extLst>
              <a:ext uri="{FF2B5EF4-FFF2-40B4-BE49-F238E27FC236}">
                <a16:creationId xmlns:a16="http://schemas.microsoft.com/office/drawing/2014/main" id="{DEB32C47-7461-5E9F-02F4-A3B4B2CDAAE5}"/>
              </a:ext>
            </a:extLst>
          </p:cNvPr>
          <p:cNvSpPr txBox="1"/>
          <p:nvPr/>
        </p:nvSpPr>
        <p:spPr>
          <a:xfrm>
            <a:off x="7532918" y="3063989"/>
            <a:ext cx="576032" cy="36067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100%</a:t>
            </a:r>
          </a:p>
        </p:txBody>
      </p:sp>
      <p:sp>
        <p:nvSpPr>
          <p:cNvPr id="7457" name="テキスト ボックス 7456">
            <a:extLst>
              <a:ext uri="{FF2B5EF4-FFF2-40B4-BE49-F238E27FC236}">
                <a16:creationId xmlns:a16="http://schemas.microsoft.com/office/drawing/2014/main" id="{EF146B59-ED6D-1D09-C52A-FABD72EDA094}"/>
              </a:ext>
            </a:extLst>
          </p:cNvPr>
          <p:cNvSpPr txBox="1"/>
          <p:nvPr/>
        </p:nvSpPr>
        <p:spPr>
          <a:xfrm>
            <a:off x="9043390" y="3926250"/>
            <a:ext cx="576032" cy="36067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70%</a:t>
            </a:r>
          </a:p>
        </p:txBody>
      </p:sp>
      <p:sp>
        <p:nvSpPr>
          <p:cNvPr id="7463" name="テキスト ボックス 7462">
            <a:extLst>
              <a:ext uri="{FF2B5EF4-FFF2-40B4-BE49-F238E27FC236}">
                <a16:creationId xmlns:a16="http://schemas.microsoft.com/office/drawing/2014/main" id="{36EF5552-8F4E-CFEB-5C05-D47DB50BA013}"/>
              </a:ext>
            </a:extLst>
          </p:cNvPr>
          <p:cNvSpPr txBox="1"/>
          <p:nvPr/>
        </p:nvSpPr>
        <p:spPr>
          <a:xfrm>
            <a:off x="1085393" y="4709179"/>
            <a:ext cx="1846093" cy="29698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単体：○○○名（2026/3）</a:t>
            </a:r>
            <a:endParaRPr kumimoji="1" lang="en-US" altLang="ja-JP" sz="1116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</p:txBody>
      </p:sp>
      <p:sp>
        <p:nvSpPr>
          <p:cNvPr id="7465" name="テキスト ボックス 7464">
            <a:extLst>
              <a:ext uri="{FF2B5EF4-FFF2-40B4-BE49-F238E27FC236}">
                <a16:creationId xmlns:a16="http://schemas.microsoft.com/office/drawing/2014/main" id="{57552E06-90A7-2E29-97AB-9C530F5323A6}"/>
              </a:ext>
            </a:extLst>
          </p:cNvPr>
          <p:cNvSpPr txBox="1"/>
          <p:nvPr/>
        </p:nvSpPr>
        <p:spPr>
          <a:xfrm>
            <a:off x="7427738" y="5661910"/>
            <a:ext cx="2437479" cy="36067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・・・・非連結子会社、設立時</a:t>
            </a:r>
            <a:r>
              <a:rPr kumimoji="1" lang="en-US" altLang="ja-JP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100%</a:t>
            </a: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　　　　　　　　　　　　　　　　　</a:t>
            </a:r>
            <a:endParaRPr kumimoji="1" lang="en-US" altLang="ja-JP" sz="1116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　　　子会社</a:t>
            </a:r>
            <a:endParaRPr kumimoji="1" lang="en-US" altLang="ja-JP" sz="1116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</p:txBody>
      </p:sp>
      <p:sp>
        <p:nvSpPr>
          <p:cNvPr id="7467" name="テキスト ボックス 7466">
            <a:extLst>
              <a:ext uri="{FF2B5EF4-FFF2-40B4-BE49-F238E27FC236}">
                <a16:creationId xmlns:a16="http://schemas.microsoft.com/office/drawing/2014/main" id="{F439145B-49D7-CA3D-CD42-32EE62A2E0BB}"/>
              </a:ext>
            </a:extLst>
          </p:cNvPr>
          <p:cNvSpPr txBox="1"/>
          <p:nvPr/>
        </p:nvSpPr>
        <p:spPr>
          <a:xfrm>
            <a:off x="7427738" y="6254000"/>
            <a:ext cx="2578216" cy="36067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16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・・・・連結子会社、持株比率非開示</a:t>
            </a:r>
            <a:endParaRPr kumimoji="1" lang="en-US" altLang="ja-JP" sz="1116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</p:txBody>
      </p:sp>
      <p:sp>
        <p:nvSpPr>
          <p:cNvPr id="12" name="note">
            <a:extLst>
              <a:ext uri="{FF2B5EF4-FFF2-40B4-BE49-F238E27FC236}">
                <a16:creationId xmlns:a16="http://schemas.microsoft.com/office/drawing/2014/main" id="{949DD5D4-CD7A-1A91-7447-4911DE1854BA}"/>
              </a:ext>
            </a:extLst>
          </p:cNvPr>
          <p:cNvSpPr txBox="1"/>
          <p:nvPr/>
        </p:nvSpPr>
        <p:spPr bwMode="auto">
          <a:xfrm>
            <a:off x="3841136" y="6780688"/>
            <a:ext cx="6024081" cy="66244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0" tIns="0" rIns="0" bIns="0" rtlCol="0" anchor="b">
            <a:noAutofit/>
          </a:bodyPr>
          <a:lstStyle/>
          <a:p>
            <a:pPr marL="504000" marR="0" lvl="0" indent="-504000" algn="l" defTabSz="914400" rtl="0" eaLnBrk="1" fontAlgn="auto" latinLnBrk="0" hangingPunct="1">
              <a:lnSpc>
                <a:spcPct val="95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>
                <a:tab pos="295200" algn="l"/>
              </a:tabLst>
              <a:defRPr/>
            </a:pPr>
            <a:r>
              <a:rPr kumimoji="1" lang="ja-JP" altLang="en-US" sz="837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注：*1. 本体の受注の延長と考えられるため省略。社名・数値はすべて架空</a:t>
            </a:r>
          </a:p>
        </p:txBody>
      </p:sp>
      <p:sp>
        <p:nvSpPr>
          <p:cNvPr id="7476" name="TextBox 7475"/>
          <p:cNvSpPr txBox="1"/>
          <p:nvPr/>
        </p:nvSpPr>
        <p:spPr>
          <a:xfrm>
            <a:off x="1060704" y="1737360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000000"/>
                </a:solidFill>
              </a:rPr>
              <a:t>単位：億円</a:t>
            </a:r>
          </a:p>
        </p:txBody>
      </p:sp>
      <p:graphicFrame>
        <p:nvGraphicFramePr>
          <p:cNvPr id="7477" name="Chart 7476"/>
          <p:cNvGraphicFramePr>
            <a:graphicFrameLocks noGrp="1"/>
          </p:cNvGraphicFramePr>
          <p:nvPr/>
        </p:nvGraphicFramePr>
        <p:xfrm>
          <a:off x="914400" y="1874519"/>
          <a:ext cx="3520440" cy="2743200"/>
        </p:xfrm>
        <a:graphic>
          <a:graphicData uri="http://schemas.openxmlformats.org/drawingml/2006/chart">
            <c:chart xmlns:c="http://schemas.openxmlformats.org/drawingml/2006/chart" r:id="rId31"/>
          </a:graphicData>
        </a:graphic>
      </p:graphicFrame>
      <p:sp>
        <p:nvSpPr>
          <p:cNvPr id="7478" name="Rectangle 7477"/>
          <p:cNvSpPr/>
          <p:nvPr/>
        </p:nvSpPr>
        <p:spPr>
          <a:xfrm>
            <a:off x="4434840" y="1901951"/>
            <a:ext cx="182880" cy="137160"/>
          </a:xfrm>
          <a:prstGeom prst="rect">
            <a:avLst/>
          </a:prstGeom>
          <a:solidFill>
            <a:srgbClr val="DFE5E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79" name="TextBox 7478"/>
          <p:cNvSpPr txBox="1"/>
          <p:nvPr/>
        </p:nvSpPr>
        <p:spPr>
          <a:xfrm>
            <a:off x="4681727" y="1856231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0000"/>
                </a:solidFill>
              </a:rPr>
              <a:t>スキンケア</a:t>
            </a:r>
          </a:p>
        </p:txBody>
      </p:sp>
      <p:sp>
        <p:nvSpPr>
          <p:cNvPr id="7480" name="Rectangle 7479"/>
          <p:cNvSpPr/>
          <p:nvPr/>
        </p:nvSpPr>
        <p:spPr>
          <a:xfrm>
            <a:off x="4434840" y="2112263"/>
            <a:ext cx="182880" cy="137160"/>
          </a:xfrm>
          <a:prstGeom prst="rect">
            <a:avLst/>
          </a:prstGeom>
          <a:solidFill>
            <a:srgbClr val="C3CFE1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81" name="TextBox 7480"/>
          <p:cNvSpPr txBox="1"/>
          <p:nvPr/>
        </p:nvSpPr>
        <p:spPr>
          <a:xfrm>
            <a:off x="4681727" y="2066543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0000"/>
                </a:solidFill>
              </a:rPr>
              <a:t>ヘアケア</a:t>
            </a:r>
          </a:p>
        </p:txBody>
      </p:sp>
      <p:sp>
        <p:nvSpPr>
          <p:cNvPr id="7482" name="Rectangle 7481"/>
          <p:cNvSpPr/>
          <p:nvPr/>
        </p:nvSpPr>
        <p:spPr>
          <a:xfrm>
            <a:off x="4434840" y="2322575"/>
            <a:ext cx="182880" cy="137160"/>
          </a:xfrm>
          <a:prstGeom prst="rect">
            <a:avLst/>
          </a:prstGeom>
          <a:solidFill>
            <a:srgbClr val="9DB1C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83" name="TextBox 7482"/>
          <p:cNvSpPr txBox="1"/>
          <p:nvPr/>
        </p:nvSpPr>
        <p:spPr>
          <a:xfrm>
            <a:off x="4681727" y="2276856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0000"/>
                </a:solidFill>
              </a:rPr>
              <a:t>UV・ボディ</a:t>
            </a:r>
          </a:p>
        </p:txBody>
      </p:sp>
      <p:sp>
        <p:nvSpPr>
          <p:cNvPr id="7484" name="Rectangle 7483"/>
          <p:cNvSpPr/>
          <p:nvPr/>
        </p:nvSpPr>
        <p:spPr>
          <a:xfrm>
            <a:off x="4434840" y="2532887"/>
            <a:ext cx="182880" cy="137160"/>
          </a:xfrm>
          <a:prstGeom prst="rect">
            <a:avLst/>
          </a:prstGeom>
          <a:solidFill>
            <a:srgbClr val="4C6C9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85" name="TextBox 7484"/>
          <p:cNvSpPr txBox="1"/>
          <p:nvPr/>
        </p:nvSpPr>
        <p:spPr>
          <a:xfrm>
            <a:off x="4681727" y="2487168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0000"/>
                </a:solidFill>
              </a:rPr>
              <a:t>その他</a:t>
            </a:r>
          </a:p>
        </p:txBody>
      </p:sp>
      <p:sp>
        <p:nvSpPr>
          <p:cNvPr id="7486" name="Rectangle 7485"/>
          <p:cNvSpPr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87" name="TextBox 7486"/>
          <p:cNvSpPr txBox="1"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000000"/>
                </a:solidFill>
              </a:rPr>
              <a:t>架空企業のサンプル</a:t>
            </a:r>
          </a:p>
        </p:txBody>
      </p:sp>
    </p:spTree>
    <p:extLst>
      <p:ext uri="{BB962C8B-B14F-4D97-AF65-F5344CB8AC3E}">
        <p14:creationId xmlns:p14="http://schemas.microsoft.com/office/powerpoint/2010/main" val="21142996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68F12-88AD-A90D-B23B-ECE997572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スライド番号プレースホルダー 3">
            <a:extLst>
              <a:ext uri="{FF2B5EF4-FFF2-40B4-BE49-F238E27FC236}">
                <a16:creationId xmlns:a16="http://schemas.microsoft.com/office/drawing/2014/main" id="{B2DE478C-321F-50F4-AB93-CFFA9F69B5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9pPr>
          </a:lstStyle>
          <a:p>
            <a:r>
              <a:t>- 2 -</a:t>
            </a:r>
          </a:p>
        </p:txBody>
      </p:sp>
      <p:sp>
        <p:nvSpPr>
          <p:cNvPr id="7172" name="Rectangle 9">
            <a:extLst>
              <a:ext uri="{FF2B5EF4-FFF2-40B4-BE49-F238E27FC236}">
                <a16:creationId xmlns:a16="http://schemas.microsoft.com/office/drawing/2014/main" id="{DFDD8838-B1BF-F7B5-ED39-0BFB3269AED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4094" y="228600"/>
            <a:ext cx="9197813" cy="762000"/>
          </a:xfrm>
          <a:noFill/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rIns="36000"/>
          <a:lstStyle/>
          <a:p>
            <a:pPr eaLnBrk="1" hangingPunct="1"/>
            <a:r>
              <a:rPr lang="ja-JP" altLang="en-US"/>
              <a:t>サンプル化粧品株式会社（2）　主要組織図</a:t>
            </a:r>
            <a:br>
              <a:rPr lang="ja-JP" altLang="en-US"/>
            </a:br>
            <a:br>
              <a:rPr lang="en-US" altLang="ja-JP" sz="1800"/>
            </a:br>
            <a:br>
              <a:rPr lang="ja-JP" altLang="en-US" sz="1800"/>
            </a:br>
            <a:endParaRPr lang="ja-JP" altLang="en-US"/>
          </a:p>
        </p:txBody>
      </p:sp>
      <p:sp>
        <p:nvSpPr>
          <p:cNvPr id="6" name="TopicBox">
            <a:extLst>
              <a:ext uri="{FF2B5EF4-FFF2-40B4-BE49-F238E27FC236}">
                <a16:creationId xmlns:a16="http://schemas.microsoft.com/office/drawing/2014/main" id="{B10C2A87-C14B-BE41-5F30-5BC626ECBB14}"/>
              </a:ext>
            </a:extLst>
          </p:cNvPr>
          <p:cNvSpPr/>
          <p:nvPr/>
        </p:nvSpPr>
        <p:spPr bwMode="auto">
          <a:xfrm>
            <a:off x="3563309" y="642740"/>
            <a:ext cx="2763811" cy="35382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取締役会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</p:txBody>
      </p:sp>
      <p:sp>
        <p:nvSpPr>
          <p:cNvPr id="7222" name="note">
            <a:extLst>
              <a:ext uri="{FF2B5EF4-FFF2-40B4-BE49-F238E27FC236}">
                <a16:creationId xmlns:a16="http://schemas.microsoft.com/office/drawing/2014/main" id="{13D38C30-6187-1B35-5162-EF67B15FD5C1}"/>
              </a:ext>
            </a:extLst>
          </p:cNvPr>
          <p:cNvSpPr txBox="1"/>
          <p:nvPr/>
        </p:nvSpPr>
        <p:spPr bwMode="auto">
          <a:xfrm>
            <a:off x="925504" y="6545382"/>
            <a:ext cx="8892050" cy="294066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0" tIns="0" rIns="0" bIns="0" rtlCol="0" anchor="b">
            <a:noAutofit/>
          </a:bodyPr>
          <a:lstStyle/>
          <a:p>
            <a:pPr marL="504000" marR="0" lvl="0" indent="-504000" algn="l" defTabSz="914400" rtl="0" eaLnBrk="1" fontAlgn="auto" latinLnBrk="0" hangingPunct="1">
              <a:lnSpc>
                <a:spcPct val="95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>
                <a:tab pos="295200" algn="l"/>
              </a:tabLst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注：公開情報を基に、2026/10時点で確認できた主要組織を提案活動の観点から整理した参考図（架空）。正式な組織図・全籍関係を示すものではない</a:t>
            </a:r>
            <a:endParaRPr kumimoji="1" lang="en-US" altLang="ja-JP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</p:txBody>
      </p:sp>
      <p:cxnSp>
        <p:nvCxnSpPr>
          <p:cNvPr id="7260" name="直線コネクタ 7259">
            <a:extLst>
              <a:ext uri="{FF2B5EF4-FFF2-40B4-BE49-F238E27FC236}">
                <a16:creationId xmlns:a16="http://schemas.microsoft.com/office/drawing/2014/main" id="{70A827A5-2423-928A-D6ED-DB9E065BABD1}"/>
              </a:ext>
            </a:extLst>
          </p:cNvPr>
          <p:cNvCxnSpPr>
            <a:cxnSpLocks/>
            <a:stCxn id="6" idx="2"/>
            <a:endCxn id="7276" idx="0"/>
          </p:cNvCxnSpPr>
          <p:nvPr/>
        </p:nvCxnSpPr>
        <p:spPr bwMode="auto">
          <a:xfrm>
            <a:off x="4945215" y="996560"/>
            <a:ext cx="0" cy="143364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7267" name="TopicBox">
            <a:extLst>
              <a:ext uri="{FF2B5EF4-FFF2-40B4-BE49-F238E27FC236}">
                <a16:creationId xmlns:a16="http://schemas.microsoft.com/office/drawing/2014/main" id="{E92E2550-E5AA-2815-86E1-CD5E72D48F7B}"/>
              </a:ext>
            </a:extLst>
          </p:cNvPr>
          <p:cNvSpPr/>
          <p:nvPr/>
        </p:nvSpPr>
        <p:spPr bwMode="auto">
          <a:xfrm>
            <a:off x="342034" y="846506"/>
            <a:ext cx="2920406" cy="42067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赤太字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：実際の提案の起点・実務窓口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橙太字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：技術検討先</a:t>
            </a:r>
          </a:p>
        </p:txBody>
      </p:sp>
      <p:sp>
        <p:nvSpPr>
          <p:cNvPr id="7276" name="TopicBox">
            <a:extLst>
              <a:ext uri="{FF2B5EF4-FFF2-40B4-BE49-F238E27FC236}">
                <a16:creationId xmlns:a16="http://schemas.microsoft.com/office/drawing/2014/main" id="{AF2D98A4-6DC7-7451-7C39-65FC59F8C7EA}"/>
              </a:ext>
            </a:extLst>
          </p:cNvPr>
          <p:cNvSpPr/>
          <p:nvPr/>
        </p:nvSpPr>
        <p:spPr bwMode="auto">
          <a:xfrm>
            <a:off x="3563309" y="1139924"/>
            <a:ext cx="2763811" cy="354188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代表取締役　社長執行役員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D1EC342-E18B-AE96-C4C9-29C23ACB9635}"/>
              </a:ext>
            </a:extLst>
          </p:cNvPr>
          <p:cNvSpPr txBox="1"/>
          <p:nvPr/>
        </p:nvSpPr>
        <p:spPr bwMode="auto">
          <a:xfrm>
            <a:off x="5907110" y="6834389"/>
            <a:ext cx="0" cy="0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none" lIns="91440" tIns="45720" rIns="91440" bIns="45720" rtlCol="0" anchor="t">
            <a:noAutofit/>
          </a:bodyPr>
          <a:lstStyle/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1" lang="ja-JP" alt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</p:txBody>
      </p:sp>
      <p:grpSp>
        <p:nvGrpSpPr>
          <p:cNvPr id="7286" name="グループ化 7285">
            <a:extLst>
              <a:ext uri="{FF2B5EF4-FFF2-40B4-BE49-F238E27FC236}">
                <a16:creationId xmlns:a16="http://schemas.microsoft.com/office/drawing/2014/main" id="{BF09FDF7-A424-327E-5146-2640D26893FE}"/>
              </a:ext>
            </a:extLst>
          </p:cNvPr>
          <p:cNvGrpSpPr/>
          <p:nvPr/>
        </p:nvGrpSpPr>
        <p:grpSpPr>
          <a:xfrm>
            <a:off x="8357233" y="1845973"/>
            <a:ext cx="1382854" cy="4640686"/>
            <a:chOff x="8357233" y="1845973"/>
            <a:chExt cx="1382854" cy="4640686"/>
          </a:xfrm>
        </p:grpSpPr>
        <p:sp>
          <p:nvSpPr>
            <p:cNvPr id="20" name="TopicBox">
              <a:extLst>
                <a:ext uri="{FF2B5EF4-FFF2-40B4-BE49-F238E27FC236}">
                  <a16:creationId xmlns:a16="http://schemas.microsoft.com/office/drawing/2014/main" id="{0C77E012-F5D0-9F5E-CA64-FF292BB18E15}"/>
                </a:ext>
              </a:extLst>
            </p:cNvPr>
            <p:cNvSpPr/>
            <p:nvPr/>
          </p:nvSpPr>
          <p:spPr bwMode="auto">
            <a:xfrm>
              <a:off x="8357233" y="1845973"/>
              <a:ext cx="1382854" cy="4640686"/>
            </a:xfrm>
            <a:prstGeom prst="rect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36000" rIns="36000" bIns="36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>経営・全社基盤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</p:txBody>
        </p:sp>
        <p:sp>
          <p:nvSpPr>
            <p:cNvPr id="41" name="Text 58">
              <a:extLst>
                <a:ext uri="{FF2B5EF4-FFF2-40B4-BE49-F238E27FC236}">
                  <a16:creationId xmlns:a16="http://schemas.microsoft.com/office/drawing/2014/main" id="{C4F86064-1C07-DD34-B777-F0E7EC24E2A4}"/>
                </a:ext>
              </a:extLst>
            </p:cNvPr>
            <p:cNvSpPr/>
            <p:nvPr/>
          </p:nvSpPr>
          <p:spPr>
            <a:xfrm>
              <a:off x="8470990" y="2409320"/>
              <a:ext cx="1155340" cy="490710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100" b="0" i="0" u="none" strike="noStrike" kern="1200" cap="none" spc="0" normalizeH="0" baseline="0" noProof="0" err="1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Yu Gothic" pitchFamily="34" charset="-120"/>
                </a:rPr>
                <a:t>経営企画本部</a:t>
              </a:r>
              <a:endParaRPr kumimoji="1" lang="en-US" sz="1100" b="0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ＭＳ Ｐゴシック"/>
                <a:ea typeface="ＭＳ Ｐゴシック"/>
                <a:cs typeface="Yu Gothic" pitchFamily="34" charset="-120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本部長）</a:t>
              </a: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endParaRPr kumimoji="1" lang="en-US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46" name="Text 59">
              <a:extLst>
                <a:ext uri="{FF2B5EF4-FFF2-40B4-BE49-F238E27FC236}">
                  <a16:creationId xmlns:a16="http://schemas.microsoft.com/office/drawing/2014/main" id="{E24AF58B-E9AB-1DC2-9D0B-EDE765634FCE}"/>
                </a:ext>
              </a:extLst>
            </p:cNvPr>
            <p:cNvSpPr/>
            <p:nvPr/>
          </p:nvSpPr>
          <p:spPr>
            <a:xfrm>
              <a:off x="8470990" y="2936732"/>
              <a:ext cx="1155340" cy="490710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100" b="0" i="0" u="none" strike="noStrike" kern="1200" cap="none" spc="0" normalizeH="0" baseline="0" noProof="0" err="1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Yu Gothic" pitchFamily="34" charset="-120"/>
                </a:rPr>
                <a:t>海外事業本部</a:t>
              </a:r>
              <a:endParaRPr kumimoji="1" lang="en-US" sz="1100" b="0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ＭＳ Ｐゴシック"/>
                <a:ea typeface="ＭＳ Ｐゴシック"/>
                <a:cs typeface="Yu Gothic" pitchFamily="34" charset="-120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本部長）</a:t>
              </a: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endParaRPr kumimoji="1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53" name="Text 60">
              <a:extLst>
                <a:ext uri="{FF2B5EF4-FFF2-40B4-BE49-F238E27FC236}">
                  <a16:creationId xmlns:a16="http://schemas.microsoft.com/office/drawing/2014/main" id="{1FB1B256-4D41-3E69-1BFC-7294E030A6CC}"/>
                </a:ext>
              </a:extLst>
            </p:cNvPr>
            <p:cNvSpPr/>
            <p:nvPr/>
          </p:nvSpPr>
          <p:spPr>
            <a:xfrm>
              <a:off x="8470990" y="3464144"/>
              <a:ext cx="1155340" cy="490710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100" b="0" i="0" u="none" strike="noStrike" kern="1200" cap="none" spc="0" normalizeH="0" baseline="0" noProof="0" err="1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Yu Gothic" pitchFamily="34" charset="-120"/>
                </a:rPr>
                <a:t>グループIT本部</a:t>
              </a:r>
              <a:endParaRPr kumimoji="1" lang="en-US" sz="1100" b="0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ＭＳ Ｐゴシック"/>
                <a:ea typeface="ＭＳ Ｐゴシック"/>
                <a:cs typeface="Yu Gothic" pitchFamily="34" charset="-120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本部長）</a:t>
              </a:r>
              <a:r>
                <a:rPr kumimoji="1" lang="ja-JP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/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/>
              </a:r>
              <a:endParaRPr kumimoji="1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57" name="Text 61">
              <a:extLst>
                <a:ext uri="{FF2B5EF4-FFF2-40B4-BE49-F238E27FC236}">
                  <a16:creationId xmlns:a16="http://schemas.microsoft.com/office/drawing/2014/main" id="{4F33A6E8-CA1A-9684-C921-B5CB7774A5FA}"/>
                </a:ext>
              </a:extLst>
            </p:cNvPr>
            <p:cNvSpPr/>
            <p:nvPr/>
          </p:nvSpPr>
          <p:spPr>
            <a:xfrm>
              <a:off x="8470990" y="3991556"/>
              <a:ext cx="1155340" cy="490710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100" b="0" i="0" u="none" strike="noStrike" kern="1200" cap="none" spc="0" normalizeH="0" baseline="0" noProof="0" err="1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Yu Gothic" pitchFamily="34" charset="-120"/>
                </a:rPr>
                <a:t>人財本部</a:t>
              </a:r>
              <a:endParaRPr kumimoji="1" lang="en-US" sz="1100" b="0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ＭＳ Ｐゴシック"/>
                <a:ea typeface="ＭＳ Ｐゴシック"/>
                <a:cs typeface="Yu Gothic" pitchFamily="34" charset="-120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本部長）</a:t>
              </a:r>
              <a:r>
                <a:rPr kumimoji="1" lang="ja-JP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/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/>
              </a:r>
              <a:endParaRPr kumimoji="1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60" name="Text 62">
              <a:extLst>
                <a:ext uri="{FF2B5EF4-FFF2-40B4-BE49-F238E27FC236}">
                  <a16:creationId xmlns:a16="http://schemas.microsoft.com/office/drawing/2014/main" id="{665BB6DB-C62F-0B14-0271-1040BB62C8BD}"/>
                </a:ext>
              </a:extLst>
            </p:cNvPr>
            <p:cNvSpPr/>
            <p:nvPr/>
          </p:nvSpPr>
          <p:spPr>
            <a:xfrm>
              <a:off x="8470990" y="4518968"/>
              <a:ext cx="1155340" cy="490710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100" b="0" i="0" u="none" strike="noStrike" kern="1200" cap="none" spc="0" normalizeH="0" baseline="0" noProof="0" err="1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Yu Gothic" pitchFamily="34" charset="-120"/>
                </a:rPr>
                <a:t>総務本部</a:t>
              </a:r>
              <a:endParaRPr kumimoji="1" lang="en-US" sz="1100" b="0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ＭＳ Ｐゴシック"/>
                <a:ea typeface="ＭＳ Ｐゴシック"/>
                <a:cs typeface="Yu Gothic" pitchFamily="34" charset="-120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本部長）</a:t>
              </a:r>
              <a:r>
                <a:rPr kumimoji="1" lang="ja-JP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/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/>
              </a:r>
              <a:endParaRPr kumimoji="1" 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63" name="Text 63">
              <a:extLst>
                <a:ext uri="{FF2B5EF4-FFF2-40B4-BE49-F238E27FC236}">
                  <a16:creationId xmlns:a16="http://schemas.microsoft.com/office/drawing/2014/main" id="{90782164-72E3-99C4-44BB-0253BA667BDD}"/>
                </a:ext>
              </a:extLst>
            </p:cNvPr>
            <p:cNvSpPr/>
            <p:nvPr/>
          </p:nvSpPr>
          <p:spPr>
            <a:xfrm>
              <a:off x="8470990" y="5046380"/>
              <a:ext cx="1155340" cy="490710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wrap="square" lIns="508" tIns="508" rIns="508" bIns="508" rtlCol="0" anchor="ctr">
              <a:no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100" b="0" i="0" u="none" strike="noStrike" kern="1200" cap="none" spc="0" normalizeH="0" baseline="0" noProof="0" err="1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Yu Gothic" pitchFamily="34" charset="-120"/>
                </a:rPr>
                <a:t>広報・サステナビリティ本部</a:t>
              </a:r>
              <a:endParaRPr kumimoji="1" lang="en-US" sz="1100" b="0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ＭＳ Ｐゴシック"/>
                <a:ea typeface="ＭＳ Ｐゴシック"/>
                <a:cs typeface="Yu Gothic" pitchFamily="34" charset="-120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本部長）</a:t>
              </a:r>
              <a:r>
                <a:rPr kumimoji="1" lang="ja-JP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/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/>
              </a:r>
              <a:endParaRPr kumimoji="1" 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7171" name="Text 64">
              <a:extLst>
                <a:ext uri="{FF2B5EF4-FFF2-40B4-BE49-F238E27FC236}">
                  <a16:creationId xmlns:a16="http://schemas.microsoft.com/office/drawing/2014/main" id="{3C8BE6BA-4EDC-8C11-FEAF-DB68DE42282C}"/>
                </a:ext>
              </a:extLst>
            </p:cNvPr>
            <p:cNvSpPr/>
            <p:nvPr/>
          </p:nvSpPr>
          <p:spPr>
            <a:xfrm>
              <a:off x="8470990" y="5573792"/>
              <a:ext cx="1155340" cy="490710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100" b="0" i="0" u="none" strike="noStrike" kern="1200" cap="none" spc="0" normalizeH="0" baseline="0" noProof="0" err="1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Yu Gothic" pitchFamily="34" charset="-120"/>
                </a:rPr>
                <a:t>経営監査室</a:t>
              </a:r>
              <a:endParaRPr kumimoji="1" lang="en-US" sz="1100" b="0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ＭＳ Ｐゴシック"/>
                <a:ea typeface="ＭＳ Ｐゴシック"/>
                <a:cs typeface="Yu Gothic" pitchFamily="34" charset="-120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室長）</a:t>
              </a:r>
              <a:r>
                <a:rPr kumimoji="1" lang="ja-JP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/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/>
              </a:r>
              <a:endParaRPr kumimoji="1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C1F2553D-B71F-0F39-4AFA-E5EFA3107FC0}"/>
                </a:ext>
              </a:extLst>
            </p:cNvPr>
            <p:cNvGrpSpPr/>
            <p:nvPr/>
          </p:nvGrpSpPr>
          <p:grpSpPr>
            <a:xfrm>
              <a:off x="9025801" y="6131253"/>
              <a:ext cx="45719" cy="277881"/>
              <a:chOff x="3299769" y="6012660"/>
              <a:chExt cx="36000" cy="277881"/>
            </a:xfrm>
          </p:grpSpPr>
          <p:sp>
            <p:nvSpPr>
              <p:cNvPr id="5" name="楕円 4">
                <a:extLst>
                  <a:ext uri="{FF2B5EF4-FFF2-40B4-BE49-F238E27FC236}">
                    <a16:creationId xmlns:a16="http://schemas.microsoft.com/office/drawing/2014/main" id="{B7751E20-BFA7-A727-7E83-6066F19D25FE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2700061">
                <a:off x="3299343" y="6013086"/>
                <a:ext cx="36851" cy="36000"/>
              </a:xfrm>
              <a:prstGeom prst="ellipse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36000" rIns="36000" bIns="36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endParaRPr>
              </a:p>
            </p:txBody>
          </p:sp>
          <p:sp>
            <p:nvSpPr>
              <p:cNvPr id="8" name="楕円 7">
                <a:extLst>
                  <a:ext uri="{FF2B5EF4-FFF2-40B4-BE49-F238E27FC236}">
                    <a16:creationId xmlns:a16="http://schemas.microsoft.com/office/drawing/2014/main" id="{544E3566-E7B9-B003-533B-7FF64FA6D49F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2700061">
                <a:off x="3299343" y="6133601"/>
                <a:ext cx="36851" cy="36000"/>
              </a:xfrm>
              <a:prstGeom prst="ellipse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36000" rIns="36000" bIns="36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endParaRPr>
              </a:p>
            </p:txBody>
          </p:sp>
          <p:sp>
            <p:nvSpPr>
              <p:cNvPr id="9" name="楕円 8">
                <a:extLst>
                  <a:ext uri="{FF2B5EF4-FFF2-40B4-BE49-F238E27FC236}">
                    <a16:creationId xmlns:a16="http://schemas.microsoft.com/office/drawing/2014/main" id="{18D3F2CA-17D9-B864-F112-C198C593D99D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2700061">
                <a:off x="3299343" y="6254116"/>
                <a:ext cx="36851" cy="36000"/>
              </a:xfrm>
              <a:prstGeom prst="ellipse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36000" rIns="36000" bIns="36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endParaRPr>
              </a:p>
            </p:txBody>
          </p:sp>
        </p:grpSp>
      </p:grpSp>
      <p:grpSp>
        <p:nvGrpSpPr>
          <p:cNvPr id="7287" name="グループ化 7286">
            <a:extLst>
              <a:ext uri="{FF2B5EF4-FFF2-40B4-BE49-F238E27FC236}">
                <a16:creationId xmlns:a16="http://schemas.microsoft.com/office/drawing/2014/main" id="{EA924101-523D-A1CE-4039-3261BF164FE9}"/>
              </a:ext>
            </a:extLst>
          </p:cNvPr>
          <p:cNvGrpSpPr/>
          <p:nvPr/>
        </p:nvGrpSpPr>
        <p:grpSpPr>
          <a:xfrm>
            <a:off x="2171789" y="1845972"/>
            <a:ext cx="1703484" cy="4640685"/>
            <a:chOff x="2192707" y="1845973"/>
            <a:chExt cx="1703484" cy="4640685"/>
          </a:xfrm>
        </p:grpSpPr>
        <p:sp>
          <p:nvSpPr>
            <p:cNvPr id="7" name="TopicBox">
              <a:extLst>
                <a:ext uri="{FF2B5EF4-FFF2-40B4-BE49-F238E27FC236}">
                  <a16:creationId xmlns:a16="http://schemas.microsoft.com/office/drawing/2014/main" id="{FE02271A-B957-01C4-42F6-DB9C6E389434}"/>
                </a:ext>
              </a:extLst>
            </p:cNvPr>
            <p:cNvSpPr/>
            <p:nvPr/>
          </p:nvSpPr>
          <p:spPr bwMode="auto">
            <a:xfrm>
              <a:off x="2192707" y="1845973"/>
              <a:ext cx="1703484" cy="4640685"/>
            </a:xfrm>
            <a:prstGeom prst="rect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36000" rIns="36000" bIns="36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>研究・開発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</p:txBody>
        </p:sp>
        <p:sp>
          <p:nvSpPr>
            <p:cNvPr id="7198" name="Text 58">
              <a:extLst>
                <a:ext uri="{FF2B5EF4-FFF2-40B4-BE49-F238E27FC236}">
                  <a16:creationId xmlns:a16="http://schemas.microsoft.com/office/drawing/2014/main" id="{067AB88E-DE5B-4D10-63FB-6E71DAF63605}"/>
                </a:ext>
              </a:extLst>
            </p:cNvPr>
            <p:cNvSpPr/>
            <p:nvPr/>
          </p:nvSpPr>
          <p:spPr>
            <a:xfrm>
              <a:off x="2317154" y="2404843"/>
              <a:ext cx="1462825" cy="490710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総合研究所</a:t>
              </a:r>
              <a:endPara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所長）</a:t>
              </a: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endParaRPr kumimoji="1" 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7200" name="Text 58">
              <a:extLst>
                <a:ext uri="{FF2B5EF4-FFF2-40B4-BE49-F238E27FC236}">
                  <a16:creationId xmlns:a16="http://schemas.microsoft.com/office/drawing/2014/main" id="{5B1E3D91-797E-47A2-3DD5-88D953A1416F}"/>
                </a:ext>
              </a:extLst>
            </p:cNvPr>
            <p:cNvSpPr/>
            <p:nvPr/>
          </p:nvSpPr>
          <p:spPr>
            <a:xfrm>
              <a:off x="2313036" y="3449177"/>
              <a:ext cx="1462825" cy="1011353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wrap="square" lIns="508" tIns="508" rIns="508" bIns="508" rtlCol="0" anchor="ctr">
              <a:no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rgbClr val="FFC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化粧品研究所</a:t>
              </a:r>
              <a:endParaRPr kumimoji="1" lang="en-US" altLang="ja-JP" sz="105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基盤技術研究センター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機能性食品研究所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研究戦略推進室</a:t>
              </a:r>
              <a:endParaRPr kumimoji="1" lang="en-US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grpSp>
          <p:nvGrpSpPr>
            <p:cNvPr id="7201" name="グループ化 7200">
              <a:extLst>
                <a:ext uri="{FF2B5EF4-FFF2-40B4-BE49-F238E27FC236}">
                  <a16:creationId xmlns:a16="http://schemas.microsoft.com/office/drawing/2014/main" id="{29F571A5-73DA-7E54-B790-D4777FDF8ED0}"/>
                </a:ext>
              </a:extLst>
            </p:cNvPr>
            <p:cNvGrpSpPr/>
            <p:nvPr/>
          </p:nvGrpSpPr>
          <p:grpSpPr>
            <a:xfrm>
              <a:off x="3020100" y="4518968"/>
              <a:ext cx="45719" cy="277881"/>
              <a:chOff x="3299769" y="6012660"/>
              <a:chExt cx="36000" cy="277881"/>
            </a:xfrm>
          </p:grpSpPr>
          <p:sp>
            <p:nvSpPr>
              <p:cNvPr id="7202" name="楕円 7201">
                <a:extLst>
                  <a:ext uri="{FF2B5EF4-FFF2-40B4-BE49-F238E27FC236}">
                    <a16:creationId xmlns:a16="http://schemas.microsoft.com/office/drawing/2014/main" id="{91019BD8-1001-F48A-8914-BDDB1B838B01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2700061">
                <a:off x="3299343" y="6013086"/>
                <a:ext cx="36851" cy="36000"/>
              </a:xfrm>
              <a:prstGeom prst="ellipse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36000" rIns="36000" bIns="36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endParaRPr>
              </a:p>
            </p:txBody>
          </p:sp>
          <p:sp>
            <p:nvSpPr>
              <p:cNvPr id="7203" name="楕円 7202">
                <a:extLst>
                  <a:ext uri="{FF2B5EF4-FFF2-40B4-BE49-F238E27FC236}">
                    <a16:creationId xmlns:a16="http://schemas.microsoft.com/office/drawing/2014/main" id="{7D0BF8F2-5620-7856-695F-A9A846E12E08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2700061">
                <a:off x="3299343" y="6133601"/>
                <a:ext cx="36851" cy="36000"/>
              </a:xfrm>
              <a:prstGeom prst="ellipse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36000" rIns="36000" bIns="36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endParaRPr>
              </a:p>
            </p:txBody>
          </p:sp>
          <p:sp>
            <p:nvSpPr>
              <p:cNvPr id="7204" name="楕円 7203">
                <a:extLst>
                  <a:ext uri="{FF2B5EF4-FFF2-40B4-BE49-F238E27FC236}">
                    <a16:creationId xmlns:a16="http://schemas.microsoft.com/office/drawing/2014/main" id="{1D7360F3-154F-D4CF-6EB2-A596D75E82CD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2700061">
                <a:off x="3299343" y="6254116"/>
                <a:ext cx="36851" cy="36000"/>
              </a:xfrm>
              <a:prstGeom prst="ellipse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36000" rIns="36000" bIns="36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endParaRPr>
              </a:p>
            </p:txBody>
          </p:sp>
        </p:grpSp>
        <p:cxnSp>
          <p:nvCxnSpPr>
            <p:cNvPr id="7205" name="直線コネクタ 7204">
              <a:extLst>
                <a:ext uri="{FF2B5EF4-FFF2-40B4-BE49-F238E27FC236}">
                  <a16:creationId xmlns:a16="http://schemas.microsoft.com/office/drawing/2014/main" id="{A7045B9A-9C8E-3659-266D-B930480DF6EF}"/>
                </a:ext>
              </a:extLst>
            </p:cNvPr>
            <p:cNvCxnSpPr>
              <a:cxnSpLocks/>
              <a:stCxn id="7198" idx="2"/>
              <a:endCxn id="7200" idx="0"/>
            </p:cNvCxnSpPr>
            <p:nvPr/>
          </p:nvCxnSpPr>
          <p:spPr bwMode="auto">
            <a:xfrm flipH="1">
              <a:off x="3044449" y="2895553"/>
              <a:ext cx="4118" cy="553624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410E5B1-D5EA-BF2A-4804-470E3A1FCC4A}"/>
              </a:ext>
            </a:extLst>
          </p:cNvPr>
          <p:cNvGrpSpPr/>
          <p:nvPr/>
        </p:nvGrpSpPr>
        <p:grpSpPr>
          <a:xfrm>
            <a:off x="151643" y="1845972"/>
            <a:ext cx="1853691" cy="4640685"/>
            <a:chOff x="151643" y="1845972"/>
            <a:chExt cx="1853691" cy="4640685"/>
          </a:xfrm>
        </p:grpSpPr>
        <p:sp>
          <p:nvSpPr>
            <p:cNvPr id="7315" name="TopicBox">
              <a:extLst>
                <a:ext uri="{FF2B5EF4-FFF2-40B4-BE49-F238E27FC236}">
                  <a16:creationId xmlns:a16="http://schemas.microsoft.com/office/drawing/2014/main" id="{5EA307CB-CA37-EAAF-8AF2-D913FF14A978}"/>
                </a:ext>
              </a:extLst>
            </p:cNvPr>
            <p:cNvSpPr/>
            <p:nvPr/>
          </p:nvSpPr>
          <p:spPr bwMode="auto">
            <a:xfrm>
              <a:off x="151643" y="1845972"/>
              <a:ext cx="1853691" cy="4640685"/>
            </a:xfrm>
            <a:prstGeom prst="rect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36000" rIns="36000" bIns="36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>ブランド・企画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</p:txBody>
        </p:sp>
        <p:sp>
          <p:nvSpPr>
            <p:cNvPr id="7209" name="Text 58">
              <a:extLst>
                <a:ext uri="{FF2B5EF4-FFF2-40B4-BE49-F238E27FC236}">
                  <a16:creationId xmlns:a16="http://schemas.microsoft.com/office/drawing/2014/main" id="{CD707B06-A8CC-932D-B4F4-743356DE0363}"/>
                </a:ext>
              </a:extLst>
            </p:cNvPr>
            <p:cNvSpPr/>
            <p:nvPr/>
          </p:nvSpPr>
          <p:spPr>
            <a:xfrm>
              <a:off x="347076" y="2404842"/>
              <a:ext cx="1462825" cy="490710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wrap="square" lIns="508" tIns="508" rIns="508" bIns="508" rtlCol="0" anchor="ctr">
              <a:normAutofit lnSpcReduction="10000"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マーケティング戦略統括オフィス</a:t>
              </a:r>
              <a:endPara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ダイレクター）</a:t>
              </a:r>
              <a:endParaRPr kumimoji="1" 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7211" name="Text 58">
              <a:extLst>
                <a:ext uri="{FF2B5EF4-FFF2-40B4-BE49-F238E27FC236}">
                  <a16:creationId xmlns:a16="http://schemas.microsoft.com/office/drawing/2014/main" id="{44FA2CD0-C336-1482-41CB-E51DCC237482}"/>
                </a:ext>
              </a:extLst>
            </p:cNvPr>
            <p:cNvSpPr/>
            <p:nvPr/>
          </p:nvSpPr>
          <p:spPr>
            <a:xfrm>
              <a:off x="280372" y="3089172"/>
              <a:ext cx="440168" cy="1508832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vert="eaVert"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企画本部</a:t>
              </a:r>
              <a:endPara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本部長）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7213" name="Text 58">
              <a:extLst>
                <a:ext uri="{FF2B5EF4-FFF2-40B4-BE49-F238E27FC236}">
                  <a16:creationId xmlns:a16="http://schemas.microsoft.com/office/drawing/2014/main" id="{3D860F8B-9417-D7FA-607D-802E7F87C709}"/>
                </a:ext>
              </a:extLst>
            </p:cNvPr>
            <p:cNvSpPr/>
            <p:nvPr/>
          </p:nvSpPr>
          <p:spPr>
            <a:xfrm>
              <a:off x="858405" y="3089172"/>
              <a:ext cx="440168" cy="1508832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vert="eaVert"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1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化粧品事業本部</a:t>
              </a:r>
              <a:endParaRPr kumimoji="1" lang="en-US" altLang="ja-JP" sz="11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本部長）</a:t>
              </a:r>
              <a:r>
                <a:rPr kumimoji="1" lang="en-US" altLang="ja-JP" sz="1050" b="1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endParaRPr kumimoji="1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7215" name="Text 58">
              <a:extLst>
                <a:ext uri="{FF2B5EF4-FFF2-40B4-BE49-F238E27FC236}">
                  <a16:creationId xmlns:a16="http://schemas.microsoft.com/office/drawing/2014/main" id="{6B9CB749-D37B-1288-455C-B1F0DAD241EB}"/>
                </a:ext>
              </a:extLst>
            </p:cNvPr>
            <p:cNvSpPr/>
            <p:nvPr/>
          </p:nvSpPr>
          <p:spPr>
            <a:xfrm>
              <a:off x="1436438" y="3089171"/>
              <a:ext cx="440168" cy="1508832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vert="eaVert"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健康食品事業本部</a:t>
              </a:r>
              <a:endPara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本部長）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7217" name="Text 58">
              <a:extLst>
                <a:ext uri="{FF2B5EF4-FFF2-40B4-BE49-F238E27FC236}">
                  <a16:creationId xmlns:a16="http://schemas.microsoft.com/office/drawing/2014/main" id="{AAD586A4-B7C4-A565-13EE-D3E208BAEACA}"/>
                </a:ext>
              </a:extLst>
            </p:cNvPr>
            <p:cNvSpPr/>
            <p:nvPr/>
          </p:nvSpPr>
          <p:spPr>
            <a:xfrm>
              <a:off x="820222" y="4755328"/>
              <a:ext cx="511328" cy="1308237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vert="eaVert"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ＭＳ Ｐゴシック"/>
                  <a:ea typeface="ＭＳ Ｐゴシック" pitchFamily="50" charset="-128"/>
                  <a:cs typeface="+mn-cs"/>
                </a:rPr>
                <a:t>スキンケアブランド</a:t>
              </a:r>
              <a:endParaRPr kumimoji="1" lang="en-US" altLang="ja-JP" sz="105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ＭＳ Ｐゴシック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ＭＳ Ｐゴシック"/>
                  <a:ea typeface="ＭＳ Ｐゴシック" pitchFamily="50" charset="-128"/>
                  <a:cs typeface="+mn-cs"/>
                </a:rPr>
                <a:t>クレンジング</a:t>
              </a:r>
              <a:r>
                <a:rPr kumimoji="1" lang="en-US" altLang="ja-JP" sz="1050" b="1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ＭＳ Ｐゴシック"/>
                  <a:ea typeface="ＭＳ Ｐゴシック" pitchFamily="50" charset="-128"/>
                  <a:cs typeface="+mn-cs"/>
                </a:rPr>
                <a:t>/</a:t>
              </a: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ＭＳ Ｐゴシック"/>
                  <a:ea typeface="ＭＳ Ｐゴシック" pitchFamily="50" charset="-128"/>
                  <a:cs typeface="+mn-cs"/>
                </a:rPr>
                <a:t>洗顔</a:t>
              </a:r>
              <a:endParaRPr kumimoji="1" lang="en-US" altLang="ja-JP" sz="105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ＭＳ Ｐゴシック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ＭＳ Ｐゴシック"/>
                  <a:ea typeface="ＭＳ Ｐゴシック" pitchFamily="50" charset="-128"/>
                  <a:cs typeface="+mn-cs"/>
                </a:rPr>
                <a:t>ブランドC</a:t>
              </a:r>
              <a:endParaRPr kumimoji="1" lang="en-US" altLang="ja-JP" sz="105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ＭＳ Ｐゴシック"/>
                <a:ea typeface="ＭＳ Ｐゴシック" pitchFamily="50" charset="-128"/>
                <a:cs typeface="+mn-cs"/>
              </a:endParaRPr>
            </a:p>
          </p:txBody>
        </p:sp>
        <p:sp>
          <p:nvSpPr>
            <p:cNvPr id="7219" name="Text 58">
              <a:extLst>
                <a:ext uri="{FF2B5EF4-FFF2-40B4-BE49-F238E27FC236}">
                  <a16:creationId xmlns:a16="http://schemas.microsoft.com/office/drawing/2014/main" id="{2D763A77-6AA1-DA22-C486-7F1F874824C9}"/>
                </a:ext>
              </a:extLst>
            </p:cNvPr>
            <p:cNvSpPr/>
            <p:nvPr/>
          </p:nvSpPr>
          <p:spPr>
            <a:xfrm>
              <a:off x="1395652" y="4755328"/>
              <a:ext cx="511328" cy="1308237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vert="eaVert"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 pitchFamily="50" charset="-128"/>
                  <a:cs typeface="+mn-cs"/>
                </a:rPr>
                <a:t>ブランドD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 pitchFamily="50" charset="-128"/>
                  <a:cs typeface="+mn-cs"/>
                </a:rPr>
                <a:t>ブランドE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 pitchFamily="50" charset="-128"/>
                  <a:cs typeface="+mn-cs"/>
                </a:rPr>
                <a:t/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 pitchFamily="50" charset="-128"/>
                  <a:cs typeface="+mn-cs"/>
                </a:rPr>
                <a:t/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 pitchFamily="50" charset="-128"/>
                  <a:cs typeface="+mn-cs"/>
                </a:rPr>
                <a:t>クロスブランド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 pitchFamily="50" charset="-128"/>
                <a:cs typeface="+mn-cs"/>
              </a:endParaRPr>
            </a:p>
          </p:txBody>
        </p:sp>
        <p:sp>
          <p:nvSpPr>
            <p:cNvPr id="7221" name="Text 58">
              <a:extLst>
                <a:ext uri="{FF2B5EF4-FFF2-40B4-BE49-F238E27FC236}">
                  <a16:creationId xmlns:a16="http://schemas.microsoft.com/office/drawing/2014/main" id="{2888DC43-1961-6AAA-51E2-3488828CF60B}"/>
                </a:ext>
              </a:extLst>
            </p:cNvPr>
            <p:cNvSpPr/>
            <p:nvPr/>
          </p:nvSpPr>
          <p:spPr>
            <a:xfrm>
              <a:off x="244792" y="4755328"/>
              <a:ext cx="511328" cy="1308237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vert="eaVert"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 pitchFamily="50" charset="-128"/>
                  <a:cs typeface="+mn-cs"/>
                </a:rPr>
                <a:t>企画戦略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 pitchFamily="50" charset="-128"/>
                  <a:cs typeface="+mn-cs"/>
                </a:rPr>
                <a:t>イノベーション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 pitchFamily="50" charset="-128"/>
                  <a:cs typeface="+mn-cs"/>
                </a:rPr>
                <a:t>ブランドB事業企画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 pitchFamily="50" charset="-128"/>
                <a:cs typeface="+mn-cs"/>
              </a:endParaRPr>
            </a:p>
          </p:txBody>
        </p:sp>
        <p:cxnSp>
          <p:nvCxnSpPr>
            <p:cNvPr id="7223" name="コネクタ: カギ線 7222">
              <a:extLst>
                <a:ext uri="{FF2B5EF4-FFF2-40B4-BE49-F238E27FC236}">
                  <a16:creationId xmlns:a16="http://schemas.microsoft.com/office/drawing/2014/main" id="{69A193A4-8757-B936-583A-77AD65D35FD4}"/>
                </a:ext>
              </a:extLst>
            </p:cNvPr>
            <p:cNvCxnSpPr>
              <a:stCxn id="7209" idx="2"/>
              <a:endCxn id="7215" idx="0"/>
            </p:cNvCxnSpPr>
            <p:nvPr/>
          </p:nvCxnSpPr>
          <p:spPr bwMode="auto">
            <a:xfrm rot="16200000" flipH="1">
              <a:off x="1270696" y="2703344"/>
              <a:ext cx="193619" cy="578033"/>
            </a:xfrm>
            <a:prstGeom prst="bentConnector3">
              <a:avLst>
                <a:gd name="adj1" fmla="val 50000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226" name="コネクタ: カギ線 7225">
              <a:extLst>
                <a:ext uri="{FF2B5EF4-FFF2-40B4-BE49-F238E27FC236}">
                  <a16:creationId xmlns:a16="http://schemas.microsoft.com/office/drawing/2014/main" id="{5ED3E96B-5E68-979E-5428-8F28B86C777F}"/>
                </a:ext>
              </a:extLst>
            </p:cNvPr>
            <p:cNvCxnSpPr>
              <a:stCxn id="7209" idx="2"/>
              <a:endCxn id="7211" idx="0"/>
            </p:cNvCxnSpPr>
            <p:nvPr/>
          </p:nvCxnSpPr>
          <p:spPr bwMode="auto">
            <a:xfrm rot="5400000">
              <a:off x="692663" y="2703346"/>
              <a:ext cx="193620" cy="578033"/>
            </a:xfrm>
            <a:prstGeom prst="bentConnector3">
              <a:avLst>
                <a:gd name="adj1" fmla="val 50000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229" name="直線コネクタ 7228">
              <a:extLst>
                <a:ext uri="{FF2B5EF4-FFF2-40B4-BE49-F238E27FC236}">
                  <a16:creationId xmlns:a16="http://schemas.microsoft.com/office/drawing/2014/main" id="{2F150A57-70EA-31BB-E122-70125838EAF8}"/>
                </a:ext>
              </a:extLst>
            </p:cNvPr>
            <p:cNvCxnSpPr>
              <a:cxnSpLocks/>
              <a:stCxn id="7209" idx="2"/>
              <a:endCxn id="7213" idx="0"/>
            </p:cNvCxnSpPr>
            <p:nvPr/>
          </p:nvCxnSpPr>
          <p:spPr bwMode="auto">
            <a:xfrm>
              <a:off x="1078489" y="2895552"/>
              <a:ext cx="0" cy="19362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232" name="直線コネクタ 7231">
              <a:extLst>
                <a:ext uri="{FF2B5EF4-FFF2-40B4-BE49-F238E27FC236}">
                  <a16:creationId xmlns:a16="http://schemas.microsoft.com/office/drawing/2014/main" id="{62120695-6E6B-9B58-3D27-9A325388C8D4}"/>
                </a:ext>
              </a:extLst>
            </p:cNvPr>
            <p:cNvCxnSpPr>
              <a:cxnSpLocks/>
              <a:endCxn id="7221" idx="0"/>
            </p:cNvCxnSpPr>
            <p:nvPr/>
          </p:nvCxnSpPr>
          <p:spPr bwMode="auto">
            <a:xfrm>
              <a:off x="500456" y="4597096"/>
              <a:ext cx="0" cy="158232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235" name="直線コネクタ 7234">
              <a:extLst>
                <a:ext uri="{FF2B5EF4-FFF2-40B4-BE49-F238E27FC236}">
                  <a16:creationId xmlns:a16="http://schemas.microsoft.com/office/drawing/2014/main" id="{1A6F3387-776C-5537-5379-C7D99D18C71A}"/>
                </a:ext>
              </a:extLst>
            </p:cNvPr>
            <p:cNvCxnSpPr>
              <a:cxnSpLocks/>
              <a:stCxn id="7213" idx="2"/>
              <a:endCxn id="7217" idx="0"/>
            </p:cNvCxnSpPr>
            <p:nvPr/>
          </p:nvCxnSpPr>
          <p:spPr bwMode="auto">
            <a:xfrm flipH="1">
              <a:off x="1075886" y="4598004"/>
              <a:ext cx="2603" cy="157324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238" name="直線コネクタ 7237">
              <a:extLst>
                <a:ext uri="{FF2B5EF4-FFF2-40B4-BE49-F238E27FC236}">
                  <a16:creationId xmlns:a16="http://schemas.microsoft.com/office/drawing/2014/main" id="{ADAD080F-2661-9F21-C53B-443687E1E749}"/>
                </a:ext>
              </a:extLst>
            </p:cNvPr>
            <p:cNvCxnSpPr>
              <a:cxnSpLocks/>
              <a:stCxn id="7215" idx="2"/>
              <a:endCxn id="7219" idx="0"/>
            </p:cNvCxnSpPr>
            <p:nvPr/>
          </p:nvCxnSpPr>
          <p:spPr bwMode="auto">
            <a:xfrm flipH="1">
              <a:off x="1651316" y="4598003"/>
              <a:ext cx="5206" cy="157325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7333" name="グループ化 7332">
            <a:extLst>
              <a:ext uri="{FF2B5EF4-FFF2-40B4-BE49-F238E27FC236}">
                <a16:creationId xmlns:a16="http://schemas.microsoft.com/office/drawing/2014/main" id="{1A30A4EB-1D0C-212C-41E7-2D822BC35105}"/>
              </a:ext>
            </a:extLst>
          </p:cNvPr>
          <p:cNvGrpSpPr/>
          <p:nvPr/>
        </p:nvGrpSpPr>
        <p:grpSpPr>
          <a:xfrm>
            <a:off x="5875973" y="1845972"/>
            <a:ext cx="2315348" cy="4640685"/>
            <a:chOff x="5875973" y="1845972"/>
            <a:chExt cx="2315348" cy="4640685"/>
          </a:xfrm>
        </p:grpSpPr>
        <p:sp>
          <p:nvSpPr>
            <p:cNvPr id="15" name="TopicBox">
              <a:extLst>
                <a:ext uri="{FF2B5EF4-FFF2-40B4-BE49-F238E27FC236}">
                  <a16:creationId xmlns:a16="http://schemas.microsoft.com/office/drawing/2014/main" id="{4CF464E4-5E9B-6845-0DEC-4D1BFE130B1C}"/>
                </a:ext>
              </a:extLst>
            </p:cNvPr>
            <p:cNvSpPr/>
            <p:nvPr/>
          </p:nvSpPr>
          <p:spPr bwMode="auto">
            <a:xfrm>
              <a:off x="5875973" y="1845972"/>
              <a:ext cx="2315348" cy="4640685"/>
            </a:xfrm>
            <a:prstGeom prst="rect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36000" rIns="36000" bIns="36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>販売・顧客接点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</p:txBody>
        </p:sp>
        <p:sp>
          <p:nvSpPr>
            <p:cNvPr id="11" name="Text 58">
              <a:extLst>
                <a:ext uri="{FF2B5EF4-FFF2-40B4-BE49-F238E27FC236}">
                  <a16:creationId xmlns:a16="http://schemas.microsoft.com/office/drawing/2014/main" id="{4E8E9276-BB51-6A16-85A1-2CF259CBF71A}"/>
                </a:ext>
              </a:extLst>
            </p:cNvPr>
            <p:cNvSpPr/>
            <p:nvPr/>
          </p:nvSpPr>
          <p:spPr>
            <a:xfrm>
              <a:off x="5966651" y="2404841"/>
              <a:ext cx="1436985" cy="490710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wrap="square" lIns="508" tIns="508" rIns="508" bIns="508" rtlCol="0" anchor="ctr">
              <a:normAutofit lnSpcReduction="10000"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マーケティング推進統括</a:t>
              </a:r>
              <a:endPara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オフィス</a:t>
              </a:r>
              <a:endPara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ダイレクター）</a:t>
              </a:r>
              <a:endParaRPr kumimoji="1" 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14" name="Text 58">
              <a:extLst>
                <a:ext uri="{FF2B5EF4-FFF2-40B4-BE49-F238E27FC236}">
                  <a16:creationId xmlns:a16="http://schemas.microsoft.com/office/drawing/2014/main" id="{B4F79E8D-A9ED-5717-AF32-613E41C04A84}"/>
                </a:ext>
              </a:extLst>
            </p:cNvPr>
            <p:cNvSpPr/>
            <p:nvPr/>
          </p:nvSpPr>
          <p:spPr>
            <a:xfrm>
              <a:off x="6111870" y="3089171"/>
              <a:ext cx="524730" cy="1508832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vert="eaVert"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オムニチャネル本部</a:t>
              </a:r>
              <a:endPara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本部長）</a:t>
              </a: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17" name="Text 58">
              <a:extLst>
                <a:ext uri="{FF2B5EF4-FFF2-40B4-BE49-F238E27FC236}">
                  <a16:creationId xmlns:a16="http://schemas.microsoft.com/office/drawing/2014/main" id="{1C4C7023-18E0-6C2C-AFD2-D94BB3950540}"/>
                </a:ext>
              </a:extLst>
            </p:cNvPr>
            <p:cNvSpPr/>
            <p:nvPr/>
          </p:nvSpPr>
          <p:spPr>
            <a:xfrm>
              <a:off x="5996558" y="4749229"/>
              <a:ext cx="755354" cy="1296995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vert="eaVert"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戦略企画部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店舗開発部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店舗運営部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業務推進部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19" name="Text 58">
              <a:extLst>
                <a:ext uri="{FF2B5EF4-FFF2-40B4-BE49-F238E27FC236}">
                  <a16:creationId xmlns:a16="http://schemas.microsoft.com/office/drawing/2014/main" id="{0E3A1CE8-5BCA-D06E-083C-931EF9D2DDE3}"/>
                </a:ext>
              </a:extLst>
            </p:cNvPr>
            <p:cNvSpPr/>
            <p:nvPr/>
          </p:nvSpPr>
          <p:spPr>
            <a:xfrm>
              <a:off x="7522856" y="2409320"/>
              <a:ext cx="524730" cy="1508832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vert="eaVert"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カスタマーサービス本部</a:t>
              </a:r>
              <a:endPara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本部長）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23" name="Text 58">
              <a:extLst>
                <a:ext uri="{FF2B5EF4-FFF2-40B4-BE49-F238E27FC236}">
                  <a16:creationId xmlns:a16="http://schemas.microsoft.com/office/drawing/2014/main" id="{160EEC15-91AB-4821-AD71-4E68F1BD51EA}"/>
                </a:ext>
              </a:extLst>
            </p:cNvPr>
            <p:cNvSpPr/>
            <p:nvPr/>
          </p:nvSpPr>
          <p:spPr>
            <a:xfrm>
              <a:off x="7502968" y="4749228"/>
              <a:ext cx="564506" cy="1296995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vert="eaVert"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CX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デザイン部</a:t>
              </a:r>
              <a:endPara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CX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推進部　</a:t>
              </a:r>
              <a:endPara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フルフィルメント改革部</a:t>
              </a:r>
              <a:endPara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cxnSp>
          <p:nvCxnSpPr>
            <p:cNvPr id="55" name="コネクタ: カギ線 54">
              <a:extLst>
                <a:ext uri="{FF2B5EF4-FFF2-40B4-BE49-F238E27FC236}">
                  <a16:creationId xmlns:a16="http://schemas.microsoft.com/office/drawing/2014/main" id="{92F32EAC-FF30-BC4D-A6D7-013A49F1C952}"/>
                </a:ext>
              </a:extLst>
            </p:cNvPr>
            <p:cNvCxnSpPr>
              <a:cxnSpLocks/>
              <a:stCxn id="11" idx="2"/>
              <a:endCxn id="14" idx="0"/>
            </p:cNvCxnSpPr>
            <p:nvPr/>
          </p:nvCxnSpPr>
          <p:spPr bwMode="auto">
            <a:xfrm rot="5400000">
              <a:off x="6432880" y="2836907"/>
              <a:ext cx="193620" cy="310909"/>
            </a:xfrm>
            <a:prstGeom prst="bentConnector3">
              <a:avLst>
                <a:gd name="adj1" fmla="val 50000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2" name="直線コネクタ 61">
              <a:extLst>
                <a:ext uri="{FF2B5EF4-FFF2-40B4-BE49-F238E27FC236}">
                  <a16:creationId xmlns:a16="http://schemas.microsoft.com/office/drawing/2014/main" id="{F7A69E89-D9A3-55BD-C974-DCCDEB4946A7}"/>
                </a:ext>
              </a:extLst>
            </p:cNvPr>
            <p:cNvCxnSpPr>
              <a:cxnSpLocks/>
              <a:stCxn id="14" idx="2"/>
              <a:endCxn id="17" idx="0"/>
            </p:cNvCxnSpPr>
            <p:nvPr/>
          </p:nvCxnSpPr>
          <p:spPr bwMode="auto">
            <a:xfrm>
              <a:off x="6374236" y="4598003"/>
              <a:ext cx="0" cy="151226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173" name="直線コネクタ 7172">
              <a:extLst>
                <a:ext uri="{FF2B5EF4-FFF2-40B4-BE49-F238E27FC236}">
                  <a16:creationId xmlns:a16="http://schemas.microsoft.com/office/drawing/2014/main" id="{1AAD30B7-736C-CB35-EAC0-7DDDAF60EFB1}"/>
                </a:ext>
              </a:extLst>
            </p:cNvPr>
            <p:cNvCxnSpPr>
              <a:cxnSpLocks/>
              <a:stCxn id="19" idx="2"/>
              <a:endCxn id="23" idx="0"/>
            </p:cNvCxnSpPr>
            <p:nvPr/>
          </p:nvCxnSpPr>
          <p:spPr bwMode="auto">
            <a:xfrm>
              <a:off x="7785221" y="3918152"/>
              <a:ext cx="0" cy="831076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7248" name="グループ化 7247">
              <a:extLst>
                <a:ext uri="{FF2B5EF4-FFF2-40B4-BE49-F238E27FC236}">
                  <a16:creationId xmlns:a16="http://schemas.microsoft.com/office/drawing/2014/main" id="{507479AF-431D-7016-9DDE-1805205866A8}"/>
                </a:ext>
              </a:extLst>
            </p:cNvPr>
            <p:cNvGrpSpPr/>
            <p:nvPr/>
          </p:nvGrpSpPr>
          <p:grpSpPr>
            <a:xfrm>
              <a:off x="7008381" y="6131252"/>
              <a:ext cx="50533" cy="277881"/>
              <a:chOff x="3299769" y="6012660"/>
              <a:chExt cx="36000" cy="277881"/>
            </a:xfrm>
          </p:grpSpPr>
          <p:sp>
            <p:nvSpPr>
              <p:cNvPr id="7249" name="楕円 7248">
                <a:extLst>
                  <a:ext uri="{FF2B5EF4-FFF2-40B4-BE49-F238E27FC236}">
                    <a16:creationId xmlns:a16="http://schemas.microsoft.com/office/drawing/2014/main" id="{22AD6BC0-1EBC-16CF-381D-99E462FF99C6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2700061">
                <a:off x="3299343" y="6013086"/>
                <a:ext cx="36851" cy="36000"/>
              </a:xfrm>
              <a:prstGeom prst="ellipse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36000" rIns="36000" bIns="36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endParaRPr>
              </a:p>
            </p:txBody>
          </p:sp>
          <p:sp>
            <p:nvSpPr>
              <p:cNvPr id="7250" name="楕円 7249">
                <a:extLst>
                  <a:ext uri="{FF2B5EF4-FFF2-40B4-BE49-F238E27FC236}">
                    <a16:creationId xmlns:a16="http://schemas.microsoft.com/office/drawing/2014/main" id="{B128EDA5-98C4-6788-B6A5-B5F4C43135A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2700061">
                <a:off x="3299343" y="6133601"/>
                <a:ext cx="36851" cy="36000"/>
              </a:xfrm>
              <a:prstGeom prst="ellipse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36000" rIns="36000" bIns="36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endParaRPr>
              </a:p>
            </p:txBody>
          </p:sp>
          <p:sp>
            <p:nvSpPr>
              <p:cNvPr id="7251" name="楕円 7250">
                <a:extLst>
                  <a:ext uri="{FF2B5EF4-FFF2-40B4-BE49-F238E27FC236}">
                    <a16:creationId xmlns:a16="http://schemas.microsoft.com/office/drawing/2014/main" id="{1C402A8D-8693-75BB-627C-88DC231A8D08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2700061">
                <a:off x="3299343" y="6254116"/>
                <a:ext cx="36851" cy="36000"/>
              </a:xfrm>
              <a:prstGeom prst="ellipse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36000" rIns="36000" bIns="36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endParaRPr>
              </a:p>
            </p:txBody>
          </p:sp>
        </p:grpSp>
        <p:sp>
          <p:nvSpPr>
            <p:cNvPr id="7280" name="Text 58">
              <a:extLst>
                <a:ext uri="{FF2B5EF4-FFF2-40B4-BE49-F238E27FC236}">
                  <a16:creationId xmlns:a16="http://schemas.microsoft.com/office/drawing/2014/main" id="{5C0FB5CC-2CE6-3AF6-7B37-EFEB5082BDE7}"/>
                </a:ext>
              </a:extLst>
            </p:cNvPr>
            <p:cNvSpPr/>
            <p:nvPr/>
          </p:nvSpPr>
          <p:spPr>
            <a:xfrm>
              <a:off x="6733688" y="3089171"/>
              <a:ext cx="524730" cy="1508832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vert="eaVert"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流通営業本部</a:t>
              </a:r>
              <a:endPara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本部長）</a:t>
              </a: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cxnSp>
          <p:nvCxnSpPr>
            <p:cNvPr id="7281" name="コネクタ: カギ線 7280">
              <a:extLst>
                <a:ext uri="{FF2B5EF4-FFF2-40B4-BE49-F238E27FC236}">
                  <a16:creationId xmlns:a16="http://schemas.microsoft.com/office/drawing/2014/main" id="{191CF1B3-7AE8-0140-F327-54586237BFEB}"/>
                </a:ext>
              </a:extLst>
            </p:cNvPr>
            <p:cNvCxnSpPr>
              <a:cxnSpLocks/>
              <a:stCxn id="11" idx="2"/>
              <a:endCxn id="7280" idx="0"/>
            </p:cNvCxnSpPr>
            <p:nvPr/>
          </p:nvCxnSpPr>
          <p:spPr bwMode="auto">
            <a:xfrm rot="16200000" flipH="1">
              <a:off x="6743788" y="2836906"/>
              <a:ext cx="193620" cy="310909"/>
            </a:xfrm>
            <a:prstGeom prst="bentConnector3">
              <a:avLst>
                <a:gd name="adj1" fmla="val 50000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7334" name="グループ化 7333">
            <a:extLst>
              <a:ext uri="{FF2B5EF4-FFF2-40B4-BE49-F238E27FC236}">
                <a16:creationId xmlns:a16="http://schemas.microsoft.com/office/drawing/2014/main" id="{1B33FD6D-F7C2-9954-1A9D-3199C0605120}"/>
              </a:ext>
            </a:extLst>
          </p:cNvPr>
          <p:cNvGrpSpPr/>
          <p:nvPr/>
        </p:nvGrpSpPr>
        <p:grpSpPr>
          <a:xfrm>
            <a:off x="4040837" y="1845972"/>
            <a:ext cx="1703484" cy="4637676"/>
            <a:chOff x="4040837" y="1845972"/>
            <a:chExt cx="1703484" cy="4637676"/>
          </a:xfrm>
        </p:grpSpPr>
        <p:sp>
          <p:nvSpPr>
            <p:cNvPr id="12" name="TopicBox">
              <a:extLst>
                <a:ext uri="{FF2B5EF4-FFF2-40B4-BE49-F238E27FC236}">
                  <a16:creationId xmlns:a16="http://schemas.microsoft.com/office/drawing/2014/main" id="{1FE7B28B-A4CC-E677-8077-ED15B3A4263A}"/>
                </a:ext>
              </a:extLst>
            </p:cNvPr>
            <p:cNvSpPr/>
            <p:nvPr/>
          </p:nvSpPr>
          <p:spPr bwMode="auto">
            <a:xfrm>
              <a:off x="4040837" y="1845972"/>
              <a:ext cx="1703484" cy="4637676"/>
            </a:xfrm>
            <a:prstGeom prst="rect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36000" rIns="36000" bIns="36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>SCM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>・品質・生産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</p:txBody>
        </p:sp>
        <p:sp>
          <p:nvSpPr>
            <p:cNvPr id="7181" name="Text 58">
              <a:extLst>
                <a:ext uri="{FF2B5EF4-FFF2-40B4-BE49-F238E27FC236}">
                  <a16:creationId xmlns:a16="http://schemas.microsoft.com/office/drawing/2014/main" id="{93E25C0B-9943-B60D-DAEF-D300C2016B0B}"/>
                </a:ext>
              </a:extLst>
            </p:cNvPr>
            <p:cNvSpPr/>
            <p:nvPr/>
          </p:nvSpPr>
          <p:spPr>
            <a:xfrm>
              <a:off x="4270233" y="2401834"/>
              <a:ext cx="475200" cy="1058636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vert="eaVert"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SCM</a:t>
              </a: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本部</a:t>
              </a:r>
              <a:endPara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本部長）</a:t>
              </a: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endParaRPr kumimoji="1" 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7183" name="Text 58">
              <a:extLst>
                <a:ext uri="{FF2B5EF4-FFF2-40B4-BE49-F238E27FC236}">
                  <a16:creationId xmlns:a16="http://schemas.microsoft.com/office/drawing/2014/main" id="{681C14A2-D515-AB3B-6248-B96716122474}"/>
                </a:ext>
              </a:extLst>
            </p:cNvPr>
            <p:cNvSpPr/>
            <p:nvPr/>
          </p:nvSpPr>
          <p:spPr>
            <a:xfrm>
              <a:off x="4141897" y="3640511"/>
              <a:ext cx="731872" cy="1648214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vert="eaVert" wrap="square" lIns="508" tIns="508" rIns="508" bIns="508" rtlCol="0" anchor="ctr">
              <a:no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SCM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統括部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調達部（○○ ○○ 部長）</a:t>
              </a:r>
              <a:endParaRPr kumimoji="1" lang="en-US" altLang="ja-JP" sz="105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需給部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物流部</a:t>
              </a:r>
              <a:endParaRPr kumimoji="1" lang="en-US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7185" name="Text 58">
              <a:extLst>
                <a:ext uri="{FF2B5EF4-FFF2-40B4-BE49-F238E27FC236}">
                  <a16:creationId xmlns:a16="http://schemas.microsoft.com/office/drawing/2014/main" id="{78CE9889-5444-5CB3-2808-2DE9AF727D75}"/>
                </a:ext>
              </a:extLst>
            </p:cNvPr>
            <p:cNvSpPr/>
            <p:nvPr/>
          </p:nvSpPr>
          <p:spPr>
            <a:xfrm>
              <a:off x="5037281" y="2401834"/>
              <a:ext cx="475200" cy="1058636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vert="eaVert"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品質保証本部</a:t>
              </a:r>
              <a:endPara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氏）</a:t>
              </a: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/>
              </a:r>
              <a:endParaRPr kumimoji="1" 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7187" name="Text 58">
              <a:extLst>
                <a:ext uri="{FF2B5EF4-FFF2-40B4-BE49-F238E27FC236}">
                  <a16:creationId xmlns:a16="http://schemas.microsoft.com/office/drawing/2014/main" id="{5B4D98C9-622E-746A-4185-33D822D43EDC}"/>
                </a:ext>
              </a:extLst>
            </p:cNvPr>
            <p:cNvSpPr/>
            <p:nvPr/>
          </p:nvSpPr>
          <p:spPr>
            <a:xfrm>
              <a:off x="4911390" y="3640511"/>
              <a:ext cx="726982" cy="1648214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vert="eaVert" wrap="square" lIns="508" tIns="508" rIns="508" bIns="508" rtlCol="0" anchor="ctr">
              <a:no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品質保証部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安全性品質研究センター</a:t>
              </a:r>
              <a:endParaRPr kumimoji="1" lang="en-US" sz="10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cxnSp>
          <p:nvCxnSpPr>
            <p:cNvPr id="7188" name="直線コネクタ 7187">
              <a:extLst>
                <a:ext uri="{FF2B5EF4-FFF2-40B4-BE49-F238E27FC236}">
                  <a16:creationId xmlns:a16="http://schemas.microsoft.com/office/drawing/2014/main" id="{ADAAC120-39AF-0874-7255-B99DECC0679A}"/>
                </a:ext>
              </a:extLst>
            </p:cNvPr>
            <p:cNvCxnSpPr>
              <a:cxnSpLocks/>
              <a:stCxn id="7181" idx="2"/>
              <a:endCxn id="7183" idx="0"/>
            </p:cNvCxnSpPr>
            <p:nvPr/>
          </p:nvCxnSpPr>
          <p:spPr bwMode="auto">
            <a:xfrm>
              <a:off x="4507833" y="3460470"/>
              <a:ext cx="0" cy="180041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7241" name="グループ化 7240">
              <a:extLst>
                <a:ext uri="{FF2B5EF4-FFF2-40B4-BE49-F238E27FC236}">
                  <a16:creationId xmlns:a16="http://schemas.microsoft.com/office/drawing/2014/main" id="{FCCB0719-F058-ED69-9535-144E03998D6A}"/>
                </a:ext>
              </a:extLst>
            </p:cNvPr>
            <p:cNvGrpSpPr/>
            <p:nvPr/>
          </p:nvGrpSpPr>
          <p:grpSpPr>
            <a:xfrm>
              <a:off x="4857885" y="6012257"/>
              <a:ext cx="45719" cy="277881"/>
              <a:chOff x="3299769" y="6012660"/>
              <a:chExt cx="36000" cy="277881"/>
            </a:xfrm>
          </p:grpSpPr>
          <p:sp>
            <p:nvSpPr>
              <p:cNvPr id="7242" name="楕円 7241">
                <a:extLst>
                  <a:ext uri="{FF2B5EF4-FFF2-40B4-BE49-F238E27FC236}">
                    <a16:creationId xmlns:a16="http://schemas.microsoft.com/office/drawing/2014/main" id="{26EC6A97-33E4-2D06-FADB-19FBA629236C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2700061">
                <a:off x="3299343" y="6013086"/>
                <a:ext cx="36851" cy="36000"/>
              </a:xfrm>
              <a:prstGeom prst="ellipse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36000" rIns="36000" bIns="36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endParaRPr>
              </a:p>
            </p:txBody>
          </p:sp>
          <p:sp>
            <p:nvSpPr>
              <p:cNvPr id="7243" name="楕円 7242">
                <a:extLst>
                  <a:ext uri="{FF2B5EF4-FFF2-40B4-BE49-F238E27FC236}">
                    <a16:creationId xmlns:a16="http://schemas.microsoft.com/office/drawing/2014/main" id="{7F63A328-29F5-051B-6FEC-FFAC3B7FC959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2700061">
                <a:off x="3299343" y="6133601"/>
                <a:ext cx="36851" cy="36000"/>
              </a:xfrm>
              <a:prstGeom prst="ellipse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36000" rIns="36000" bIns="36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endParaRPr>
              </a:p>
            </p:txBody>
          </p:sp>
          <p:sp>
            <p:nvSpPr>
              <p:cNvPr id="7244" name="楕円 7243">
                <a:extLst>
                  <a:ext uri="{FF2B5EF4-FFF2-40B4-BE49-F238E27FC236}">
                    <a16:creationId xmlns:a16="http://schemas.microsoft.com/office/drawing/2014/main" id="{A486EA73-E31A-6E46-B7F1-449C3090436D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2700061">
                <a:off x="3299343" y="6254116"/>
                <a:ext cx="36851" cy="36000"/>
              </a:xfrm>
              <a:prstGeom prst="ellipse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36000" rIns="36000" bIns="36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endParaRPr>
              </a:p>
            </p:txBody>
          </p:sp>
        </p:grpSp>
        <p:cxnSp>
          <p:nvCxnSpPr>
            <p:cNvPr id="7272" name="直線コネクタ 7271">
              <a:extLst>
                <a:ext uri="{FF2B5EF4-FFF2-40B4-BE49-F238E27FC236}">
                  <a16:creationId xmlns:a16="http://schemas.microsoft.com/office/drawing/2014/main" id="{16673CF1-DC6D-1E90-AB61-B00DD86DD5F6}"/>
                </a:ext>
              </a:extLst>
            </p:cNvPr>
            <p:cNvCxnSpPr>
              <a:cxnSpLocks/>
              <a:stCxn id="7185" idx="2"/>
              <a:endCxn id="7187" idx="0"/>
            </p:cNvCxnSpPr>
            <p:nvPr/>
          </p:nvCxnSpPr>
          <p:spPr bwMode="auto">
            <a:xfrm>
              <a:off x="5274881" y="3460470"/>
              <a:ext cx="0" cy="180041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7196" name="Text 58">
              <a:extLst>
                <a:ext uri="{FF2B5EF4-FFF2-40B4-BE49-F238E27FC236}">
                  <a16:creationId xmlns:a16="http://schemas.microsoft.com/office/drawing/2014/main" id="{54067988-A960-72DD-C8D2-D65E9E5AA13F}"/>
                </a:ext>
              </a:extLst>
            </p:cNvPr>
            <p:cNvSpPr/>
            <p:nvPr/>
          </p:nvSpPr>
          <p:spPr>
            <a:xfrm>
              <a:off x="4141897" y="5435050"/>
              <a:ext cx="1496475" cy="490710"/>
            </a:xfrm>
            <a:prstGeom prst="rect">
              <a:avLst/>
            </a:prstGeom>
            <a:solidFill>
              <a:srgbClr val="FFFFFF"/>
            </a:solidFill>
            <a:ln w="8890">
              <a:solidFill>
                <a:srgbClr val="111111"/>
              </a:solidFill>
            </a:ln>
          </p:spPr>
          <p:txBody>
            <a:bodyPr wrap="square" lIns="508" tIns="508" rIns="508" bIns="508" rtlCol="0" anchor="ctr">
              <a:norm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1" i="0" u="none" strike="noStrike" kern="1200" cap="none" spc="0" normalizeH="0" baseline="0" noProof="0">
                  <a:ln>
                    <a:noFill/>
                  </a:ln>
                  <a:solidFill>
                    <a:srgbClr val="FFC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㈱サンプル製造</a:t>
              </a:r>
              <a:endParaRPr kumimoji="1" lang="en-US" altLang="ja-JP" sz="11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rgbClr val="FFC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（○○ ○○ 代表）</a:t>
              </a:r>
              <a:endParaRPr kumimoji="1" lang="en-US" sz="11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</p:grpSp>
      <p:cxnSp>
        <p:nvCxnSpPr>
          <p:cNvPr id="7335" name="コネクタ: カギ線 7334">
            <a:extLst>
              <a:ext uri="{FF2B5EF4-FFF2-40B4-BE49-F238E27FC236}">
                <a16:creationId xmlns:a16="http://schemas.microsoft.com/office/drawing/2014/main" id="{E96B88DE-525F-1598-5CE6-1CA541AB2BDF}"/>
              </a:ext>
            </a:extLst>
          </p:cNvPr>
          <p:cNvCxnSpPr>
            <a:cxnSpLocks/>
            <a:stCxn id="7276" idx="2"/>
            <a:endCxn id="15" idx="0"/>
          </p:cNvCxnSpPr>
          <p:nvPr/>
        </p:nvCxnSpPr>
        <p:spPr bwMode="auto">
          <a:xfrm rot="16200000" flipH="1">
            <a:off x="5813501" y="625826"/>
            <a:ext cx="351860" cy="2088432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38" name="コネクタ: カギ線 7337">
            <a:extLst>
              <a:ext uri="{FF2B5EF4-FFF2-40B4-BE49-F238E27FC236}">
                <a16:creationId xmlns:a16="http://schemas.microsoft.com/office/drawing/2014/main" id="{1FBAA3ED-0F34-1F9D-7B8D-DDF27FC84D0E}"/>
              </a:ext>
            </a:extLst>
          </p:cNvPr>
          <p:cNvCxnSpPr>
            <a:cxnSpLocks/>
            <a:stCxn id="7276" idx="2"/>
            <a:endCxn id="20" idx="0"/>
          </p:cNvCxnSpPr>
          <p:nvPr/>
        </p:nvCxnSpPr>
        <p:spPr bwMode="auto">
          <a:xfrm rot="16200000" flipH="1">
            <a:off x="6821007" y="-381681"/>
            <a:ext cx="351861" cy="4103445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41" name="コネクタ: カギ線 7340">
            <a:extLst>
              <a:ext uri="{FF2B5EF4-FFF2-40B4-BE49-F238E27FC236}">
                <a16:creationId xmlns:a16="http://schemas.microsoft.com/office/drawing/2014/main" id="{57092C54-04F7-31E6-67F5-79994D0221D2}"/>
              </a:ext>
            </a:extLst>
          </p:cNvPr>
          <p:cNvCxnSpPr>
            <a:cxnSpLocks/>
            <a:stCxn id="7276" idx="2"/>
            <a:endCxn id="7" idx="0"/>
          </p:cNvCxnSpPr>
          <p:nvPr/>
        </p:nvCxnSpPr>
        <p:spPr bwMode="auto">
          <a:xfrm rot="5400000">
            <a:off x="3808443" y="709200"/>
            <a:ext cx="351860" cy="1921684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44" name="コネクタ: カギ線 7343">
            <a:extLst>
              <a:ext uri="{FF2B5EF4-FFF2-40B4-BE49-F238E27FC236}">
                <a16:creationId xmlns:a16="http://schemas.microsoft.com/office/drawing/2014/main" id="{D9B76336-4006-9C94-A3C4-255669C284ED}"/>
              </a:ext>
            </a:extLst>
          </p:cNvPr>
          <p:cNvCxnSpPr>
            <a:cxnSpLocks/>
            <a:stCxn id="7276" idx="2"/>
          </p:cNvCxnSpPr>
          <p:nvPr/>
        </p:nvCxnSpPr>
        <p:spPr bwMode="auto">
          <a:xfrm rot="5400000">
            <a:off x="2835922" y="-263321"/>
            <a:ext cx="351860" cy="3866726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49" name="コネクタ: カギ線 7348">
            <a:extLst>
              <a:ext uri="{FF2B5EF4-FFF2-40B4-BE49-F238E27FC236}">
                <a16:creationId xmlns:a16="http://schemas.microsoft.com/office/drawing/2014/main" id="{093267C6-8422-896D-B827-9B426E90389D}"/>
              </a:ext>
            </a:extLst>
          </p:cNvPr>
          <p:cNvCxnSpPr>
            <a:cxnSpLocks/>
            <a:stCxn id="7276" idx="2"/>
          </p:cNvCxnSpPr>
          <p:nvPr/>
        </p:nvCxnSpPr>
        <p:spPr bwMode="auto">
          <a:xfrm rot="5400000">
            <a:off x="4742967" y="1643724"/>
            <a:ext cx="351860" cy="52636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7353" name="吹き出し: 四角形 7352">
            <a:extLst>
              <a:ext uri="{FF2B5EF4-FFF2-40B4-BE49-F238E27FC236}">
                <a16:creationId xmlns:a16="http://schemas.microsoft.com/office/drawing/2014/main" id="{FB9F8B8B-114E-E41E-DBC6-20C0704A0031}"/>
              </a:ext>
            </a:extLst>
          </p:cNvPr>
          <p:cNvSpPr/>
          <p:nvPr/>
        </p:nvSpPr>
        <p:spPr bwMode="auto">
          <a:xfrm flipH="1">
            <a:off x="1119191" y="6178873"/>
            <a:ext cx="1157714" cy="365209"/>
          </a:xfrm>
          <a:prstGeom prst="wedgeRectCallout">
            <a:avLst>
              <a:gd name="adj1" fmla="val 30903"/>
              <a:gd name="adj2" fmla="val -123964"/>
            </a:avLst>
          </a:prstGeom>
          <a:solidFill>
            <a:srgbClr val="EAEAEA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商品・ブランド側の提案起点候補</a:t>
            </a:r>
          </a:p>
        </p:txBody>
      </p:sp>
      <p:sp>
        <p:nvSpPr>
          <p:cNvPr id="7355" name="吹き出し: 四角形 7354">
            <a:extLst>
              <a:ext uri="{FF2B5EF4-FFF2-40B4-BE49-F238E27FC236}">
                <a16:creationId xmlns:a16="http://schemas.microsoft.com/office/drawing/2014/main" id="{C4F0430E-4E6B-C7A1-A70A-4833D4EAD07A}"/>
              </a:ext>
            </a:extLst>
          </p:cNvPr>
          <p:cNvSpPr/>
          <p:nvPr/>
        </p:nvSpPr>
        <p:spPr bwMode="auto">
          <a:xfrm flipH="1">
            <a:off x="2405867" y="5038962"/>
            <a:ext cx="1589991" cy="365209"/>
          </a:xfrm>
          <a:prstGeom prst="wedgeRectCallout">
            <a:avLst>
              <a:gd name="adj1" fmla="val -76414"/>
              <a:gd name="adj2" fmla="val -68076"/>
            </a:avLst>
          </a:prstGeom>
          <a:solidFill>
            <a:srgbClr val="EAEAEA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サプライヤー・調達条件に関わる実務窓口候補</a:t>
            </a:r>
          </a:p>
        </p:txBody>
      </p:sp>
      <p:sp>
        <p:nvSpPr>
          <p:cNvPr id="7357" name="吹き出し: 四角形 7356">
            <a:extLst>
              <a:ext uri="{FF2B5EF4-FFF2-40B4-BE49-F238E27FC236}">
                <a16:creationId xmlns:a16="http://schemas.microsoft.com/office/drawing/2014/main" id="{CCA7F28E-D4F1-5D31-96C2-F1829781D377}"/>
              </a:ext>
            </a:extLst>
          </p:cNvPr>
          <p:cNvSpPr/>
          <p:nvPr/>
        </p:nvSpPr>
        <p:spPr bwMode="auto">
          <a:xfrm flipH="1">
            <a:off x="2405866" y="5813664"/>
            <a:ext cx="1586404" cy="365209"/>
          </a:xfrm>
          <a:prstGeom prst="wedgeRectCallout">
            <a:avLst>
              <a:gd name="adj1" fmla="val -65888"/>
              <a:gd name="adj2" fmla="val -60252"/>
            </a:avLst>
          </a:prstGeom>
          <a:solidFill>
            <a:srgbClr val="EAEAEA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充填・包装設備との適合性・量産性等の検討先</a:t>
            </a:r>
          </a:p>
        </p:txBody>
      </p:sp>
      <p:sp>
        <p:nvSpPr>
          <p:cNvPr id="7359" name="吹き出し: 四角形 7358">
            <a:extLst>
              <a:ext uri="{FF2B5EF4-FFF2-40B4-BE49-F238E27FC236}">
                <a16:creationId xmlns:a16="http://schemas.microsoft.com/office/drawing/2014/main" id="{9C264C18-A345-D307-5819-952C6FBCEB04}"/>
              </a:ext>
            </a:extLst>
          </p:cNvPr>
          <p:cNvSpPr/>
          <p:nvPr/>
        </p:nvSpPr>
        <p:spPr bwMode="auto">
          <a:xfrm flipH="1">
            <a:off x="3170698" y="2980918"/>
            <a:ext cx="1000021" cy="365209"/>
          </a:xfrm>
          <a:prstGeom prst="wedgeRectCallout">
            <a:avLst>
              <a:gd name="adj1" fmla="val 35434"/>
              <a:gd name="adj2" fmla="val 116353"/>
            </a:avLst>
          </a:prstGeom>
          <a:solidFill>
            <a:srgbClr val="EAEAEA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容器・材料等の</a:t>
            </a:r>
            <a:endParaRPr kumimoji="1" lang="en-US" altLang="ja-JP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技術検討先</a:t>
            </a:r>
          </a:p>
        </p:txBody>
      </p:sp>
      <p:sp>
        <p:nvSpPr>
          <p:cNvPr id="7360" name="Rectangle 7359"/>
          <p:cNvSpPr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61" name="TextBox 7360"/>
          <p:cNvSpPr txBox="1"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000000"/>
                </a:solidFill>
              </a:rPr>
              <a:t>架空企業のサンプル</a:t>
            </a:r>
          </a:p>
        </p:txBody>
      </p:sp>
    </p:spTree>
    <p:extLst>
      <p:ext uri="{BB962C8B-B14F-4D97-AF65-F5344CB8AC3E}">
        <p14:creationId xmlns:p14="http://schemas.microsoft.com/office/powerpoint/2010/main" val="23171878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AD20-2B24-37B9-5B40-566449F9D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スライド番号プレースホルダー 3">
            <a:extLst>
              <a:ext uri="{FF2B5EF4-FFF2-40B4-BE49-F238E27FC236}">
                <a16:creationId xmlns:a16="http://schemas.microsoft.com/office/drawing/2014/main" id="{CC11D395-2CDD-4E00-3B73-4002217C7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9pPr>
          </a:lstStyle>
          <a:p>
            <a:r>
              <a:t>- 3 -</a:t>
            </a:r>
          </a:p>
        </p:txBody>
      </p:sp>
      <p:sp>
        <p:nvSpPr>
          <p:cNvPr id="7172" name="Rectangle 9">
            <a:extLst>
              <a:ext uri="{FF2B5EF4-FFF2-40B4-BE49-F238E27FC236}">
                <a16:creationId xmlns:a16="http://schemas.microsoft.com/office/drawing/2014/main" id="{13625770-8A90-351B-9812-387FEC5017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4094" y="228600"/>
            <a:ext cx="9197813" cy="762000"/>
          </a:xfrm>
          <a:noFill/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rIns="36000"/>
          <a:lstStyle/>
          <a:p>
            <a:pPr eaLnBrk="1" hangingPunct="1"/>
            <a:r>
              <a:rPr lang="zh-TW" altLang="en-US"/>
              <a:t>サンプル化粧品株式会社（3）　販売チャネル</a:t>
            </a:r>
            <a:br>
              <a:rPr lang="ja-JP" altLang="en-US"/>
            </a:br>
            <a:br>
              <a:rPr lang="en-US" altLang="ja-JP" sz="1800"/>
            </a:br>
            <a:r>
              <a:rPr lang="ja-JP" altLang="en-US" sz="1800"/>
              <a:t>ドラッグストア中心から、ECと海外へ販路が広がり、小容量・詰替の品目が増える</a:t>
            </a:r>
            <a:br>
              <a:rPr lang="ja-JP" altLang="en-US" sz="1800"/>
            </a:br>
            <a:endParaRPr lang="ja-JP" altLang="en-US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9B1ADF82-6BE4-4E1D-E7F2-A5597CDD91B6}"/>
              </a:ext>
            </a:extLst>
          </p:cNvPr>
          <p:cNvGrpSpPr/>
          <p:nvPr/>
        </p:nvGrpSpPr>
        <p:grpSpPr>
          <a:xfrm>
            <a:off x="202819" y="1343189"/>
            <a:ext cx="4390141" cy="333211"/>
            <a:chOff x="609600" y="1343189"/>
            <a:chExt cx="3962400" cy="333211"/>
          </a:xfrm>
        </p:grpSpPr>
        <p:sp>
          <p:nvSpPr>
            <p:cNvPr id="5" name="Line 3">
              <a:extLst>
                <a:ext uri="{FF2B5EF4-FFF2-40B4-BE49-F238E27FC236}">
                  <a16:creationId xmlns:a16="http://schemas.microsoft.com/office/drawing/2014/main" id="{3928DE69-FBFC-31CD-210B-68EAA4366E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9600" y="1676400"/>
              <a:ext cx="396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0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</p:txBody>
        </p:sp>
        <p:sp>
          <p:nvSpPr>
            <p:cNvPr id="7" name="Text Box 4">
              <a:extLst>
                <a:ext uri="{FF2B5EF4-FFF2-40B4-BE49-F238E27FC236}">
                  <a16:creationId xmlns:a16="http://schemas.microsoft.com/office/drawing/2014/main" id="{3F9ED2B8-4A7D-47B0-FE68-FD03E81AD6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4179" y="1343189"/>
              <a:ext cx="3151685" cy="3189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36000" tIns="36000" rIns="36000" bIns="36000" anchor="b">
              <a:spAutoFit/>
            </a:bodyPr>
            <a:lstStyle>
              <a:lvl1pPr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1pPr>
              <a:lvl2pPr marL="742950" indent="-28575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2pPr>
              <a:lvl3pPr marL="11430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3pPr>
              <a:lvl4pPr marL="16002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4pPr>
              <a:lvl5pPr marL="20574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>チャネル別売上構成比推移（2026/3予まで）</a:t>
              </a:r>
              <a:endPara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B353337C-597F-C79A-B82C-B6FF04BDB495}"/>
              </a:ext>
            </a:extLst>
          </p:cNvPr>
          <p:cNvGrpSpPr/>
          <p:nvPr/>
        </p:nvGrpSpPr>
        <p:grpSpPr>
          <a:xfrm>
            <a:off x="5454708" y="1343189"/>
            <a:ext cx="4248472" cy="333211"/>
            <a:chOff x="609600" y="1343189"/>
            <a:chExt cx="3962400" cy="333211"/>
          </a:xfrm>
        </p:grpSpPr>
        <p:sp>
          <p:nvSpPr>
            <p:cNvPr id="28" name="Line 3">
              <a:extLst>
                <a:ext uri="{FF2B5EF4-FFF2-40B4-BE49-F238E27FC236}">
                  <a16:creationId xmlns:a16="http://schemas.microsoft.com/office/drawing/2014/main" id="{BCC282BA-2F30-DC6D-FB04-467919C2B8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9600" y="1676400"/>
              <a:ext cx="396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0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</p:txBody>
        </p:sp>
        <p:sp>
          <p:nvSpPr>
            <p:cNvPr id="29" name="Text Box 4">
              <a:extLst>
                <a:ext uri="{FF2B5EF4-FFF2-40B4-BE49-F238E27FC236}">
                  <a16:creationId xmlns:a16="http://schemas.microsoft.com/office/drawing/2014/main" id="{F87A49A5-E015-6D95-AD5D-33A75248BC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9386" y="1343189"/>
              <a:ext cx="2201265" cy="3189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36000" tIns="36000" rIns="36000" bIns="36000" anchor="b">
              <a:spAutoFit/>
            </a:bodyPr>
            <a:lstStyle>
              <a:lvl1pPr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1pPr>
              <a:lvl2pPr marL="742950" indent="-28575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2pPr>
              <a:lvl3pPr marL="11430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3pPr>
              <a:lvl4pPr marL="16002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4pPr>
              <a:lvl5pPr marL="20574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>販売チャネルの特徴・戦略</a:t>
              </a:r>
              <a:endParaRPr kumimoji="1" lang="en-US" altLang="ja-JP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</p:txBody>
        </p:sp>
      </p:grpSp>
      <p:sp>
        <p:nvSpPr>
          <p:cNvPr id="7175" name="source">
            <a:extLst>
              <a:ext uri="{FF2B5EF4-FFF2-40B4-BE49-F238E27FC236}">
                <a16:creationId xmlns:a16="http://schemas.microsoft.com/office/drawing/2014/main" id="{CC31DE2E-0B7B-CF17-FCB1-310194632F3F}"/>
              </a:ext>
            </a:extLst>
          </p:cNvPr>
          <p:cNvSpPr txBox="1"/>
          <p:nvPr/>
        </p:nvSpPr>
        <p:spPr bwMode="auto">
          <a:xfrm>
            <a:off x="309000" y="6540912"/>
            <a:ext cx="9288000" cy="140400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0" tIns="0" rIns="0" bIns="0" rtlCol="0" anchor="b">
            <a:noAutofit/>
          </a:bodyPr>
          <a:lstStyle/>
          <a:p>
            <a:pPr marL="327629" marR="0" lvl="0" indent="-327629" algn="l" defTabSz="914400" rtl="0" eaLnBrk="1" fontAlgn="auto" latinLnBrk="0" hangingPunct="1">
              <a:lnSpc>
                <a:spcPct val="95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/>
                <a:cs typeface="+mn-cs"/>
              </a:rPr>
              <a:t>出所：決算説明資料（想定）。数値はすべて架空　　注：2026/3期は会社予想</a:t>
            </a:r>
          </a:p>
        </p:txBody>
      </p:sp>
      <p:sp>
        <p:nvSpPr>
          <p:cNvPr id="7237" name="テキスト プレースホルダー 3">
            <a:extLst>
              <a:ext uri="{FF2B5EF4-FFF2-40B4-BE49-F238E27FC236}">
                <a16:creationId xmlns:a16="http://schemas.microsoft.com/office/drawing/2014/main" id="{A7830391-5E23-F2E9-9E4A-67A10C896C99}"/>
              </a:ext>
            </a:extLst>
          </p:cNvPr>
          <p:cNvSpPr txBox="1">
            <a:spLocks/>
          </p:cNvSpPr>
          <p:nvPr/>
        </p:nvSpPr>
        <p:spPr bwMode="auto">
          <a:xfrm>
            <a:off x="5454708" y="1816457"/>
            <a:ext cx="4248472" cy="2767831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91440" tIns="45720" rIns="91440" bIns="45720" rtlCol="0" anchor="t">
            <a:noAutofit/>
          </a:bodyPr>
          <a:lstStyle>
            <a:lvl1pPr marL="198000" indent="-198000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200" baseline="0"/>
            </a:lvl1pPr>
            <a:lvl2pPr marL="432000" lvl="1" indent="-1476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‒"/>
              <a:defRPr sz="1200"/>
            </a:lvl2pPr>
            <a:lvl3pPr marL="648000" lvl="2" indent="-1368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/>
            </a:lvl3pPr>
            <a:lvl4pPr marL="864000" indent="-1224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-"/>
              <a:defRPr sz="1200"/>
            </a:lvl4pPr>
            <a:lvl5pPr marL="1080000" indent="-108000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·"/>
              <a:defRPr sz="12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ドラッグストアが売上の過半を占める主力チャネル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500700" marR="0" lvl="1" indent="-2667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‒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敏感肌向けの棚で定番化し、安定した販売基盤を持つ（サンプル文章）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500700" marR="0" lvl="1" indent="-2667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‒"/>
              <a:tabLst/>
              <a:defRPr/>
            </a:pP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EC比率が7%から16%へ上昇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500700" marR="0" lvl="1" indent="-2667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‒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EC限定の小容量・お試し・詰替の品目が増え、容器の種類が増加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500700" marR="0" lvl="1" indent="-2667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‒"/>
              <a:tabLst/>
              <a:defRPr/>
            </a:pP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海外は現地生産の開始に合わせて拡大する方針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500700" marR="0" lvl="1" indent="-2667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‒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海外向けの容器を現地で調達するかは未公表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</p:txBody>
      </p:sp>
      <p:sp>
        <p:nvSpPr>
          <p:cNvPr id="7285" name="note">
            <a:extLst>
              <a:ext uri="{FF2B5EF4-FFF2-40B4-BE49-F238E27FC236}">
                <a16:creationId xmlns:a16="http://schemas.microsoft.com/office/drawing/2014/main" id="{058AA027-54A7-976D-88E1-4641D5A33645}"/>
              </a:ext>
            </a:extLst>
          </p:cNvPr>
          <p:cNvSpPr txBox="1"/>
          <p:nvPr/>
        </p:nvSpPr>
        <p:spPr bwMode="auto">
          <a:xfrm>
            <a:off x="1616306" y="6540912"/>
            <a:ext cx="7894190" cy="148813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0" tIns="0" rIns="0" bIns="0" rtlCol="0" anchor="b">
            <a:noAutofit/>
          </a:bodyPr>
          <a:lstStyle/>
          <a:p>
            <a:pPr marL="504000" marR="0" lvl="0" indent="-504000" algn="l" defTabSz="914400" rtl="0" eaLnBrk="1" fontAlgn="auto" latinLnBrk="0" hangingPunct="1">
              <a:lnSpc>
                <a:spcPct val="95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>
                <a:tab pos="295200" algn="l"/>
              </a:tabLst>
              <a:defRPr/>
            </a:pPr>
          </a:p>
        </p:txBody>
      </p:sp>
      <p:graphicFrame>
        <p:nvGraphicFramePr>
          <p:cNvPr id="7286" name="Chart 7285"/>
          <p:cNvGraphicFramePr>
            <a:graphicFrameLocks noGrp="1"/>
          </p:cNvGraphicFramePr>
          <p:nvPr/>
        </p:nvGraphicFramePr>
        <p:xfrm>
          <a:off x="45720" y="1783080"/>
          <a:ext cx="4297680" cy="4526280"/>
        </p:xfrm>
        <a:graphic>
          <a:graphicData uri="http://schemas.openxmlformats.org/drawingml/2006/chart">
            <c:chart xmlns:c="http://schemas.openxmlformats.org/drawingml/2006/chart" r:id="rId42"/>
          </a:graphicData>
        </a:graphic>
      </p:graphicFrame>
      <p:sp>
        <p:nvSpPr>
          <p:cNvPr id="7287" name="Rectangle 7286"/>
          <p:cNvSpPr/>
          <p:nvPr/>
        </p:nvSpPr>
        <p:spPr>
          <a:xfrm>
            <a:off x="4370832" y="1856231"/>
            <a:ext cx="182880" cy="137160"/>
          </a:xfrm>
          <a:prstGeom prst="rect">
            <a:avLst/>
          </a:prstGeom>
          <a:solidFill>
            <a:srgbClr val="DFE5E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88" name="TextBox 7287"/>
          <p:cNvSpPr txBox="1"/>
          <p:nvPr/>
        </p:nvSpPr>
        <p:spPr>
          <a:xfrm>
            <a:off x="4617720" y="1810512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0000"/>
                </a:solidFill>
              </a:rPr>
              <a:t>ドラッグストア</a:t>
            </a:r>
          </a:p>
        </p:txBody>
      </p:sp>
      <p:sp>
        <p:nvSpPr>
          <p:cNvPr id="7289" name="Rectangle 7288"/>
          <p:cNvSpPr/>
          <p:nvPr/>
        </p:nvSpPr>
        <p:spPr>
          <a:xfrm>
            <a:off x="4370832" y="2084831"/>
            <a:ext cx="182880" cy="137160"/>
          </a:xfrm>
          <a:prstGeom prst="rect">
            <a:avLst/>
          </a:prstGeom>
          <a:solidFill>
            <a:srgbClr val="C3CFE1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90" name="TextBox 7289"/>
          <p:cNvSpPr txBox="1"/>
          <p:nvPr/>
        </p:nvSpPr>
        <p:spPr>
          <a:xfrm>
            <a:off x="4617720" y="2039112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0000"/>
                </a:solidFill>
              </a:rPr>
              <a:t>量販・バラエティ</a:t>
            </a:r>
          </a:p>
        </p:txBody>
      </p:sp>
      <p:sp>
        <p:nvSpPr>
          <p:cNvPr id="7291" name="Rectangle 7290"/>
          <p:cNvSpPr/>
          <p:nvPr/>
        </p:nvSpPr>
        <p:spPr>
          <a:xfrm>
            <a:off x="4370832" y="2313432"/>
            <a:ext cx="182880" cy="137160"/>
          </a:xfrm>
          <a:prstGeom prst="rect">
            <a:avLst/>
          </a:prstGeom>
          <a:solidFill>
            <a:srgbClr val="9DB1C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92" name="TextBox 7291"/>
          <p:cNvSpPr txBox="1"/>
          <p:nvPr/>
        </p:nvSpPr>
        <p:spPr>
          <a:xfrm>
            <a:off x="4617720" y="2267712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0000"/>
                </a:solidFill>
              </a:rPr>
              <a:t>EC</a:t>
            </a:r>
          </a:p>
        </p:txBody>
      </p:sp>
      <p:sp>
        <p:nvSpPr>
          <p:cNvPr id="7293" name="Rectangle 7292"/>
          <p:cNvSpPr/>
          <p:nvPr/>
        </p:nvSpPr>
        <p:spPr>
          <a:xfrm>
            <a:off x="4370832" y="2542032"/>
            <a:ext cx="182880" cy="137160"/>
          </a:xfrm>
          <a:prstGeom prst="rect">
            <a:avLst/>
          </a:prstGeom>
          <a:solidFill>
            <a:srgbClr val="6F8DB9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94" name="TextBox 7293"/>
          <p:cNvSpPr txBox="1"/>
          <p:nvPr/>
        </p:nvSpPr>
        <p:spPr>
          <a:xfrm>
            <a:off x="4617720" y="2496312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0000"/>
                </a:solidFill>
              </a:rPr>
              <a:t>百貨店・専門店</a:t>
            </a:r>
          </a:p>
        </p:txBody>
      </p:sp>
      <p:sp>
        <p:nvSpPr>
          <p:cNvPr id="7295" name="Rectangle 7294"/>
          <p:cNvSpPr/>
          <p:nvPr/>
        </p:nvSpPr>
        <p:spPr>
          <a:xfrm>
            <a:off x="4370832" y="2770632"/>
            <a:ext cx="182880" cy="137160"/>
          </a:xfrm>
          <a:prstGeom prst="rect">
            <a:avLst/>
          </a:prstGeom>
          <a:solidFill>
            <a:srgbClr val="4C6C9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96" name="TextBox 7295"/>
          <p:cNvSpPr txBox="1"/>
          <p:nvPr/>
        </p:nvSpPr>
        <p:spPr>
          <a:xfrm>
            <a:off x="4617720" y="2724912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0000"/>
                </a:solidFill>
              </a:rPr>
              <a:t>海外</a:t>
            </a:r>
          </a:p>
        </p:txBody>
      </p:sp>
      <p:sp>
        <p:nvSpPr>
          <p:cNvPr id="7297" name="Rectangle 7296"/>
          <p:cNvSpPr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98" name="TextBox 7297"/>
          <p:cNvSpPr txBox="1"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000000"/>
                </a:solidFill>
              </a:rPr>
              <a:t>架空企業のサンプル</a:t>
            </a:r>
          </a:p>
        </p:txBody>
      </p:sp>
    </p:spTree>
    <p:extLst>
      <p:ext uri="{BB962C8B-B14F-4D97-AF65-F5344CB8AC3E}">
        <p14:creationId xmlns:p14="http://schemas.microsoft.com/office/powerpoint/2010/main" val="27566244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DC522-7C89-5936-0DB1-1B321B670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スライド番号プレースホルダー 3">
            <a:extLst>
              <a:ext uri="{FF2B5EF4-FFF2-40B4-BE49-F238E27FC236}">
                <a16:creationId xmlns:a16="http://schemas.microsoft.com/office/drawing/2014/main" id="{6E74CD44-4F18-CE03-207B-75CBF4BC3B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</p:spPr>
        <p:txBody>
          <a:bodyPr/>
          <a:lstStyle>
            <a:lvl1pPr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9pPr>
          </a:lstStyle>
          <a:p>
            <a:r>
              <a:t>- 4 -</a:t>
            </a:r>
          </a:p>
        </p:txBody>
      </p:sp>
      <p:sp>
        <p:nvSpPr>
          <p:cNvPr id="7172" name="Rectangle 9">
            <a:extLst>
              <a:ext uri="{FF2B5EF4-FFF2-40B4-BE49-F238E27FC236}">
                <a16:creationId xmlns:a16="http://schemas.microsoft.com/office/drawing/2014/main" id="{3D2AE66C-93E2-4A99-DF51-AD3B7EAF737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45976" y="228600"/>
            <a:ext cx="9014048" cy="762000"/>
          </a:xfrm>
          <a:noFill/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rIns="36000"/>
          <a:lstStyle/>
          <a:p>
            <a:pPr eaLnBrk="1" hangingPunct="1"/>
            <a:r>
              <a:rPr lang="ja-JP" altLang="en-US"/>
              <a:t>サンプル化粧品株式会社（4）　商品ラインナップ</a:t>
            </a:r>
            <a:br/>
            <a:r>
              <a:rPr lang="ja-JP" altLang="en-US" sz="1800"/>
              <a:t>スキンケアとヘアケアは容器接点が大きい一方、UVはチューブ・スプレーが中心</a:t>
            </a:r>
            <a:br>
              <a:rPr lang="ja-JP" altLang="en-US"/>
            </a:br>
            <a:br>
              <a:rPr lang="ja-JP" altLang="en-US" sz="1800"/>
            </a:br>
            <a:endParaRPr lang="ja-JP" altLang="en-US" sz="180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595E095-7CFF-02CD-873A-29984472D25D}"/>
              </a:ext>
            </a:extLst>
          </p:cNvPr>
          <p:cNvSpPr txBox="1">
            <a:spLocks/>
          </p:cNvSpPr>
          <p:nvPr/>
        </p:nvSpPr>
        <p:spPr bwMode="auto">
          <a:xfrm>
            <a:off x="128464" y="1832918"/>
            <a:ext cx="2376526" cy="2800767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91440" tIns="45720" rIns="91440" bIns="45720" rtlCol="0" anchor="t">
            <a:spAutoFit/>
          </a:bodyPr>
          <a:lstStyle>
            <a:lvl1pPr marL="198000" indent="-198000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200" baseline="0"/>
            </a:lvl1pPr>
            <a:lvl2pPr marL="432000" lvl="1" indent="-1476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‒"/>
              <a:defRPr sz="1200"/>
            </a:lvl2pPr>
            <a:lvl3pPr marL="648000" lvl="2" indent="-1368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/>
            </a:lvl3pPr>
            <a:lvl4pPr marL="864000" indent="-1224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-"/>
              <a:defRPr sz="1200"/>
            </a:lvl4pPr>
            <a:lvl5pPr marL="1080000" indent="-108000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·"/>
              <a:defRPr sz="12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化粧水・乳液・美容液・クリームまで4ステップで展開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主力ブランドはブランドA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500700" marR="0" lvl="1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‒"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○,○○○円～○,○○○円前後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500700" marR="0" lvl="1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‒"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2026/3にブランドAを全面リニューアル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ボトル・ポンプ・エアレス・ジャーと容器形態が多い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0E9D625D-7BD2-3E57-7667-52E095331E12}"/>
              </a:ext>
            </a:extLst>
          </p:cNvPr>
          <p:cNvGrpSpPr/>
          <p:nvPr/>
        </p:nvGrpSpPr>
        <p:grpSpPr>
          <a:xfrm>
            <a:off x="128464" y="1373966"/>
            <a:ext cx="2376526" cy="302434"/>
            <a:chOff x="609600" y="1373966"/>
            <a:chExt cx="3962400" cy="302434"/>
          </a:xfrm>
        </p:grpSpPr>
        <p:sp>
          <p:nvSpPr>
            <p:cNvPr id="5" name="Line 3">
              <a:extLst>
                <a:ext uri="{FF2B5EF4-FFF2-40B4-BE49-F238E27FC236}">
                  <a16:creationId xmlns:a16="http://schemas.microsoft.com/office/drawing/2014/main" id="{9D9CA35A-33F9-A9FF-4985-0EEB2B1212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9600" y="1676400"/>
              <a:ext cx="396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0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7" name="Text Box 4">
              <a:extLst>
                <a:ext uri="{FF2B5EF4-FFF2-40B4-BE49-F238E27FC236}">
                  <a16:creationId xmlns:a16="http://schemas.microsoft.com/office/drawing/2014/main" id="{1FA28364-7533-BAFB-FBBF-538321723A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99084" y="1373966"/>
              <a:ext cx="2181870" cy="2881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36000" tIns="36000" rIns="36000" bIns="36000" anchor="b">
              <a:spAutoFit/>
            </a:bodyPr>
            <a:lstStyle>
              <a:lvl1pPr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1pPr>
              <a:lvl2pPr marL="742950" indent="-28575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2pPr>
              <a:lvl3pPr marL="11430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3pPr>
              <a:lvl4pPr marL="16002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4pPr>
              <a:lvl5pPr marL="20574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スキンケア（ブランドA）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85205205-BFB4-9863-E636-2D1E50319E24}"/>
              </a:ext>
            </a:extLst>
          </p:cNvPr>
          <p:cNvGrpSpPr/>
          <p:nvPr/>
        </p:nvGrpSpPr>
        <p:grpSpPr>
          <a:xfrm>
            <a:off x="2552474" y="1373966"/>
            <a:ext cx="2376526" cy="302434"/>
            <a:chOff x="609600" y="1373966"/>
            <a:chExt cx="3962400" cy="302434"/>
          </a:xfrm>
        </p:grpSpPr>
        <p:sp>
          <p:nvSpPr>
            <p:cNvPr id="28" name="Line 3">
              <a:extLst>
                <a:ext uri="{FF2B5EF4-FFF2-40B4-BE49-F238E27FC236}">
                  <a16:creationId xmlns:a16="http://schemas.microsoft.com/office/drawing/2014/main" id="{49033E83-4809-B8A4-0BED-B0BBEEC150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9600" y="1676400"/>
              <a:ext cx="396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0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29" name="Text Box 4">
              <a:extLst>
                <a:ext uri="{FF2B5EF4-FFF2-40B4-BE49-F238E27FC236}">
                  <a16:creationId xmlns:a16="http://schemas.microsoft.com/office/drawing/2014/main" id="{15742466-3E1E-F0E4-DDD6-2196CD1BE0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46539" y="1373966"/>
              <a:ext cx="1486968" cy="2881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36000" tIns="36000" rIns="36000" bIns="36000" anchor="b">
              <a:spAutoFit/>
            </a:bodyPr>
            <a:lstStyle>
              <a:lvl1pPr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1pPr>
              <a:lvl2pPr marL="742950" indent="-28575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2pPr>
              <a:lvl3pPr marL="11430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3pPr>
              <a:lvl4pPr marL="16002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4pPr>
              <a:lvl5pPr marL="20574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ヘアケア（ブランドC）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</p:grpSp>
      <p:sp>
        <p:nvSpPr>
          <p:cNvPr id="6" name="テキスト プレースホルダー 3">
            <a:extLst>
              <a:ext uri="{FF2B5EF4-FFF2-40B4-BE49-F238E27FC236}">
                <a16:creationId xmlns:a16="http://schemas.microsoft.com/office/drawing/2014/main" id="{4C623DA4-84BC-8807-E810-5595D8866F80}"/>
              </a:ext>
            </a:extLst>
          </p:cNvPr>
          <p:cNvSpPr txBox="1">
            <a:spLocks/>
          </p:cNvSpPr>
          <p:nvPr/>
        </p:nvSpPr>
        <p:spPr bwMode="auto">
          <a:xfrm>
            <a:off x="2516824" y="1832918"/>
            <a:ext cx="2459660" cy="3247043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91440" tIns="45720" rIns="91440" bIns="45720" rtlCol="0" anchor="t">
            <a:spAutoFit/>
          </a:bodyPr>
          <a:lstStyle>
            <a:lvl1pPr marL="198000" indent="-198000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200" baseline="0"/>
            </a:lvl1pPr>
            <a:lvl2pPr marL="432000" lvl="1" indent="-1476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‒"/>
              <a:defRPr sz="1200"/>
            </a:lvl2pPr>
            <a:lvl3pPr marL="648000" lvl="2" indent="-1368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/>
            </a:lvl3pPr>
            <a:lvl4pPr marL="864000" indent="-1224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-"/>
              <a:defRPr sz="1200"/>
            </a:lvl4pPr>
            <a:lvl5pPr marL="1080000" indent="-108000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·"/>
              <a:defRPr sz="12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シャンプー・トリートメントを中心に展開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ブランドはブランドCなど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500700" marR="0" lvl="1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‒"/>
              <a:tabLst/>
              <a:defRPr/>
            </a:pPr>
            <a:r>
              <a:rPr kumimoji="1" lang="ja-JP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本体○,○○○円、詰替○,○○○円前後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詰替の比率が上昇し、本体ボトルは長く使える設計が論点に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42D075E8-147C-6D58-D2FC-56ECB12B9A2C}"/>
              </a:ext>
            </a:extLst>
          </p:cNvPr>
          <p:cNvGrpSpPr/>
          <p:nvPr/>
        </p:nvGrpSpPr>
        <p:grpSpPr>
          <a:xfrm>
            <a:off x="4976484" y="1373966"/>
            <a:ext cx="2376526" cy="302434"/>
            <a:chOff x="609600" y="1373966"/>
            <a:chExt cx="3962400" cy="302434"/>
          </a:xfrm>
        </p:grpSpPr>
        <p:sp>
          <p:nvSpPr>
            <p:cNvPr id="10" name="Line 3">
              <a:extLst>
                <a:ext uri="{FF2B5EF4-FFF2-40B4-BE49-F238E27FC236}">
                  <a16:creationId xmlns:a16="http://schemas.microsoft.com/office/drawing/2014/main" id="{C6BDF6CD-A73A-8133-A5FF-2E921B277D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9600" y="1676400"/>
              <a:ext cx="396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0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11" name="Text Box 4">
              <a:extLst>
                <a:ext uri="{FF2B5EF4-FFF2-40B4-BE49-F238E27FC236}">
                  <a16:creationId xmlns:a16="http://schemas.microsoft.com/office/drawing/2014/main" id="{BCDD6782-A910-BE03-E9A9-6F07F169F4A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89523" y="1373966"/>
              <a:ext cx="2401031" cy="2881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36000" tIns="36000" rIns="36000" bIns="36000" anchor="b">
              <a:spAutoFit/>
            </a:bodyPr>
            <a:lstStyle>
              <a:lvl1pPr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1pPr>
              <a:lvl2pPr marL="742950" indent="-28575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2pPr>
              <a:lvl3pPr marL="11430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3pPr>
              <a:lvl4pPr marL="16002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4pPr>
              <a:lvl5pPr marL="20574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UV（ブランドD）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</p:grpSp>
      <p:sp>
        <p:nvSpPr>
          <p:cNvPr id="13" name="テキスト プレースホルダー 3">
            <a:extLst>
              <a:ext uri="{FF2B5EF4-FFF2-40B4-BE49-F238E27FC236}">
                <a16:creationId xmlns:a16="http://schemas.microsoft.com/office/drawing/2014/main" id="{85D65A7A-E09F-2395-7E48-24A87DE5EFCF}"/>
              </a:ext>
            </a:extLst>
          </p:cNvPr>
          <p:cNvSpPr txBox="1">
            <a:spLocks/>
          </p:cNvSpPr>
          <p:nvPr/>
        </p:nvSpPr>
        <p:spPr bwMode="auto">
          <a:xfrm>
            <a:off x="4975962" y="1832918"/>
            <a:ext cx="2376526" cy="3139321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91440" tIns="45720" rIns="91440" bIns="45720" rtlCol="0" anchor="t">
            <a:spAutoFit/>
          </a:bodyPr>
          <a:lstStyle>
            <a:lvl1pPr marL="198000" indent="-198000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200" baseline="0"/>
            </a:lvl1pPr>
            <a:lvl2pPr marL="432000" lvl="1" indent="-1476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‒"/>
              <a:defRPr sz="1200"/>
            </a:lvl2pPr>
            <a:lvl3pPr marL="648000" lvl="2" indent="-1368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/>
            </a:lvl3pPr>
            <a:lvl4pPr marL="864000" indent="-1224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-"/>
              <a:defRPr sz="1200"/>
            </a:lvl4pPr>
            <a:lvl5pPr marL="1080000" indent="-108000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·"/>
              <a:defRPr sz="12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ジェル・ミルク・スプレー・スティックを展開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ブランドはブランドDなど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500700" marR="0" lvl="1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‒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○○○円～○,○○○円前後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チューブとエアゾール缶が中心で、樹脂ボトルの接点は限定的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4E0DD877-E2AE-21DB-29A0-C75B116B4117}"/>
              </a:ext>
            </a:extLst>
          </p:cNvPr>
          <p:cNvGrpSpPr/>
          <p:nvPr/>
        </p:nvGrpSpPr>
        <p:grpSpPr>
          <a:xfrm>
            <a:off x="7400495" y="1377497"/>
            <a:ext cx="2376526" cy="302434"/>
            <a:chOff x="609600" y="1373966"/>
            <a:chExt cx="3962400" cy="302434"/>
          </a:xfrm>
        </p:grpSpPr>
        <p:sp>
          <p:nvSpPr>
            <p:cNvPr id="16" name="Line 3">
              <a:extLst>
                <a:ext uri="{FF2B5EF4-FFF2-40B4-BE49-F238E27FC236}">
                  <a16:creationId xmlns:a16="http://schemas.microsoft.com/office/drawing/2014/main" id="{41C46CC6-D604-3BAB-31FC-DEAD342D2C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9600" y="1676400"/>
              <a:ext cx="396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0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17" name="Text Box 4">
              <a:extLst>
                <a:ext uri="{FF2B5EF4-FFF2-40B4-BE49-F238E27FC236}">
                  <a16:creationId xmlns:a16="http://schemas.microsoft.com/office/drawing/2014/main" id="{206E636F-F0F6-E1BF-0AC3-B47EDC3947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30743" y="1373966"/>
              <a:ext cx="1318587" cy="2881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36000" tIns="36000" rIns="36000" bIns="36000" anchor="b">
              <a:spAutoFit/>
            </a:bodyPr>
            <a:lstStyle>
              <a:lvl1pPr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1pPr>
              <a:lvl2pPr marL="742950" indent="-28575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2pPr>
              <a:lvl3pPr marL="11430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3pPr>
              <a:lvl4pPr marL="16002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4pPr>
              <a:lvl5pPr marL="20574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高価格帯（ブランドB）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</p:grpSp>
      <p:sp>
        <p:nvSpPr>
          <p:cNvPr id="53" name="テキスト プレースホルダー 3">
            <a:extLst>
              <a:ext uri="{FF2B5EF4-FFF2-40B4-BE49-F238E27FC236}">
                <a16:creationId xmlns:a16="http://schemas.microsoft.com/office/drawing/2014/main" id="{BC9DDAC7-9355-B80F-77A0-F23A02D5D370}"/>
              </a:ext>
            </a:extLst>
          </p:cNvPr>
          <p:cNvSpPr txBox="1">
            <a:spLocks/>
          </p:cNvSpPr>
          <p:nvPr/>
        </p:nvSpPr>
        <p:spPr bwMode="auto">
          <a:xfrm>
            <a:off x="7400037" y="1832917"/>
            <a:ext cx="2376526" cy="1246495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91440" tIns="45720" rIns="91440" bIns="45720" rtlCol="0" anchor="t">
            <a:spAutoFit/>
          </a:bodyPr>
          <a:lstStyle>
            <a:lvl1pPr marL="198000" indent="-198000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200" baseline="0"/>
            </a:lvl1pPr>
            <a:lvl2pPr marL="432000" lvl="1" indent="-1476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‒"/>
              <a:defRPr sz="1200"/>
            </a:lvl2pPr>
            <a:lvl3pPr marL="648000" lvl="2" indent="-1368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/>
            </a:lvl3pPr>
            <a:lvl4pPr marL="864000" indent="-1224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-"/>
              <a:defRPr sz="1200"/>
            </a:lvl4pPr>
            <a:lvl5pPr marL="1080000" indent="-108000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·"/>
              <a:defRPr sz="12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百貨店・EC向けの高価格帯スキンケア</a:t>
            </a:r>
          </a:p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ガラス容器が中心で、樹脂容器との接点は小さい</a:t>
            </a:r>
          </a:p>
        </p:txBody>
      </p:sp>
      <p:pic>
        <p:nvPicPr>
          <p:cNvPr id="7173" name="Picture 7172" descr="minamo-lotion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27674" y="4910327"/>
            <a:ext cx="469139" cy="1691640"/>
          </a:xfrm>
          <a:prstGeom prst="rect">
            <a:avLst/>
          </a:prstGeom>
        </p:spPr>
      </p:pic>
      <p:pic>
        <p:nvPicPr>
          <p:cNvPr id="7174" name="Picture 7173" descr="minamo-mil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1677" y="5191126"/>
            <a:ext cx="469139" cy="1410841"/>
          </a:xfrm>
          <a:prstGeom prst="rect">
            <a:avLst/>
          </a:prstGeom>
        </p:spPr>
      </p:pic>
      <p:pic>
        <p:nvPicPr>
          <p:cNvPr id="7175" name="Picture 7174" descr="minamo-serum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75680" y="5218521"/>
            <a:ext cx="321891" cy="1383446"/>
          </a:xfrm>
          <a:prstGeom prst="rect">
            <a:avLst/>
          </a:prstGeom>
        </p:spPr>
      </p:pic>
      <p:pic>
        <p:nvPicPr>
          <p:cNvPr id="7176" name="Picture 7175" descr="minamo-cream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652435" y="5899971"/>
            <a:ext cx="753361" cy="701996"/>
          </a:xfrm>
          <a:prstGeom prst="rect">
            <a:avLst/>
          </a:prstGeom>
        </p:spPr>
      </p:pic>
      <p:pic>
        <p:nvPicPr>
          <p:cNvPr id="7177" name="Picture 7176" descr="refre-shampoo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838368" y="4910327"/>
            <a:ext cx="529586" cy="1691640"/>
          </a:xfrm>
          <a:prstGeom prst="rect">
            <a:avLst/>
          </a:prstGeom>
        </p:spPr>
      </p:pic>
      <p:pic>
        <p:nvPicPr>
          <p:cNvPr id="7178" name="Picture 7177" descr="refre-treatment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422818" y="4910327"/>
            <a:ext cx="529586" cy="1691640"/>
          </a:xfrm>
          <a:prstGeom prst="rect">
            <a:avLst/>
          </a:prstGeom>
        </p:spPr>
      </p:pic>
      <p:pic>
        <p:nvPicPr>
          <p:cNvPr id="7179" name="Picture 7178" descr="refre-refill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07269" y="5126210"/>
            <a:ext cx="634154" cy="1475757"/>
          </a:xfrm>
          <a:prstGeom prst="rect">
            <a:avLst/>
          </a:prstGeom>
        </p:spPr>
      </p:pic>
      <p:pic>
        <p:nvPicPr>
          <p:cNvPr id="7180" name="Picture 7179" descr="harenohi-tub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502402" y="4910328"/>
            <a:ext cx="449580" cy="1691639"/>
          </a:xfrm>
          <a:prstGeom prst="rect">
            <a:avLst/>
          </a:prstGeom>
        </p:spPr>
      </p:pic>
      <p:pic>
        <p:nvPicPr>
          <p:cNvPr id="7181" name="Picture 7180" descr="harenohi-spray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006846" y="5093208"/>
            <a:ext cx="419100" cy="1508760"/>
          </a:xfrm>
          <a:prstGeom prst="rect">
            <a:avLst/>
          </a:prstGeom>
        </p:spPr>
      </p:pic>
      <p:pic>
        <p:nvPicPr>
          <p:cNvPr id="7182" name="Picture 7181" descr="harenohi-stick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80810" y="5443728"/>
            <a:ext cx="342900" cy="1158240"/>
          </a:xfrm>
          <a:prstGeom prst="rect">
            <a:avLst/>
          </a:prstGeom>
        </p:spPr>
      </p:pic>
      <p:pic>
        <p:nvPicPr>
          <p:cNvPr id="7183" name="Picture 7182" descr="classica-lotion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889250" y="4910327"/>
            <a:ext cx="541324" cy="1691640"/>
          </a:xfrm>
          <a:prstGeom prst="rect">
            <a:avLst/>
          </a:prstGeom>
        </p:spPr>
      </p:pic>
      <p:pic>
        <p:nvPicPr>
          <p:cNvPr id="7184" name="Picture 7183" descr="classica-cream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485439" y="5843401"/>
            <a:ext cx="797741" cy="758566"/>
          </a:xfrm>
          <a:prstGeom prst="rect">
            <a:avLst/>
          </a:prstGeom>
        </p:spPr>
      </p:pic>
      <p:sp>
        <p:nvSpPr>
          <p:cNvPr id="7185" name="Rectangle 7184"/>
          <p:cNvSpPr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86" name="TextBox 7185"/>
          <p:cNvSpPr txBox="1"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000000"/>
                </a:solidFill>
              </a:rPr>
              <a:t>架空企業のサンプル</a:t>
            </a:r>
          </a:p>
        </p:txBody>
      </p:sp>
    </p:spTree>
    <p:extLst>
      <p:ext uri="{BB962C8B-B14F-4D97-AF65-F5344CB8AC3E}">
        <p14:creationId xmlns:p14="http://schemas.microsoft.com/office/powerpoint/2010/main" val="4271281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2A013-D3A1-9539-4BBC-45C1F69E3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2" name="Rectangle 9">
            <a:extLst>
              <a:ext uri="{FF2B5EF4-FFF2-40B4-BE49-F238E27FC236}">
                <a16:creationId xmlns:a16="http://schemas.microsoft.com/office/drawing/2014/main" id="{8A6465C8-1642-FDD3-9C8B-B8C535BB39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15727" y="228600"/>
            <a:ext cx="8674546" cy="762000"/>
          </a:xfrm>
          <a:noFill/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rIns="36000"/>
          <a:lstStyle/>
          <a:p>
            <a:pPr eaLnBrk="1" hangingPunct="1"/>
            <a:r>
              <a:rPr lang="ja-JP" altLang="en-US"/>
              <a:t>サンプル化粧品株式会社（5）　「ブランドA」</a:t>
            </a:r>
            <a:br>
              <a:rPr lang="ja-JP" altLang="en-US"/>
            </a:br>
            <a:br>
              <a:rPr lang="ja-JP" altLang="en-US" sz="1800"/>
            </a:br>
            <a:r>
              <a:rPr lang="ja-JP" altLang="en-US" sz="1800"/>
              <a:t>主力ブランド。リニューアルを機に、エアレス化と意匠の統一で提案余地がある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F538B60-0910-EA71-61C5-152321495054}"/>
              </a:ext>
            </a:extLst>
          </p:cNvPr>
          <p:cNvSpPr txBox="1">
            <a:spLocks/>
          </p:cNvSpPr>
          <p:nvPr/>
        </p:nvSpPr>
        <p:spPr bwMode="auto">
          <a:xfrm>
            <a:off x="1425382" y="1832919"/>
            <a:ext cx="3744416" cy="299938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91440" tIns="45720" rIns="91440" bIns="45720" rtlCol="0" anchor="ctr">
            <a:noAutofit/>
          </a:bodyPr>
          <a:lstStyle>
            <a:lvl1pPr marL="198000" indent="-198000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200" baseline="0"/>
            </a:lvl1pPr>
            <a:lvl2pPr marL="432000" lvl="1" indent="-1476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‒"/>
              <a:defRPr sz="1200"/>
            </a:lvl2pPr>
            <a:lvl3pPr marL="648000" lvl="2" indent="-1368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/>
            </a:lvl3pPr>
            <a:lvl4pPr marL="864000" indent="-1224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-"/>
              <a:defRPr sz="1200"/>
            </a:lvl4pPr>
            <a:lvl5pPr marL="1080000" indent="-108000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·"/>
              <a:defRPr sz="12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112億円（2026/3予）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BE339420-3C79-E4CA-C9C2-3D92765AD393}"/>
              </a:ext>
            </a:extLst>
          </p:cNvPr>
          <p:cNvGrpSpPr/>
          <p:nvPr/>
        </p:nvGrpSpPr>
        <p:grpSpPr>
          <a:xfrm>
            <a:off x="136517" y="1373966"/>
            <a:ext cx="5032507" cy="302434"/>
            <a:chOff x="609600" y="1373966"/>
            <a:chExt cx="3962400" cy="302434"/>
          </a:xfrm>
        </p:grpSpPr>
        <p:sp>
          <p:nvSpPr>
            <p:cNvPr id="5" name="Line 3">
              <a:extLst>
                <a:ext uri="{FF2B5EF4-FFF2-40B4-BE49-F238E27FC236}">
                  <a16:creationId xmlns:a16="http://schemas.microsoft.com/office/drawing/2014/main" id="{49B79B6C-3EBD-128D-CBD8-048B23C486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9600" y="1676400"/>
              <a:ext cx="396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0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</p:txBody>
        </p:sp>
        <p:sp>
          <p:nvSpPr>
            <p:cNvPr id="7" name="Text Box 4">
              <a:extLst>
                <a:ext uri="{FF2B5EF4-FFF2-40B4-BE49-F238E27FC236}">
                  <a16:creationId xmlns:a16="http://schemas.microsoft.com/office/drawing/2014/main" id="{A41501AC-2EDA-C761-8795-D0596C79A5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01940" y="1373966"/>
              <a:ext cx="1376183" cy="2881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36000" tIns="36000" rIns="36000" bIns="36000" anchor="b">
              <a:spAutoFit/>
            </a:bodyPr>
            <a:lstStyle>
              <a:lvl1pPr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1pPr>
              <a:lvl2pPr marL="742950" indent="-28575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2pPr>
              <a:lvl3pPr marL="11430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3pPr>
              <a:lvl4pPr marL="16002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4pPr>
              <a:lvl5pPr marL="20574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>ブランド概要</a:t>
              </a: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>/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>戦略など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B864C40-90C1-25CA-FAF0-52C65584B3F1}"/>
              </a:ext>
            </a:extLst>
          </p:cNvPr>
          <p:cNvGrpSpPr/>
          <p:nvPr/>
        </p:nvGrpSpPr>
        <p:grpSpPr>
          <a:xfrm>
            <a:off x="5385047" y="1373966"/>
            <a:ext cx="4384435" cy="302434"/>
            <a:chOff x="609600" y="1373966"/>
            <a:chExt cx="3962400" cy="302434"/>
          </a:xfrm>
        </p:grpSpPr>
        <p:sp>
          <p:nvSpPr>
            <p:cNvPr id="28" name="Line 3">
              <a:extLst>
                <a:ext uri="{FF2B5EF4-FFF2-40B4-BE49-F238E27FC236}">
                  <a16:creationId xmlns:a16="http://schemas.microsoft.com/office/drawing/2014/main" id="{1E997C3B-E3C1-5728-EF0C-3733F71844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9600" y="1676400"/>
              <a:ext cx="396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0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</p:txBody>
        </p:sp>
        <p:sp>
          <p:nvSpPr>
            <p:cNvPr id="29" name="Text Box 4">
              <a:extLst>
                <a:ext uri="{FF2B5EF4-FFF2-40B4-BE49-F238E27FC236}">
                  <a16:creationId xmlns:a16="http://schemas.microsoft.com/office/drawing/2014/main" id="{0E6BCAFB-5BE9-F78A-F2DE-27A0DE0B6C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64785" y="1373966"/>
              <a:ext cx="1850506" cy="2881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36000" tIns="36000" rIns="36000" bIns="36000" anchor="b">
              <a:spAutoFit/>
            </a:bodyPr>
            <a:lstStyle>
              <a:lvl1pPr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1pPr>
              <a:lvl2pPr marL="742950" indent="-28575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2pPr>
              <a:lvl3pPr marL="11430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3pPr>
              <a:lvl4pPr marL="16002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4pPr>
              <a:lvl5pPr marL="20574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>商品画像</a:t>
              </a: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>/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ＭＳ Ｐゴシック" pitchFamily="50" charset="-128"/>
                  <a:cs typeface="+mn-cs"/>
                </a:rPr>
                <a:t>提案・連携余地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endParaRPr>
            </a:p>
          </p:txBody>
        </p:sp>
      </p:grpSp>
      <p:sp>
        <p:nvSpPr>
          <p:cNvPr id="15" name="TopicBox">
            <a:extLst>
              <a:ext uri="{FF2B5EF4-FFF2-40B4-BE49-F238E27FC236}">
                <a16:creationId xmlns:a16="http://schemas.microsoft.com/office/drawing/2014/main" id="{00E8F151-AAB4-6C1A-5434-9CE14C3DCA70}"/>
              </a:ext>
            </a:extLst>
          </p:cNvPr>
          <p:cNvSpPr/>
          <p:nvPr/>
        </p:nvSpPr>
        <p:spPr bwMode="auto">
          <a:xfrm>
            <a:off x="136519" y="1832919"/>
            <a:ext cx="360039" cy="1769662"/>
          </a:xfrm>
          <a:prstGeom prst="rect">
            <a:avLst/>
          </a:prstGeom>
          <a:solidFill>
            <a:srgbClr val="EAEAEA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eaVert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itchFamily="50" charset="-128"/>
                <a:cs typeface="+mn-cs"/>
              </a:rPr>
              <a:t>概要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itchFamily="50" charset="-128"/>
              <a:cs typeface="+mn-cs"/>
            </a:endParaRPr>
          </a:p>
        </p:txBody>
      </p:sp>
      <p:sp>
        <p:nvSpPr>
          <p:cNvPr id="25" name="TopicBox">
            <a:extLst>
              <a:ext uri="{FF2B5EF4-FFF2-40B4-BE49-F238E27FC236}">
                <a16:creationId xmlns:a16="http://schemas.microsoft.com/office/drawing/2014/main" id="{F13573A8-A3A5-CBB4-BCF6-3685D6FE54D2}"/>
              </a:ext>
            </a:extLst>
          </p:cNvPr>
          <p:cNvSpPr/>
          <p:nvPr/>
        </p:nvSpPr>
        <p:spPr bwMode="auto">
          <a:xfrm>
            <a:off x="548508" y="2200349"/>
            <a:ext cx="792088" cy="299939"/>
          </a:xfrm>
          <a:prstGeom prst="rect">
            <a:avLst/>
          </a:prstGeom>
          <a:solidFill>
            <a:srgbClr val="EAEAEA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商品数</a:t>
            </a:r>
          </a:p>
        </p:txBody>
      </p:sp>
      <p:sp>
        <p:nvSpPr>
          <p:cNvPr id="32" name="TopicBox">
            <a:extLst>
              <a:ext uri="{FF2B5EF4-FFF2-40B4-BE49-F238E27FC236}">
                <a16:creationId xmlns:a16="http://schemas.microsoft.com/office/drawing/2014/main" id="{A2647D8E-550E-4BFD-2E77-DAC806933059}"/>
              </a:ext>
            </a:extLst>
          </p:cNvPr>
          <p:cNvSpPr/>
          <p:nvPr/>
        </p:nvSpPr>
        <p:spPr bwMode="auto">
          <a:xfrm>
            <a:off x="548508" y="1832918"/>
            <a:ext cx="792088" cy="299939"/>
          </a:xfrm>
          <a:prstGeom prst="rect">
            <a:avLst/>
          </a:prstGeom>
          <a:solidFill>
            <a:srgbClr val="EAEAEA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売上</a:t>
            </a:r>
          </a:p>
        </p:txBody>
      </p:sp>
      <p:sp>
        <p:nvSpPr>
          <p:cNvPr id="36" name="TopicBox">
            <a:extLst>
              <a:ext uri="{FF2B5EF4-FFF2-40B4-BE49-F238E27FC236}">
                <a16:creationId xmlns:a16="http://schemas.microsoft.com/office/drawing/2014/main" id="{15D60C62-D52A-BADF-0D68-44851A77879E}"/>
              </a:ext>
            </a:extLst>
          </p:cNvPr>
          <p:cNvSpPr/>
          <p:nvPr/>
        </p:nvSpPr>
        <p:spPr bwMode="auto">
          <a:xfrm>
            <a:off x="548508" y="3302642"/>
            <a:ext cx="792088" cy="299939"/>
          </a:xfrm>
          <a:prstGeom prst="rect">
            <a:avLst/>
          </a:prstGeom>
          <a:solidFill>
            <a:srgbClr val="EAEAEA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価格帯</a:t>
            </a:r>
          </a:p>
        </p:txBody>
      </p:sp>
      <p:sp>
        <p:nvSpPr>
          <p:cNvPr id="39" name="TopicBox">
            <a:extLst>
              <a:ext uri="{FF2B5EF4-FFF2-40B4-BE49-F238E27FC236}">
                <a16:creationId xmlns:a16="http://schemas.microsoft.com/office/drawing/2014/main" id="{839D3A4E-CDF9-E058-F9D2-7175C664EB2F}"/>
              </a:ext>
            </a:extLst>
          </p:cNvPr>
          <p:cNvSpPr/>
          <p:nvPr/>
        </p:nvSpPr>
        <p:spPr bwMode="auto">
          <a:xfrm>
            <a:off x="548508" y="2935211"/>
            <a:ext cx="792088" cy="299939"/>
          </a:xfrm>
          <a:prstGeom prst="rect">
            <a:avLst/>
          </a:prstGeom>
          <a:solidFill>
            <a:srgbClr val="EAEAEA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チャネル</a:t>
            </a:r>
          </a:p>
        </p:txBody>
      </p:sp>
      <p:sp>
        <p:nvSpPr>
          <p:cNvPr id="41" name="TopicBox">
            <a:extLst>
              <a:ext uri="{FF2B5EF4-FFF2-40B4-BE49-F238E27FC236}">
                <a16:creationId xmlns:a16="http://schemas.microsoft.com/office/drawing/2014/main" id="{0A5359BB-8C11-7AD2-2309-3117E6FB801E}"/>
              </a:ext>
            </a:extLst>
          </p:cNvPr>
          <p:cNvSpPr/>
          <p:nvPr/>
        </p:nvSpPr>
        <p:spPr bwMode="auto">
          <a:xfrm>
            <a:off x="548508" y="2567780"/>
            <a:ext cx="792088" cy="299939"/>
          </a:xfrm>
          <a:prstGeom prst="rect">
            <a:avLst/>
          </a:prstGeom>
          <a:solidFill>
            <a:srgbClr val="EAEAEA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顧客</a:t>
            </a:r>
          </a:p>
        </p:txBody>
      </p:sp>
      <p:sp>
        <p:nvSpPr>
          <p:cNvPr id="43" name="TopicBox">
            <a:extLst>
              <a:ext uri="{FF2B5EF4-FFF2-40B4-BE49-F238E27FC236}">
                <a16:creationId xmlns:a16="http://schemas.microsoft.com/office/drawing/2014/main" id="{E120B14E-D1F0-561C-3B05-5DE50FC9DC71}"/>
              </a:ext>
            </a:extLst>
          </p:cNvPr>
          <p:cNvSpPr/>
          <p:nvPr/>
        </p:nvSpPr>
        <p:spPr bwMode="auto">
          <a:xfrm>
            <a:off x="136517" y="3670073"/>
            <a:ext cx="1204077" cy="911055"/>
          </a:xfrm>
          <a:prstGeom prst="rect">
            <a:avLst/>
          </a:prstGeom>
          <a:solidFill>
            <a:srgbClr val="EAEAEA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ブランド戦略</a:t>
            </a:r>
          </a:p>
        </p:txBody>
      </p:sp>
      <p:sp>
        <p:nvSpPr>
          <p:cNvPr id="45" name="TopicBox">
            <a:extLst>
              <a:ext uri="{FF2B5EF4-FFF2-40B4-BE49-F238E27FC236}">
                <a16:creationId xmlns:a16="http://schemas.microsoft.com/office/drawing/2014/main" id="{4E1A1773-393F-6674-EF46-DC9A23B9D0E8}"/>
              </a:ext>
            </a:extLst>
          </p:cNvPr>
          <p:cNvSpPr/>
          <p:nvPr/>
        </p:nvSpPr>
        <p:spPr bwMode="auto">
          <a:xfrm>
            <a:off x="136519" y="4648621"/>
            <a:ext cx="1204077" cy="911054"/>
          </a:xfrm>
          <a:prstGeom prst="rect">
            <a:avLst/>
          </a:prstGeom>
          <a:solidFill>
            <a:srgbClr val="EAEAEA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容器戦略</a:t>
            </a:r>
          </a:p>
        </p:txBody>
      </p:sp>
      <p:sp>
        <p:nvSpPr>
          <p:cNvPr id="47" name="TopicBox">
            <a:extLst>
              <a:ext uri="{FF2B5EF4-FFF2-40B4-BE49-F238E27FC236}">
                <a16:creationId xmlns:a16="http://schemas.microsoft.com/office/drawing/2014/main" id="{CCF00CF5-96C1-81C8-DF3C-509DBD51E5B6}"/>
              </a:ext>
            </a:extLst>
          </p:cNvPr>
          <p:cNvSpPr/>
          <p:nvPr/>
        </p:nvSpPr>
        <p:spPr bwMode="auto">
          <a:xfrm>
            <a:off x="136516" y="5627169"/>
            <a:ext cx="1204077" cy="1058754"/>
          </a:xfrm>
          <a:prstGeom prst="rect">
            <a:avLst/>
          </a:prstGeom>
          <a:solidFill>
            <a:srgbClr val="EAEAEA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容器に対する声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</p:txBody>
      </p:sp>
      <p:sp>
        <p:nvSpPr>
          <p:cNvPr id="51" name="テキスト プレースホルダー 3">
            <a:extLst>
              <a:ext uri="{FF2B5EF4-FFF2-40B4-BE49-F238E27FC236}">
                <a16:creationId xmlns:a16="http://schemas.microsoft.com/office/drawing/2014/main" id="{9E844045-144E-13F9-E911-6E4A6C174FE8}"/>
              </a:ext>
            </a:extLst>
          </p:cNvPr>
          <p:cNvSpPr txBox="1">
            <a:spLocks/>
          </p:cNvSpPr>
          <p:nvPr/>
        </p:nvSpPr>
        <p:spPr bwMode="auto">
          <a:xfrm>
            <a:off x="1425382" y="2204170"/>
            <a:ext cx="3744416" cy="299938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91440" tIns="45720" rIns="91440" bIns="45720" rtlCol="0" anchor="ctr">
            <a:noAutofit/>
          </a:bodyPr>
          <a:lstStyle>
            <a:lvl1pPr marL="198000" indent="-198000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200" baseline="0"/>
            </a:lvl1pPr>
            <a:lvl2pPr marL="432000" lvl="1" indent="-1476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‒"/>
              <a:defRPr sz="1200"/>
            </a:lvl2pPr>
            <a:lvl3pPr marL="648000" lvl="2" indent="-1368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/>
            </a:lvl3pPr>
            <a:lvl4pPr marL="864000" indent="-1224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-"/>
              <a:defRPr sz="1200"/>
            </a:lvl4pPr>
            <a:lvl5pPr marL="1080000" indent="-108000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·"/>
              <a:defRPr sz="12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14商品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</p:txBody>
      </p:sp>
      <p:sp>
        <p:nvSpPr>
          <p:cNvPr id="55" name="テキスト プレースホルダー 3">
            <a:extLst>
              <a:ext uri="{FF2B5EF4-FFF2-40B4-BE49-F238E27FC236}">
                <a16:creationId xmlns:a16="http://schemas.microsoft.com/office/drawing/2014/main" id="{CE2E2B30-218A-EF8C-C895-AFFA0DFA2432}"/>
              </a:ext>
            </a:extLst>
          </p:cNvPr>
          <p:cNvSpPr txBox="1">
            <a:spLocks/>
          </p:cNvSpPr>
          <p:nvPr/>
        </p:nvSpPr>
        <p:spPr bwMode="auto">
          <a:xfrm>
            <a:off x="1425382" y="2575421"/>
            <a:ext cx="3744416" cy="299938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91440" tIns="45720" rIns="91440" bIns="45720" rtlCol="0" anchor="ctr">
            <a:noAutofit/>
          </a:bodyPr>
          <a:lstStyle>
            <a:lvl1pPr marL="198000" indent="-198000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200" baseline="0"/>
            </a:lvl1pPr>
            <a:lvl2pPr marL="432000" lvl="1" indent="-1476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‒"/>
              <a:defRPr sz="1200"/>
            </a:lvl2pPr>
            <a:lvl3pPr marL="648000" lvl="2" indent="-1368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/>
            </a:lvl3pPr>
            <a:lvl4pPr marL="864000" indent="-1224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-"/>
              <a:defRPr sz="1200"/>
            </a:lvl4pPr>
            <a:lvl5pPr marL="1080000" indent="-108000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·"/>
              <a:defRPr sz="12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敏感肌に悩む20〜40代（サンプル）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</p:txBody>
      </p:sp>
      <p:sp>
        <p:nvSpPr>
          <p:cNvPr id="58" name="テキスト プレースホルダー 3">
            <a:extLst>
              <a:ext uri="{FF2B5EF4-FFF2-40B4-BE49-F238E27FC236}">
                <a16:creationId xmlns:a16="http://schemas.microsoft.com/office/drawing/2014/main" id="{9E2338A0-9C23-911F-0AD7-73AAC4F0802A}"/>
              </a:ext>
            </a:extLst>
          </p:cNvPr>
          <p:cNvSpPr txBox="1">
            <a:spLocks/>
          </p:cNvSpPr>
          <p:nvPr/>
        </p:nvSpPr>
        <p:spPr bwMode="auto">
          <a:xfrm>
            <a:off x="1425382" y="2946672"/>
            <a:ext cx="3744416" cy="299938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91440" tIns="45720" rIns="91440" bIns="45720" rtlCol="0" anchor="ctr">
            <a:noAutofit/>
          </a:bodyPr>
          <a:lstStyle>
            <a:lvl1pPr marL="198000" indent="-198000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200" baseline="0"/>
            </a:lvl1pPr>
            <a:lvl2pPr marL="432000" lvl="1" indent="-1476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‒"/>
              <a:defRPr sz="1200"/>
            </a:lvl2pPr>
            <a:lvl3pPr marL="648000" lvl="2" indent="-1368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/>
            </a:lvl3pPr>
            <a:lvl4pPr marL="864000" indent="-1224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-"/>
              <a:defRPr sz="1200"/>
            </a:lvl4pPr>
            <a:lvl5pPr marL="1080000" indent="-108000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·"/>
              <a:defRPr sz="12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ドラッグストア、公式EC</a:t>
            </a:r>
          </a:p>
        </p:txBody>
      </p:sp>
      <p:sp>
        <p:nvSpPr>
          <p:cNvPr id="61" name="テキスト プレースホルダー 3">
            <a:extLst>
              <a:ext uri="{FF2B5EF4-FFF2-40B4-BE49-F238E27FC236}">
                <a16:creationId xmlns:a16="http://schemas.microsoft.com/office/drawing/2014/main" id="{1448445A-4C06-48BC-83B3-11737948C7DD}"/>
              </a:ext>
            </a:extLst>
          </p:cNvPr>
          <p:cNvSpPr txBox="1">
            <a:spLocks/>
          </p:cNvSpPr>
          <p:nvPr/>
        </p:nvSpPr>
        <p:spPr bwMode="auto">
          <a:xfrm>
            <a:off x="1425382" y="3317923"/>
            <a:ext cx="3744416" cy="299938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91440" tIns="45720" rIns="91440" bIns="45720" rtlCol="0" anchor="ctr">
            <a:noAutofit/>
          </a:bodyPr>
          <a:lstStyle>
            <a:lvl1pPr marL="198000" indent="-198000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200" baseline="0"/>
            </a:lvl1pPr>
            <a:lvl2pPr marL="432000" lvl="1" indent="-1476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‒"/>
              <a:defRPr sz="1200"/>
            </a:lvl2pPr>
            <a:lvl3pPr marL="648000" lvl="2" indent="-1368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/>
            </a:lvl3pPr>
            <a:lvl4pPr marL="864000" indent="-1224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-"/>
              <a:defRPr sz="1200"/>
            </a:lvl4pPr>
            <a:lvl5pPr marL="1080000" indent="-108000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·"/>
              <a:defRPr sz="12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1,320〜3,300円程度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</p:txBody>
      </p:sp>
      <p:sp>
        <p:nvSpPr>
          <p:cNvPr id="7168" name="テキスト プレースホルダー 3">
            <a:extLst>
              <a:ext uri="{FF2B5EF4-FFF2-40B4-BE49-F238E27FC236}">
                <a16:creationId xmlns:a16="http://schemas.microsoft.com/office/drawing/2014/main" id="{22B46780-C42E-178C-7A2E-E842C94C6B07}"/>
              </a:ext>
            </a:extLst>
          </p:cNvPr>
          <p:cNvSpPr txBox="1">
            <a:spLocks/>
          </p:cNvSpPr>
          <p:nvPr/>
        </p:nvSpPr>
        <p:spPr bwMode="auto">
          <a:xfrm>
            <a:off x="1424608" y="3670074"/>
            <a:ext cx="3744416" cy="911054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91440" tIns="45720" rIns="91440" bIns="45720" rtlCol="0" anchor="t">
            <a:noAutofit/>
          </a:bodyPr>
          <a:lstStyle>
            <a:lvl1pPr marL="198000" indent="-198000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200" baseline="0"/>
            </a:lvl1pPr>
            <a:lvl2pPr marL="432000" lvl="1" indent="-1476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‒"/>
              <a:defRPr sz="1200"/>
            </a:lvl2pPr>
            <a:lvl3pPr marL="648000" lvl="2" indent="-1368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/>
            </a:lvl3pPr>
            <a:lvl4pPr marL="864000" indent="-1224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-"/>
              <a:defRPr sz="1200"/>
            </a:lvl4pPr>
            <a:lvl5pPr marL="1080000" indent="-108000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·"/>
              <a:defRPr sz="12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敏感肌向けの低刺激スキンケア（サンプル文章）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2026/3に処方・容器を全面リニューアル予定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ドラッグストアの定番からECへ展開を拡大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</p:txBody>
      </p:sp>
      <p:sp>
        <p:nvSpPr>
          <p:cNvPr id="7170" name="テキスト プレースホルダー 3">
            <a:extLst>
              <a:ext uri="{FF2B5EF4-FFF2-40B4-BE49-F238E27FC236}">
                <a16:creationId xmlns:a16="http://schemas.microsoft.com/office/drawing/2014/main" id="{B21832EA-001E-71EC-29A9-DE6BD49A963E}"/>
              </a:ext>
            </a:extLst>
          </p:cNvPr>
          <p:cNvSpPr txBox="1">
            <a:spLocks/>
          </p:cNvSpPr>
          <p:nvPr/>
        </p:nvSpPr>
        <p:spPr bwMode="auto">
          <a:xfrm>
            <a:off x="1424608" y="4648621"/>
            <a:ext cx="3744416" cy="911054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91440" tIns="45720" rIns="91440" bIns="45720" rtlCol="0" anchor="t">
            <a:noAutofit/>
          </a:bodyPr>
          <a:lstStyle>
            <a:lvl1pPr marL="198000" indent="-198000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200" baseline="0"/>
            </a:lvl1pPr>
            <a:lvl2pPr marL="432000" lvl="1" indent="-1476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‒"/>
              <a:defRPr sz="1200"/>
            </a:lvl2pPr>
            <a:lvl3pPr marL="648000" lvl="2" indent="-1368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/>
            </a:lvl3pPr>
            <a:lvl4pPr marL="864000" indent="-1224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-"/>
              <a:defRPr sz="1200"/>
            </a:lvl4pPr>
            <a:lvl5pPr marL="1080000" indent="-108000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·"/>
              <a:defRPr sz="12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化粧水はPETボトル、美容液はエアレスを検討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ライン全体で意匠をそろえる方針（推定）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→機能性と統一感を重視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</p:txBody>
      </p:sp>
      <p:sp>
        <p:nvSpPr>
          <p:cNvPr id="7173" name="テキスト プレースホルダー 3">
            <a:extLst>
              <a:ext uri="{FF2B5EF4-FFF2-40B4-BE49-F238E27FC236}">
                <a16:creationId xmlns:a16="http://schemas.microsoft.com/office/drawing/2014/main" id="{80B8F415-36DF-2A26-2AC7-0262B1ACEFAF}"/>
              </a:ext>
            </a:extLst>
          </p:cNvPr>
          <p:cNvSpPr txBox="1">
            <a:spLocks/>
          </p:cNvSpPr>
          <p:nvPr/>
        </p:nvSpPr>
        <p:spPr bwMode="auto">
          <a:xfrm>
            <a:off x="1424608" y="5627169"/>
            <a:ext cx="3744416" cy="1058753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91440" tIns="45720" rIns="91440" bIns="45720" rtlCol="0" anchor="t">
            <a:noAutofit/>
          </a:bodyPr>
          <a:lstStyle>
            <a:lvl1pPr marL="198000" indent="-198000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200" baseline="0"/>
            </a:lvl1pPr>
            <a:lvl2pPr marL="432000" lvl="1" indent="-1476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‒"/>
              <a:defRPr sz="1200"/>
            </a:lvl2pPr>
            <a:lvl3pPr marL="648000" lvl="2" indent="-1368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/>
            </a:lvl3pPr>
            <a:lvl4pPr marL="864000" indent="-1224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-"/>
              <a:defRPr sz="1200"/>
            </a:lvl4pPr>
            <a:lvl5pPr marL="1080000" indent="-108000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·"/>
              <a:defRPr sz="12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最後まで使い切りたい（サンプル）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詰替があると助かる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rPr>
              <a:t>→使い切り性と詰替対応が改善テーマ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ＭＳ Ｐゴシック"/>
              <a:ea typeface="ＭＳ Ｐゴシック"/>
              <a:cs typeface="+mn-cs"/>
            </a:endParaRPr>
          </a:p>
        </p:txBody>
      </p:sp>
      <p:sp>
        <p:nvSpPr>
          <p:cNvPr id="7179" name="TopicBox">
            <a:extLst>
              <a:ext uri="{FF2B5EF4-FFF2-40B4-BE49-F238E27FC236}">
                <a16:creationId xmlns:a16="http://schemas.microsoft.com/office/drawing/2014/main" id="{2030ED1C-1EB9-0379-35A9-98853AC7D57D}"/>
              </a:ext>
            </a:extLst>
          </p:cNvPr>
          <p:cNvSpPr/>
          <p:nvPr/>
        </p:nvSpPr>
        <p:spPr bwMode="auto">
          <a:xfrm>
            <a:off x="5385047" y="1832918"/>
            <a:ext cx="713575" cy="2172146"/>
          </a:xfrm>
          <a:prstGeom prst="rect">
            <a:avLst/>
          </a:prstGeom>
          <a:solidFill>
            <a:srgbClr val="EAEAEA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商品画像</a:t>
            </a:r>
          </a:p>
        </p:txBody>
      </p:sp>
      <p:sp>
        <p:nvSpPr>
          <p:cNvPr id="7181" name="TopicBox">
            <a:extLst>
              <a:ext uri="{FF2B5EF4-FFF2-40B4-BE49-F238E27FC236}">
                <a16:creationId xmlns:a16="http://schemas.microsoft.com/office/drawing/2014/main" id="{D243C046-4424-24BA-D975-92B4A0584611}"/>
              </a:ext>
            </a:extLst>
          </p:cNvPr>
          <p:cNvSpPr/>
          <p:nvPr/>
        </p:nvSpPr>
        <p:spPr bwMode="auto">
          <a:xfrm>
            <a:off x="5385047" y="4091924"/>
            <a:ext cx="713575" cy="2593997"/>
          </a:xfrm>
          <a:prstGeom prst="rect">
            <a:avLst/>
          </a:prstGeom>
          <a:solidFill>
            <a:srgbClr val="EAEAEA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提案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連携</a:t>
            </a:r>
          </a:p>
        </p:txBody>
      </p:sp>
      <p:sp>
        <p:nvSpPr>
          <p:cNvPr id="7188" name="吹き出し: 四角形 7187">
            <a:extLst>
              <a:ext uri="{FF2B5EF4-FFF2-40B4-BE49-F238E27FC236}">
                <a16:creationId xmlns:a16="http://schemas.microsoft.com/office/drawing/2014/main" id="{CC629F13-8429-6C69-CEA6-794B29A0E532}"/>
              </a:ext>
            </a:extLst>
          </p:cNvPr>
          <p:cNvSpPr/>
          <p:nvPr/>
        </p:nvSpPr>
        <p:spPr bwMode="auto">
          <a:xfrm>
            <a:off x="6496869" y="3429000"/>
            <a:ext cx="2847956" cy="432048"/>
          </a:xfrm>
          <a:prstGeom prst="wedgeRectCallout">
            <a:avLst>
              <a:gd name="adj1" fmla="val -28398"/>
              <a:gd name="adj2" fmla="val -72611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ライン全体で統一感のある意匠。容器形態はボトル・ポンプ・エアレス・ジャー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</p:txBody>
      </p:sp>
      <p:sp>
        <p:nvSpPr>
          <p:cNvPr id="7190" name="テキスト プレースホルダー 3">
            <a:extLst>
              <a:ext uri="{FF2B5EF4-FFF2-40B4-BE49-F238E27FC236}">
                <a16:creationId xmlns:a16="http://schemas.microsoft.com/office/drawing/2014/main" id="{EDBC5948-9847-96D4-50E0-68F1BDF8037C}"/>
              </a:ext>
            </a:extLst>
          </p:cNvPr>
          <p:cNvSpPr txBox="1">
            <a:spLocks/>
          </p:cNvSpPr>
          <p:nvPr/>
        </p:nvSpPr>
        <p:spPr bwMode="auto">
          <a:xfrm>
            <a:off x="6223696" y="4091152"/>
            <a:ext cx="3545785" cy="2594770"/>
          </a:xfrm>
          <a:prstGeom prst="rect">
            <a:avLst/>
          </a:prstGeom>
          <a:noFill/>
          <a:ln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>
                <a:solidFill>
                  <a:prstClr val="black"/>
                </a:solidFill>
                <a:prstDash val="solid"/>
              </a14:hiddenLine>
            </a:ext>
          </a:extLst>
        </p:spPr>
        <p:txBody>
          <a:bodyPr vert="horz" wrap="square" lIns="91440" tIns="45720" rIns="91440" bIns="45720" rtlCol="0" anchor="t">
            <a:noAutofit/>
          </a:bodyPr>
          <a:lstStyle>
            <a:lvl1pPr marL="198000" indent="-198000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200" baseline="0"/>
            </a:lvl1pPr>
            <a:lvl2pPr marL="432000" lvl="1" indent="-1476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‒"/>
              <a:defRPr sz="1200"/>
            </a:lvl2pPr>
            <a:lvl3pPr marL="648000" lvl="2" indent="-1368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/>
            </a:lvl3pPr>
            <a:lvl4pPr marL="864000" indent="-1224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-"/>
              <a:defRPr sz="1200"/>
            </a:lvl4pPr>
            <a:lvl5pPr marL="1080000" indent="-108000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·"/>
              <a:defRPr sz="12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化粧水ボトルは当社が供給しており、ブランドの意匠を理解している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500700" marR="0" lvl="1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‒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リニューアルの容器選定で、既存取引を起点に提案できる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266700" marR="0" lvl="0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美容液・乳液のエアレス化に、化粧水ボトルと意匠をそろえた容器を提案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  <a:p>
            <a:pPr marL="500700" marR="0" lvl="1" indent="-266700" algn="l" defTabSz="914400" rtl="0" eaLnBrk="1" fontAlgn="auto" latinLnBrk="0" hangingPunct="1">
              <a:lnSpc>
                <a:spcPct val="100000"/>
              </a:lnSpc>
              <a:spcBef>
                <a:spcPts val="576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‒"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pitchFamily="50" charset="-128"/>
                <a:cs typeface="+mn-cs"/>
              </a:rPr>
              <a:t>詰替対応も含め、ライン全体での採用を狙う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 pitchFamily="50" charset="-128"/>
              <a:cs typeface="+mn-cs"/>
            </a:endParaRPr>
          </a:p>
        </p:txBody>
      </p:sp>
      <p:sp>
        <p:nvSpPr>
          <p:cNvPr id="26" name="スライド番号プレースホルダー 3">
            <a:extLst>
              <a:ext uri="{FF2B5EF4-FFF2-40B4-BE49-F238E27FC236}">
                <a16:creationId xmlns:a16="http://schemas.microsoft.com/office/drawing/2014/main" id="{6EAB420E-EE24-C9C7-76CE-68CF9E5292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842250" y="6705600"/>
            <a:ext cx="2063750" cy="152400"/>
          </a:xfrm>
          <a:noFill/>
        </p:spPr>
        <p:txBody>
          <a:bodyPr/>
          <a:lstStyle>
            <a:lvl1pPr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Arial"/>
                <a:ea typeface="ＭＳ Ｐゴシック" pitchFamily="50" charset="-128"/>
              </a:defRPr>
            </a:lvl9pPr>
          </a:lstStyle>
          <a:p>
            <a:r>
              <a:t>- 5 -</a:t>
            </a:r>
          </a:p>
        </p:txBody>
      </p:sp>
      <p:pic>
        <p:nvPicPr>
          <p:cNvPr id="7191" name="Picture 7190" descr="minamo-loti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88247" y="1810512"/>
            <a:ext cx="355024" cy="1280160"/>
          </a:xfrm>
          <a:prstGeom prst="rect">
            <a:avLst/>
          </a:prstGeom>
        </p:spPr>
      </p:pic>
      <p:pic>
        <p:nvPicPr>
          <p:cNvPr id="7192" name="Picture 7191" descr="minamo-mil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8135" y="2023008"/>
            <a:ext cx="355024" cy="1067663"/>
          </a:xfrm>
          <a:prstGeom prst="rect">
            <a:avLst/>
          </a:prstGeom>
        </p:spPr>
      </p:pic>
      <p:pic>
        <p:nvPicPr>
          <p:cNvPr id="7193" name="Picture 7192" descr="minamo-serum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08023" y="2043739"/>
            <a:ext cx="243593" cy="1046932"/>
          </a:xfrm>
          <a:prstGeom prst="rect">
            <a:avLst/>
          </a:prstGeom>
        </p:spPr>
      </p:pic>
      <p:pic>
        <p:nvPicPr>
          <p:cNvPr id="7194" name="Picture 7193" descr="minamo-cream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06480" y="2559431"/>
            <a:ext cx="570111" cy="531240"/>
          </a:xfrm>
          <a:prstGeom prst="rect">
            <a:avLst/>
          </a:prstGeom>
        </p:spPr>
      </p:pic>
      <p:sp>
        <p:nvSpPr>
          <p:cNvPr id="7195" name="Rectangle 7194"/>
          <p:cNvSpPr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96" name="TextBox 7195"/>
          <p:cNvSpPr txBox="1"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000000"/>
                </a:solidFill>
              </a:rPr>
              <a:t>架空企業のサンプル</a:t>
            </a:r>
          </a:p>
        </p:txBody>
      </p:sp>
    </p:spTree>
    <p:extLst>
      <p:ext uri="{BB962C8B-B14F-4D97-AF65-F5344CB8AC3E}">
        <p14:creationId xmlns:p14="http://schemas.microsoft.com/office/powerpoint/2010/main" val="28249652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B9BD9-C856-055D-FAF8-3A793339D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A9F3C6-F87E-4BD2-0801-535EADD8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28600"/>
            <a:ext cx="9163050" cy="762000"/>
          </a:xfrm>
        </p:spPr>
        <p:txBody>
          <a:bodyPr vert="horz" rIns="36000"/>
          <a:lstStyle/>
          <a:p>
            <a:r>
              <a:rPr kumimoji="1" lang="ja-JP" altLang="en-US"/>
              <a:t>サンプル化粧品株式会社（8）　提案・連携余地</a:t>
            </a:r>
            <a:br>
              <a:rPr kumimoji="1" lang="en-US" altLang="ja-JP"/>
            </a:br>
            <a:br>
              <a:rPr kumimoji="1" lang="en-US" altLang="ja-JP" sz="1800"/>
            </a:br>
            <a:r>
              <a:rPr kumimoji="1" lang="ja-JP" altLang="en-US" sz="1800"/>
              <a:t>リニューアル・詰替拡大・海外生産に、既存取引を起点とした提案余地がある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8F1CA14-368C-9DBD-826A-E5EE11C666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t>- 8 -</a:t>
            </a:r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42D793F6-E70F-C267-9F84-4317F22CE07A}"/>
              </a:ext>
            </a:extLst>
          </p:cNvPr>
          <p:cNvGrpSpPr/>
          <p:nvPr/>
        </p:nvGrpSpPr>
        <p:grpSpPr>
          <a:xfrm>
            <a:off x="200472" y="1303476"/>
            <a:ext cx="9505056" cy="1333435"/>
            <a:chOff x="200472" y="1700808"/>
            <a:chExt cx="9505056" cy="1282772"/>
          </a:xfrm>
        </p:grpSpPr>
        <p:sp>
          <p:nvSpPr>
            <p:cNvPr id="6" name="TopicBox">
              <a:extLst>
                <a:ext uri="{FF2B5EF4-FFF2-40B4-BE49-F238E27FC236}">
                  <a16:creationId xmlns:a16="http://schemas.microsoft.com/office/drawing/2014/main" id="{8504BD8C-BA2F-5CE1-EA40-9A3E44A6DFA3}"/>
                </a:ext>
              </a:extLst>
            </p:cNvPr>
            <p:cNvSpPr/>
            <p:nvPr/>
          </p:nvSpPr>
          <p:spPr bwMode="auto">
            <a:xfrm>
              <a:off x="200472" y="1700808"/>
              <a:ext cx="2807981" cy="1282772"/>
            </a:xfrm>
            <a:prstGeom prst="rect">
              <a:avLst/>
            </a:prstGeom>
            <a:solidFill>
              <a:srgbClr val="EAEAEA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36000" rIns="36000" bIns="36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ＭＳ Ｐゴシック" pitchFamily="50" charset="-128"/>
                </a:rPr>
                <a:t>ブランドAのリニューアルに合わせたエアレス容器</a:t>
              </a:r>
            </a:p>
          </p:txBody>
        </p:sp>
        <p:sp>
          <p:nvSpPr>
            <p:cNvPr id="7" name="テキスト プレースホルダー 3">
              <a:extLst>
                <a:ext uri="{FF2B5EF4-FFF2-40B4-BE49-F238E27FC236}">
                  <a16:creationId xmlns:a16="http://schemas.microsoft.com/office/drawing/2014/main" id="{D12389C7-2667-3861-CA36-66326EB32695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3224808" y="1700808"/>
              <a:ext cx="6480720" cy="1282772"/>
            </a:xfrm>
            <a:prstGeom prst="rect">
              <a:avLst/>
            </a:prstGeom>
            <a:noFill/>
            <a:ln>
              <a:noFill/>
              <a:prstDash val="soli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>
                  <a:solidFill>
                    <a:prstClr val="black"/>
                  </a:solidFill>
                  <a:prstDash val="solid"/>
                </a14:hiddenLine>
              </a:ext>
            </a:extLst>
          </p:spPr>
          <p:txBody>
            <a:bodyPr vert="horz" wrap="square" lIns="91440" tIns="45720" rIns="91440" bIns="45720" rtlCol="0" anchor="t">
              <a:noAutofit/>
            </a:bodyPr>
            <a:lstStyle>
              <a:lvl1pPr marL="198000" indent="-198000">
                <a:lnSpc>
                  <a:spcPct val="100000"/>
                </a:lnSpc>
                <a:spcBef>
                  <a:spcPts val="300"/>
                </a:spcBef>
                <a:buClr>
                  <a:schemeClr val="accent1"/>
                </a:buClr>
                <a:buFont typeface="Wingdings" panose="05000000000000000000" pitchFamily="2" charset="2"/>
                <a:buChar char="n"/>
                <a:defRPr sz="1200" baseline="0"/>
              </a:lvl1pPr>
              <a:lvl2pPr marL="432000" lvl="1" indent="-147600">
                <a:lnSpc>
                  <a:spcPct val="100000"/>
                </a:lnSpc>
                <a:spcBef>
                  <a:spcPts val="100"/>
                </a:spcBef>
                <a:buClr>
                  <a:schemeClr val="accent1"/>
                </a:buClr>
                <a:buFont typeface="Arial" panose="020B0604020202020204" pitchFamily="34" charset="0"/>
                <a:buChar char="‒"/>
                <a:defRPr sz="1200"/>
              </a:lvl2pPr>
              <a:lvl3pPr marL="648000" lvl="2" indent="-136800">
                <a:lnSpc>
                  <a:spcPct val="100000"/>
                </a:lnSpc>
                <a:spcBef>
                  <a:spcPts val="10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  <a:defRPr sz="1200"/>
              </a:lvl3pPr>
              <a:lvl4pPr marL="864000" indent="-122400">
                <a:lnSpc>
                  <a:spcPct val="100000"/>
                </a:lnSpc>
                <a:spcBef>
                  <a:spcPts val="100"/>
                </a:spcBef>
                <a:buClr>
                  <a:schemeClr val="accent1"/>
                </a:buClr>
                <a:buFont typeface="Arial" panose="020B0604020202020204" pitchFamily="34" charset="0"/>
                <a:buChar char="-"/>
                <a:defRPr sz="1200"/>
              </a:lvl4pPr>
              <a:lvl5pPr marL="1080000" indent="-108000">
                <a:lnSpc>
                  <a:spcPct val="100000"/>
                </a:lnSpc>
                <a:spcBef>
                  <a:spcPts val="0"/>
                </a:spcBef>
                <a:buClr>
                  <a:schemeClr val="accent1"/>
                </a:buClr>
                <a:buFont typeface="Arial" panose="020B0604020202020204" pitchFamily="34" charset="0"/>
                <a:buChar char="·"/>
                <a:defRPr sz="1200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marL="266700" indent="-266700" fontAlgn="auto">
                <a:spcBef>
                  <a:spcPts val="576"/>
                </a:spcBef>
                <a:spcAft>
                  <a:spcPts val="0"/>
                </a:spcAft>
                <a:buClr>
                  <a:schemeClr val="tx1"/>
                </a:buClr>
              </a:pPr>
              <a:r>
                <a:rPr lang="ja-JP" altLang="en-US" sz="1400">
                  <a:solidFill>
                    <a:srgbClr val="000000"/>
                  </a:solidFill>
                </a:rPr>
                <a:t>2026/3のリニューアルで、美容液・乳液の容器をエアレス化する方針</a:t>
              </a:r>
              <a:endParaRPr lang="en-US" altLang="ja-JP" sz="1400"/>
            </a:p>
            <a:p>
              <a:pPr marL="500700" lvl="1" indent="-266700">
                <a:spcBef>
                  <a:spcPts val="576"/>
                </a:spcBef>
                <a:buClr>
                  <a:schemeClr val="tx1"/>
                </a:buClr>
              </a:pPr>
              <a:r>
                <a:rPr lang="ja-JP" altLang="ja-JP" sz="1400">
                  <a:solidFill>
                    <a:srgbClr val="000000"/>
                  </a:solidFill>
                </a:rPr>
                <a:t>化粧水ボトルを供給中で、ブランドの意匠を理解している</a:t>
              </a:r>
              <a:endParaRPr lang="en-US" altLang="ja-JP" sz="1400"/>
            </a:p>
            <a:p>
              <a:pPr marL="500700" lvl="1" indent="-266700">
                <a:spcBef>
                  <a:spcPts val="576"/>
                </a:spcBef>
                <a:buClr>
                  <a:schemeClr val="tx1"/>
                </a:buClr>
              </a:pPr>
              <a:r>
                <a:rPr lang="ja-JP" altLang="ja-JP" sz="1400">
                  <a:solidFill>
                    <a:srgbClr val="FF0000"/>
                  </a:solidFill>
                </a:rPr>
                <a:t>化粧水ボトルと意匠をそろえたエアレス容器を提案（サンプル文章）</a:t>
              </a:r>
              <a:endParaRPr lang="en-US" altLang="ja-JP" sz="1400"/>
            </a:p>
          </p:txBody>
        </p:sp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106A7C39-707D-B444-D581-EB8CF3A2042C}"/>
              </a:ext>
            </a:extLst>
          </p:cNvPr>
          <p:cNvGrpSpPr/>
          <p:nvPr/>
        </p:nvGrpSpPr>
        <p:grpSpPr>
          <a:xfrm>
            <a:off x="200472" y="4255348"/>
            <a:ext cx="9505056" cy="2414011"/>
            <a:chOff x="200472" y="4437112"/>
            <a:chExt cx="9505056" cy="1282772"/>
          </a:xfrm>
        </p:grpSpPr>
        <p:sp>
          <p:nvSpPr>
            <p:cNvPr id="9" name="TopicBox">
              <a:extLst>
                <a:ext uri="{FF2B5EF4-FFF2-40B4-BE49-F238E27FC236}">
                  <a16:creationId xmlns:a16="http://schemas.microsoft.com/office/drawing/2014/main" id="{9801C9F5-0E88-950C-58EE-67D7CE2681AF}"/>
                </a:ext>
              </a:extLst>
            </p:cNvPr>
            <p:cNvSpPr/>
            <p:nvPr/>
          </p:nvSpPr>
          <p:spPr bwMode="auto">
            <a:xfrm>
              <a:off x="200472" y="4437112"/>
              <a:ext cx="2807981" cy="1282772"/>
            </a:xfrm>
            <a:prstGeom prst="rect">
              <a:avLst/>
            </a:prstGeom>
            <a:solidFill>
              <a:srgbClr val="EAEAEA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36000" rIns="36000" bIns="36000" numCol="1" rtlCol="0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ja-JP" altLang="ja-JP" sz="1400"/>
                <a:t>海外生産の立ち上げに合わせた容器供給</a:t>
              </a:r>
              <a:endParaRPr kumimoji="1" lang="ja-JP" altLang="en-US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/>
                <a:ea typeface="ＭＳ Ｐゴシック" pitchFamily="50" charset="-128"/>
              </a:endParaRPr>
            </a:p>
          </p:txBody>
        </p:sp>
        <p:sp>
          <p:nvSpPr>
            <p:cNvPr id="10" name="テキスト プレースホルダー 3">
              <a:extLst>
                <a:ext uri="{FF2B5EF4-FFF2-40B4-BE49-F238E27FC236}">
                  <a16:creationId xmlns:a16="http://schemas.microsoft.com/office/drawing/2014/main" id="{FBB93B6D-1610-E6F2-A3B1-A1C563678301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3224808" y="4437112"/>
              <a:ext cx="6480720" cy="1282772"/>
            </a:xfrm>
            <a:prstGeom prst="rect">
              <a:avLst/>
            </a:prstGeom>
            <a:noFill/>
            <a:ln>
              <a:noFill/>
              <a:prstDash val="soli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>
                  <a:solidFill>
                    <a:prstClr val="black"/>
                  </a:solidFill>
                  <a:prstDash val="solid"/>
                </a14:hiddenLine>
              </a:ext>
            </a:extLst>
          </p:spPr>
          <p:txBody>
            <a:bodyPr vert="horz" wrap="square" lIns="91440" tIns="45720" rIns="91440" bIns="45720" rtlCol="0" anchor="t">
              <a:noAutofit/>
            </a:bodyPr>
            <a:lstStyle>
              <a:lvl1pPr marL="198000" indent="-198000">
                <a:lnSpc>
                  <a:spcPct val="100000"/>
                </a:lnSpc>
                <a:spcBef>
                  <a:spcPts val="300"/>
                </a:spcBef>
                <a:buClr>
                  <a:schemeClr val="accent1"/>
                </a:buClr>
                <a:buFont typeface="Wingdings" panose="05000000000000000000" pitchFamily="2" charset="2"/>
                <a:buChar char="n"/>
                <a:defRPr sz="1200" baseline="0"/>
              </a:lvl1pPr>
              <a:lvl2pPr marL="432000" lvl="1" indent="-147600">
                <a:lnSpc>
                  <a:spcPct val="100000"/>
                </a:lnSpc>
                <a:spcBef>
                  <a:spcPts val="100"/>
                </a:spcBef>
                <a:buClr>
                  <a:schemeClr val="accent1"/>
                </a:buClr>
                <a:buFont typeface="Arial" panose="020B0604020202020204" pitchFamily="34" charset="0"/>
                <a:buChar char="‒"/>
                <a:defRPr sz="1200"/>
              </a:lvl2pPr>
              <a:lvl3pPr marL="648000" lvl="2" indent="-136800">
                <a:lnSpc>
                  <a:spcPct val="100000"/>
                </a:lnSpc>
                <a:spcBef>
                  <a:spcPts val="10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  <a:defRPr sz="1200"/>
              </a:lvl3pPr>
              <a:lvl4pPr marL="864000" indent="-122400">
                <a:lnSpc>
                  <a:spcPct val="100000"/>
                </a:lnSpc>
                <a:spcBef>
                  <a:spcPts val="100"/>
                </a:spcBef>
                <a:buClr>
                  <a:schemeClr val="accent1"/>
                </a:buClr>
                <a:buFont typeface="Arial" panose="020B0604020202020204" pitchFamily="34" charset="0"/>
                <a:buChar char="-"/>
                <a:defRPr sz="1200"/>
              </a:lvl4pPr>
              <a:lvl5pPr marL="1080000" indent="-108000">
                <a:lnSpc>
                  <a:spcPct val="100000"/>
                </a:lnSpc>
                <a:spcBef>
                  <a:spcPts val="0"/>
                </a:spcBef>
                <a:buClr>
                  <a:schemeClr val="accent1"/>
                </a:buClr>
                <a:buFont typeface="Arial" panose="020B0604020202020204" pitchFamily="34" charset="0"/>
                <a:buChar char="·"/>
                <a:defRPr sz="1200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marL="266700" indent="-266700" fontAlgn="auto">
                <a:spcBef>
                  <a:spcPts val="576"/>
                </a:spcBef>
                <a:spcAft>
                  <a:spcPts val="0"/>
                </a:spcAft>
                <a:buClr>
                  <a:schemeClr val="tx1"/>
                </a:buClr>
              </a:pPr>
              <a:r>
                <a:rPr lang="ja-JP" altLang="en-US" sz="1400">
                  <a:solidFill>
                    <a:srgbClr val="000000"/>
                  </a:solidFill>
                </a:rPr>
                <a:t>海外子会社で2026/10に現地生産を開始予定</a:t>
              </a:r>
              <a:endParaRPr lang="en-US" altLang="ja-JP" sz="1400"/>
            </a:p>
            <a:p>
              <a:pPr marL="500700" lvl="1" indent="-266700" fontAlgn="auto">
                <a:spcBef>
                  <a:spcPts val="576"/>
                </a:spcBef>
                <a:spcAft>
                  <a:spcPts val="0"/>
                </a:spcAft>
                <a:buClr>
                  <a:schemeClr val="tx1"/>
                </a:buClr>
              </a:pPr>
              <a:r>
                <a:rPr lang="ja-JP" altLang="en-US" sz="1400">
                  <a:solidFill>
                    <a:srgbClr val="000000"/>
                  </a:solidFill>
                  <a:latin typeface="+mj-ea"/>
                  <a:ea typeface="+mj-ea"/>
                </a:rPr>
                <a:t>容器を現地で調達するか、日本から供給するかは未公表</a:t>
              </a:r>
              <a:endParaRPr lang="en-US" altLang="ja-JP" sz="1400">
                <a:solidFill>
                  <a:srgbClr val="FF0000"/>
                </a:solidFill>
                <a:latin typeface="+mj-ea"/>
                <a:ea typeface="+mj-ea"/>
              </a:endParaRPr>
            </a:p>
            <a:p>
              <a:pPr marL="500700" lvl="1" indent="-266700" fontAlgn="auto">
                <a:spcBef>
                  <a:spcPts val="576"/>
                </a:spcBef>
                <a:spcAft>
                  <a:spcPts val="0"/>
                </a:spcAft>
                <a:buClr>
                  <a:schemeClr val="tx1"/>
                </a:buClr>
              </a:pPr>
              <a:r>
                <a:rPr lang="ja-JP" altLang="en-US" sz="1400">
                  <a:solidFill>
                    <a:srgbClr val="000000"/>
                  </a:solidFill>
                  <a:latin typeface="+mj-ea"/>
                  <a:ea typeface="+mj-ea"/>
                </a:rPr>
                <a:t>立ち上げ期の日本仕様の容器供給から入る（サンプル文章）</a:t>
              </a:r>
              <a:endParaRPr lang="en-US" altLang="ja-JP" sz="1400">
                <a:solidFill>
                  <a:srgbClr val="FF0000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936B2A66-18EB-2A93-FA7A-02ED37279882}"/>
              </a:ext>
            </a:extLst>
          </p:cNvPr>
          <p:cNvGrpSpPr/>
          <p:nvPr/>
        </p:nvGrpSpPr>
        <p:grpSpPr>
          <a:xfrm>
            <a:off x="200472" y="2792499"/>
            <a:ext cx="9505056" cy="1290350"/>
            <a:chOff x="200472" y="1700808"/>
            <a:chExt cx="9505056" cy="1282772"/>
          </a:xfrm>
        </p:grpSpPr>
        <p:sp>
          <p:nvSpPr>
            <p:cNvPr id="13" name="TopicBox">
              <a:extLst>
                <a:ext uri="{FF2B5EF4-FFF2-40B4-BE49-F238E27FC236}">
                  <a16:creationId xmlns:a16="http://schemas.microsoft.com/office/drawing/2014/main" id="{05863EF8-6697-4BEE-D537-42BAD098BBE6}"/>
                </a:ext>
              </a:extLst>
            </p:cNvPr>
            <p:cNvSpPr/>
            <p:nvPr/>
          </p:nvSpPr>
          <p:spPr bwMode="auto">
            <a:xfrm>
              <a:off x="200472" y="1700808"/>
              <a:ext cx="2807981" cy="1282772"/>
            </a:xfrm>
            <a:prstGeom prst="rect">
              <a:avLst/>
            </a:prstGeom>
            <a:solidFill>
              <a:srgbClr val="EAEAEA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36000" rIns="36000" bIns="36000" numCol="1" rtlCol="0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ja-JP" altLang="ja-JP" sz="1400" dirty="0"/>
                <a:t>詰替拡大に合わせた本体ボトルの再設計</a:t>
              </a:r>
              <a:endParaRPr kumimoji="1" lang="ja-JP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/>
                <a:ea typeface="ＭＳ Ｐゴシック" pitchFamily="50" charset="-128"/>
              </a:endParaRPr>
            </a:p>
          </p:txBody>
        </p:sp>
        <p:sp>
          <p:nvSpPr>
            <p:cNvPr id="14" name="テキスト プレースホルダー 3">
              <a:extLst>
                <a:ext uri="{FF2B5EF4-FFF2-40B4-BE49-F238E27FC236}">
                  <a16:creationId xmlns:a16="http://schemas.microsoft.com/office/drawing/2014/main" id="{50B62B37-9C36-E38D-3EFD-D0FA32B38AD8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3224808" y="1700808"/>
              <a:ext cx="6480720" cy="1282772"/>
            </a:xfrm>
            <a:prstGeom prst="rect">
              <a:avLst/>
            </a:prstGeom>
            <a:noFill/>
            <a:ln>
              <a:noFill/>
              <a:prstDash val="soli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>
                  <a:solidFill>
                    <a:prstClr val="black"/>
                  </a:solidFill>
                  <a:prstDash val="solid"/>
                </a14:hiddenLine>
              </a:ext>
            </a:extLst>
          </p:spPr>
          <p:txBody>
            <a:bodyPr vert="horz" wrap="square" lIns="91440" tIns="45720" rIns="91440" bIns="45720" rtlCol="0" anchor="t">
              <a:noAutofit/>
            </a:bodyPr>
            <a:lstStyle>
              <a:lvl1pPr marL="198000" indent="-198000">
                <a:lnSpc>
                  <a:spcPct val="100000"/>
                </a:lnSpc>
                <a:spcBef>
                  <a:spcPts val="300"/>
                </a:spcBef>
                <a:buClr>
                  <a:schemeClr val="accent1"/>
                </a:buClr>
                <a:buFont typeface="Wingdings" panose="05000000000000000000" pitchFamily="2" charset="2"/>
                <a:buChar char="n"/>
                <a:defRPr sz="1200" baseline="0"/>
              </a:lvl1pPr>
              <a:lvl2pPr marL="432000" lvl="1" indent="-147600">
                <a:lnSpc>
                  <a:spcPct val="100000"/>
                </a:lnSpc>
                <a:spcBef>
                  <a:spcPts val="100"/>
                </a:spcBef>
                <a:buClr>
                  <a:schemeClr val="accent1"/>
                </a:buClr>
                <a:buFont typeface="Arial" panose="020B0604020202020204" pitchFamily="34" charset="0"/>
                <a:buChar char="‒"/>
                <a:defRPr sz="1200"/>
              </a:lvl2pPr>
              <a:lvl3pPr marL="648000" lvl="2" indent="-136800">
                <a:lnSpc>
                  <a:spcPct val="100000"/>
                </a:lnSpc>
                <a:spcBef>
                  <a:spcPts val="10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  <a:defRPr sz="1200"/>
              </a:lvl3pPr>
              <a:lvl4pPr marL="864000" indent="-122400">
                <a:lnSpc>
                  <a:spcPct val="100000"/>
                </a:lnSpc>
                <a:spcBef>
                  <a:spcPts val="100"/>
                </a:spcBef>
                <a:buClr>
                  <a:schemeClr val="accent1"/>
                </a:buClr>
                <a:buFont typeface="Arial" panose="020B0604020202020204" pitchFamily="34" charset="0"/>
                <a:buChar char="-"/>
                <a:defRPr sz="1200"/>
              </a:lvl4pPr>
              <a:lvl5pPr marL="1080000" indent="-108000">
                <a:lnSpc>
                  <a:spcPct val="100000"/>
                </a:lnSpc>
                <a:spcBef>
                  <a:spcPts val="0"/>
                </a:spcBef>
                <a:buClr>
                  <a:schemeClr val="accent1"/>
                </a:buClr>
                <a:buFont typeface="Arial" panose="020B0604020202020204" pitchFamily="34" charset="0"/>
                <a:buChar char="·"/>
                <a:defRPr sz="1200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marL="266700" indent="-266700" fontAlgn="auto">
                <a:spcBef>
                  <a:spcPts val="576"/>
                </a:spcBef>
                <a:spcAft>
                  <a:spcPts val="0"/>
                </a:spcAft>
                <a:buClr>
                  <a:schemeClr val="tx1"/>
                </a:buClr>
              </a:pPr>
              <a:r>
                <a:rPr lang="ja-JP" altLang="ja-JP" sz="1400">
                  <a:solidFill>
                    <a:srgbClr val="000000"/>
                  </a:solidFill>
                </a:rPr>
                <a:t>詰替の構成比が上昇し、中計でプラスチック使用量の削減を掲げる</a:t>
              </a:r>
              <a:endParaRPr lang="en-US" altLang="ja-JP" sz="1400"/>
            </a:p>
            <a:p>
              <a:pPr marL="500700" lvl="1" indent="-266700" fontAlgn="auto">
                <a:spcBef>
                  <a:spcPts val="576"/>
                </a:spcBef>
                <a:spcAft>
                  <a:spcPts val="0"/>
                </a:spcAft>
                <a:buClr>
                  <a:schemeClr val="tx1"/>
                </a:buClr>
              </a:pPr>
              <a:r>
                <a:rPr lang="ja-JP" altLang="ja-JP" sz="1400">
                  <a:solidFill>
                    <a:srgbClr val="000000"/>
                  </a:solidFill>
                </a:rPr>
                <a:t>本体を長く使える設計、薄肉化、再生材の使用がテーマになる</a:t>
              </a:r>
              <a:endParaRPr lang="en-US" altLang="ja-JP" sz="1400"/>
            </a:p>
            <a:p>
              <a:pPr marL="500700" lvl="1" indent="-266700" fontAlgn="auto">
                <a:spcBef>
                  <a:spcPts val="576"/>
                </a:spcBef>
                <a:spcAft>
                  <a:spcPts val="0"/>
                </a:spcAft>
                <a:buClr>
                  <a:schemeClr val="tx1"/>
                </a:buClr>
              </a:pPr>
              <a:r>
                <a:rPr lang="ja-JP" altLang="ja-JP" sz="1400">
                  <a:solidFill>
                    <a:srgbClr val="FF0000"/>
                  </a:solidFill>
                </a:rPr>
                <a:t>再生材ボトルと付け替えキャップのセットを提案（サンプル文章）</a:t>
              </a:r>
              <a:endParaRPr lang="en-US" altLang="ja-JP" sz="1400"/>
            </a:p>
          </p:txBody>
        </p:sp>
      </p:grp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DD38A9F1-7FB8-2DFD-1742-82BB315670C9}"/>
              </a:ext>
            </a:extLst>
          </p:cNvPr>
          <p:cNvCxnSpPr/>
          <p:nvPr/>
        </p:nvCxnSpPr>
        <p:spPr bwMode="auto">
          <a:xfrm>
            <a:off x="56456" y="4169098"/>
            <a:ext cx="9649072" cy="0"/>
          </a:xfrm>
          <a:prstGeom prst="line">
            <a:avLst/>
          </a:prstGeom>
          <a:noFill/>
          <a:ln w="9525" cap="flat" cmpd="sng" algn="ctr">
            <a:solidFill>
              <a:srgbClr val="808080"/>
            </a:solidFill>
            <a:prstDash val="dash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E434B68E-105C-84FB-0032-BA0DB966E537}"/>
              </a:ext>
            </a:extLst>
          </p:cNvPr>
          <p:cNvCxnSpPr/>
          <p:nvPr/>
        </p:nvCxnSpPr>
        <p:spPr bwMode="auto">
          <a:xfrm>
            <a:off x="128464" y="2714705"/>
            <a:ext cx="9649072" cy="0"/>
          </a:xfrm>
          <a:prstGeom prst="line">
            <a:avLst/>
          </a:prstGeom>
          <a:noFill/>
          <a:ln w="9525" cap="flat" cmpd="sng" algn="ctr">
            <a:solidFill>
              <a:srgbClr val="808080"/>
            </a:solidFill>
            <a:prstDash val="dash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" name="Rectangle 19"/>
          <p:cNvSpPr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000000"/>
                </a:solidFill>
              </a:rPr>
              <a:t>架空企業のサンプル</a:t>
            </a:r>
          </a:p>
        </p:txBody>
      </p:sp>
    </p:spTree>
    <p:extLst>
      <p:ext uri="{BB962C8B-B14F-4D97-AF65-F5344CB8AC3E}">
        <p14:creationId xmlns:p14="http://schemas.microsoft.com/office/powerpoint/2010/main" val="2479959221"/>
      </p:ext>
    </p:extLst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タイトル 1">
            <a:extLst>
              <a:ext uri="{FF2B5EF4-FFF2-40B4-BE49-F238E27FC236}">
                <a16:creationId xmlns:a16="http://schemas.microsoft.com/office/drawing/2014/main" id="{A0A9F3C6-F87E-4BD2-0801-535EADD8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28600"/>
            <a:ext cx="9163050" cy="762000"/>
          </a:xfrm>
        </p:spPr>
        <p:txBody>
          <a:bodyPr vert="horz" rIns="36000"/>
          <a:lstStyle/>
          <a:p>
            <a:r>
              <a:rPr kumimoji="1" lang="ja-JP" altLang="en-US"/>
              <a:t>サンプル化粧品株式会社（6）　直近の事業動向</a:t>
            </a:r>
            <a:br>
              <a:rPr kumimoji="1" lang="en-US" altLang="ja-JP"/>
            </a:br>
            <a:br>
              <a:rPr kumimoji="1" lang="en-US" altLang="ja-JP" sz="1800"/>
            </a:br>
            <a:r>
              <a:rPr kumimoji="1" lang="ja-JP" altLang="en-US" sz="1800"/>
              <a:t>2024年以降、中計・組織新設・海外生産が続き、容器の仕様と調達先を見直す局面にある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8F1CA14-368C-9DBD-826A-E5EE11C666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t>- 6 -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000000"/>
                </a:solidFill>
              </a:rPr>
              <a:t>架空企業のサンプル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" y="1783080"/>
            <a:ext cx="9052560" cy="0"/>
          </a:xfrm>
          <a:prstGeom prst="line">
            <a:avLst/>
          </a:prstGeom>
          <a:ln w="15875">
            <a:solidFill>
              <a:srgbClr val="4040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11480" y="1673352"/>
            <a:ext cx="0" cy="219456"/>
          </a:xfrm>
          <a:prstGeom prst="line">
            <a:avLst/>
          </a:prstGeom>
          <a:ln w="12700">
            <a:solidFill>
              <a:srgbClr val="4040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8056" y="1819656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04040"/>
                </a:solidFill>
              </a:rPr>
              <a:t>2024年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29000" y="1673352"/>
            <a:ext cx="0" cy="219456"/>
          </a:xfrm>
          <a:prstGeom prst="line">
            <a:avLst/>
          </a:prstGeom>
          <a:ln w="12700">
            <a:solidFill>
              <a:srgbClr val="4040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65576" y="1819656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04040"/>
                </a:solidFill>
              </a:rPr>
              <a:t>2025年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46520" y="1673352"/>
            <a:ext cx="0" cy="219456"/>
          </a:xfrm>
          <a:prstGeom prst="line">
            <a:avLst/>
          </a:prstGeom>
          <a:ln w="12700">
            <a:solidFill>
              <a:srgbClr val="4040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83096" y="1819656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04040"/>
                </a:solidFill>
              </a:rPr>
              <a:t>2026年</a:t>
            </a:r>
          </a:p>
        </p:txBody>
      </p:sp>
      <p:sp>
        <p:nvSpPr>
          <p:cNvPr id="13" name="Oval 12"/>
          <p:cNvSpPr/>
          <p:nvPr/>
        </p:nvSpPr>
        <p:spPr>
          <a:xfrm>
            <a:off x="1353312" y="1719072"/>
            <a:ext cx="128016" cy="128016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0000"/>
                </a:solidFill>
              </a:rPr>
              <a:t>2024/5</a:t>
            </a:r>
          </a:p>
        </p:txBody>
      </p:sp>
      <p:sp>
        <p:nvSpPr>
          <p:cNvPr id="15" name="Oval 14"/>
          <p:cNvSpPr/>
          <p:nvPr/>
        </p:nvSpPr>
        <p:spPr>
          <a:xfrm>
            <a:off x="2862072" y="1719072"/>
            <a:ext cx="128016" cy="128016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423160" y="1965960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0000"/>
                </a:solidFill>
              </a:rPr>
              <a:t>2024/11</a:t>
            </a:r>
          </a:p>
        </p:txBody>
      </p:sp>
      <p:sp>
        <p:nvSpPr>
          <p:cNvPr id="17" name="Oval 16"/>
          <p:cNvSpPr/>
          <p:nvPr/>
        </p:nvSpPr>
        <p:spPr>
          <a:xfrm>
            <a:off x="3867911" y="1719072"/>
            <a:ext cx="128016" cy="128016"/>
          </a:xfrm>
          <a:prstGeom prst="ellipse">
            <a:avLst/>
          </a:prstGeom>
          <a:solidFill>
            <a:srgbClr val="6F8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429000" y="1417320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04040"/>
                </a:solidFill>
              </a:rPr>
              <a:t>2025/3</a:t>
            </a:r>
          </a:p>
        </p:txBody>
      </p:sp>
      <p:sp>
        <p:nvSpPr>
          <p:cNvPr id="19" name="Oval 18"/>
          <p:cNvSpPr/>
          <p:nvPr/>
        </p:nvSpPr>
        <p:spPr>
          <a:xfrm>
            <a:off x="5628132" y="1719072"/>
            <a:ext cx="128016" cy="128016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89220" y="1965960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0000"/>
                </a:solidFill>
              </a:rPr>
              <a:t>2025/10</a:t>
            </a:r>
          </a:p>
        </p:txBody>
      </p:sp>
      <p:sp>
        <p:nvSpPr>
          <p:cNvPr id="21" name="Oval 20"/>
          <p:cNvSpPr/>
          <p:nvPr/>
        </p:nvSpPr>
        <p:spPr>
          <a:xfrm>
            <a:off x="6885432" y="1719072"/>
            <a:ext cx="128016" cy="128016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46520" y="1417320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0000"/>
                </a:solidFill>
              </a:rPr>
              <a:t>2026/3予</a:t>
            </a:r>
          </a:p>
        </p:txBody>
      </p:sp>
      <p:sp>
        <p:nvSpPr>
          <p:cNvPr id="23" name="Oval 22"/>
          <p:cNvSpPr/>
          <p:nvPr/>
        </p:nvSpPr>
        <p:spPr>
          <a:xfrm>
            <a:off x="7136892" y="1719072"/>
            <a:ext cx="128016" cy="128016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97980" y="1965960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0000"/>
                </a:solidFill>
              </a:rPr>
              <a:t>2026/4</a:t>
            </a:r>
          </a:p>
        </p:txBody>
      </p:sp>
      <p:sp>
        <p:nvSpPr>
          <p:cNvPr id="25" name="Oval 24"/>
          <p:cNvSpPr/>
          <p:nvPr/>
        </p:nvSpPr>
        <p:spPr>
          <a:xfrm>
            <a:off x="7639812" y="1719072"/>
            <a:ext cx="128016" cy="128016"/>
          </a:xfrm>
          <a:prstGeom prst="ellipse">
            <a:avLst/>
          </a:prstGeom>
          <a:solidFill>
            <a:srgbClr val="6F8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200900" y="1417320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04040"/>
                </a:solidFill>
              </a:rPr>
              <a:t>2026/6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286000"/>
            <a:ext cx="731520" cy="292608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74320" y="2286000"/>
            <a:ext cx="731520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0000"/>
                </a:solidFill>
              </a:rPr>
              <a:t>時期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2286000"/>
            <a:ext cx="548640" cy="292608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5840" y="2286000"/>
            <a:ext cx="548640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0000"/>
                </a:solidFill>
              </a:rPr>
              <a:t>区分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54480" y="2286000"/>
            <a:ext cx="2194560" cy="292608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554480" y="2286000"/>
            <a:ext cx="2194560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0000"/>
                </a:solidFill>
              </a:rPr>
              <a:t>出来事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39" y="2286000"/>
            <a:ext cx="2514600" cy="292608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749039" y="2286000"/>
            <a:ext cx="2514600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0000"/>
                </a:solidFill>
              </a:rPr>
              <a:t>内容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2286000"/>
            <a:ext cx="2148840" cy="292608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263640" y="2286000"/>
            <a:ext cx="2148840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0000"/>
                </a:solidFill>
              </a:rPr>
              <a:t>容器への影響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2480" y="2286000"/>
            <a:ext cx="1280160" cy="292608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80" y="2286000"/>
            <a:ext cx="1280160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0000"/>
                </a:solidFill>
              </a:rPr>
              <a:t>出所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2578608"/>
            <a:ext cx="73152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274320" y="2578608"/>
            <a:ext cx="73152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2024/5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" y="2578608"/>
            <a:ext cx="54864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005840" y="2578608"/>
            <a:ext cx="54864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戦略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54480" y="2578608"/>
            <a:ext cx="219456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554480" y="2578608"/>
            <a:ext cx="219456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0000"/>
                </a:solidFill>
              </a:rPr>
              <a:t>中期経営計画を公表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749039" y="2578608"/>
            <a:ext cx="251460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749039" y="2578608"/>
            <a:ext cx="251460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2030年に容器のプラスチック30%削減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63640" y="2578608"/>
            <a:ext cx="214884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263640" y="2578608"/>
            <a:ext cx="214884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0000"/>
                </a:solidFill>
              </a:rPr>
              <a:t>詰替・薄肉化・再生材の採用が進む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12480" y="2578608"/>
            <a:ext cx="128016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412480" y="2578608"/>
            <a:ext cx="128016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中計資料（想定）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3063239"/>
            <a:ext cx="73152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274320" y="3063239"/>
            <a:ext cx="73152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2024/11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05840" y="3063239"/>
            <a:ext cx="54864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005840" y="3063239"/>
            <a:ext cx="54864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商品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54480" y="3063239"/>
            <a:ext cx="219456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1554480" y="3063239"/>
            <a:ext cx="219456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0000"/>
                </a:solidFill>
              </a:rPr>
              <a:t>ブランドCの詰替を全品目に拡大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49039" y="3063239"/>
            <a:ext cx="251460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3749039" y="3063239"/>
            <a:ext cx="251460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シャンプー・トリートメントの詰替を発売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63640" y="3063239"/>
            <a:ext cx="214884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263640" y="3063239"/>
            <a:ext cx="214884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0000"/>
                </a:solidFill>
              </a:rPr>
              <a:t>本体ボトルが減り、パウチが増える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3063239"/>
            <a:ext cx="128016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412480" y="3063239"/>
            <a:ext cx="128016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プレスリリース（想定）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3547872"/>
            <a:ext cx="73152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274320" y="3547872"/>
            <a:ext cx="73152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2025/3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3547872"/>
            <a:ext cx="54864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005840" y="3547872"/>
            <a:ext cx="54864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投資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554480" y="3547872"/>
            <a:ext cx="219456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554480" y="3547872"/>
            <a:ext cx="219456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工場にチューブの充填ラインを増設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749039" y="3547872"/>
            <a:ext cx="251460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3749039" y="3547872"/>
            <a:ext cx="251460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投資額○○億円（サンプル）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63640" y="3547872"/>
            <a:ext cx="214884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263640" y="3547872"/>
            <a:ext cx="214884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チューブの調達量が増える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12480" y="3547872"/>
            <a:ext cx="128016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8412480" y="3547872"/>
            <a:ext cx="128016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業界紙（想定）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4032504"/>
            <a:ext cx="73152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274320" y="4032504"/>
            <a:ext cx="73152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2025/10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05840" y="4032504"/>
            <a:ext cx="54864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05840" y="4032504"/>
            <a:ext cx="54864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海外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554480" y="4032504"/>
            <a:ext cx="219456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1554480" y="4032504"/>
            <a:ext cx="219456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0000"/>
                </a:solidFill>
              </a:rPr>
              <a:t>海外子会社を設立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749039" y="4032504"/>
            <a:ext cx="251460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749039" y="4032504"/>
            <a:ext cx="251460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2026/10に現地生産を開始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63640" y="4032504"/>
            <a:ext cx="214884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6263640" y="4032504"/>
            <a:ext cx="214884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0000"/>
                </a:solidFill>
              </a:rPr>
              <a:t>現地調達の容器が必要になる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12480" y="4032504"/>
            <a:ext cx="128016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8412480" y="4032504"/>
            <a:ext cx="128016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プレスリリース（想定）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74320" y="4517136"/>
            <a:ext cx="73152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274320" y="4517136"/>
            <a:ext cx="73152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2026/3予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05840" y="4517136"/>
            <a:ext cx="54864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1005840" y="4517136"/>
            <a:ext cx="54864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商品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554480" y="4517136"/>
            <a:ext cx="219456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1554480" y="4517136"/>
            <a:ext cx="219456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0000"/>
                </a:solidFill>
              </a:rPr>
              <a:t>ブランドAを全面リニューアル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749039" y="4517136"/>
            <a:ext cx="251460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3749039" y="4517136"/>
            <a:ext cx="251460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美容液・乳液の容器をエアレス化（求人より）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263640" y="4517136"/>
            <a:ext cx="214884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263640" y="4517136"/>
            <a:ext cx="214884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0000"/>
                </a:solidFill>
              </a:rPr>
              <a:t>エアレス容器の新規採用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412480" y="4517136"/>
            <a:ext cx="128016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8412480" y="4517136"/>
            <a:ext cx="128016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求人情報（想定）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74320" y="5001768"/>
            <a:ext cx="73152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74320" y="5001768"/>
            <a:ext cx="73152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2026/4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05840" y="5001768"/>
            <a:ext cx="54864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005840" y="5001768"/>
            <a:ext cx="54864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組織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554480" y="5001768"/>
            <a:ext cx="219456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1554480" y="5001768"/>
            <a:ext cx="219456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0000"/>
                </a:solidFill>
              </a:rPr>
              <a:t>パッケージ開発部を新設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49039" y="5001768"/>
            <a:ext cx="251460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749039" y="5001768"/>
            <a:ext cx="251460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容器の企画・仕様決定を独立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63640" y="5001768"/>
            <a:ext cx="214884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263640" y="5001768"/>
            <a:ext cx="214884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0000"/>
                </a:solidFill>
              </a:rPr>
              <a:t>容器選定の窓口が明確になる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12480" y="5001768"/>
            <a:ext cx="128016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8412480" y="5001768"/>
            <a:ext cx="128016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人事発表（想定）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74320" y="5486400"/>
            <a:ext cx="73152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274320" y="5486400"/>
            <a:ext cx="73152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2026/6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05840" y="5486400"/>
            <a:ext cx="54864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1005840" y="5486400"/>
            <a:ext cx="54864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商品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554480" y="5486400"/>
            <a:ext cx="219456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1554480" y="5486400"/>
            <a:ext cx="219456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ブランドDに新剤型を追加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749039" y="5486400"/>
            <a:ext cx="251460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749039" y="5486400"/>
            <a:ext cx="251460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スティック・スプレーを追加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263640" y="5486400"/>
            <a:ext cx="214884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6263640" y="5486400"/>
            <a:ext cx="214884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新しい剤型の容器が必要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12480" y="5486400"/>
            <a:ext cx="1280160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8412480" y="5486400"/>
            <a:ext cx="1280160" cy="4846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プレスリリース（想定）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9184" y="644652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000000"/>
                </a:solidFill>
              </a:rPr>
              <a:t>出所：プレスリリース・求人情報・業界紙（いずれも想定）。内容はすべて架空　　注：赤字は容器の需要・仕様・調達先に影響する出来事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タイトル 1">
            <a:extLst>
              <a:ext uri="{FF2B5EF4-FFF2-40B4-BE49-F238E27FC236}">
                <a16:creationId xmlns:a16="http://schemas.microsoft.com/office/drawing/2014/main" id="{A0A9F3C6-F87E-4BD2-0801-535EADD8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28600"/>
            <a:ext cx="9163050" cy="762000"/>
          </a:xfrm>
        </p:spPr>
        <p:txBody>
          <a:bodyPr vert="horz" rIns="36000"/>
          <a:lstStyle/>
          <a:p>
            <a:r>
              <a:rPr kumimoji="1" lang="ja-JP" altLang="en-US"/>
              <a:t>サンプル化粧品株式会社（7）　既存取引との照合</a:t>
            </a:r>
            <a:br>
              <a:rPr kumimoji="1" lang="en-US" altLang="ja-JP"/>
            </a:br>
            <a:br>
              <a:rPr kumimoji="1" lang="en-US" altLang="ja-JP" sz="1800"/>
            </a:br>
            <a:r>
              <a:rPr kumimoji="1" lang="ja-JP" altLang="en-US" sz="1800"/>
              <a:t>当社の取引は2品のみ。リニューアル・新剤型・海外生産で、新たな容器需要が生まれる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8F1CA14-368C-9DBD-826A-E5EE11C666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t>- 7 -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000000"/>
                </a:solidFill>
              </a:rPr>
              <a:t>架空企業のサンプル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1325880" cy="347472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600200" y="1417320"/>
            <a:ext cx="941832" cy="347472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600200" y="1417320"/>
            <a:ext cx="94183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00000"/>
                </a:solidFill>
              </a:rPr>
              <a:t>ボトル</a:t>
            </a:r>
          </a:p>
        </p:txBody>
      </p:sp>
      <p:sp>
        <p:nvSpPr>
          <p:cNvPr id="9" name="Rectangle 8"/>
          <p:cNvSpPr/>
          <p:nvPr/>
        </p:nvSpPr>
        <p:spPr>
          <a:xfrm>
            <a:off x="2542032" y="1417320"/>
            <a:ext cx="941832" cy="347472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542032" y="1417320"/>
            <a:ext cx="94183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00000"/>
                </a:solidFill>
              </a:rPr>
              <a:t>ポンプ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83864" y="1417320"/>
            <a:ext cx="941832" cy="347472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83864" y="1417320"/>
            <a:ext cx="94183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00000"/>
                </a:solidFill>
              </a:rPr>
              <a:t>エアレス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25696" y="1417320"/>
            <a:ext cx="941832" cy="347472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25696" y="1417320"/>
            <a:ext cx="94183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00000"/>
                </a:solidFill>
              </a:rPr>
              <a:t>ジャー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67528" y="1417320"/>
            <a:ext cx="941832" cy="347472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367528" y="1417320"/>
            <a:ext cx="94183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00000"/>
                </a:solidFill>
              </a:rPr>
              <a:t>チューブ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417320"/>
            <a:ext cx="941832" cy="347472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09360" y="1417320"/>
            <a:ext cx="94183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00000"/>
                </a:solidFill>
              </a:rPr>
              <a:t>詰替パウチ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51192" y="1417320"/>
            <a:ext cx="941832" cy="347472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251192" y="1417320"/>
            <a:ext cx="941832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00000"/>
                </a:solidFill>
              </a:rPr>
              <a:t>新剤型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764792"/>
            <a:ext cx="1325880" cy="621792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74320" y="1764792"/>
            <a:ext cx="132588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000000"/>
                </a:solidFill>
              </a:rPr>
              <a:t>ブランドA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1764792"/>
            <a:ext cx="941832" cy="621792"/>
          </a:xfrm>
          <a:prstGeom prst="rect">
            <a:avLst/>
          </a:prstGeom>
          <a:solidFill>
            <a:srgbClr val="4C6C9C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00200" y="1764792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</a:rPr>
              <a:t>当社取引中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</a:rPr>
              <a:t>化粧水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42032" y="1764792"/>
            <a:ext cx="941832" cy="621792"/>
          </a:xfrm>
          <a:prstGeom prst="rect">
            <a:avLst/>
          </a:prstGeom>
          <a:solidFill>
            <a:srgbClr val="DFE5E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542032" y="1764792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他社（推定）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000000"/>
                </a:solidFill>
              </a:rPr>
              <a:t>乳液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83864" y="1764792"/>
            <a:ext cx="941832" cy="621792"/>
          </a:xfrm>
          <a:prstGeom prst="rect">
            <a:avLst/>
          </a:prstGeom>
          <a:solidFill>
            <a:srgbClr val="FFFFFF"/>
          </a:solidFill>
          <a:ln w="22225">
            <a:solidFill>
              <a:srgbClr val="FF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483864" y="1764792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0000"/>
                </a:solidFill>
              </a:rPr>
              <a:t>新規発生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0000"/>
                </a:solidFill>
              </a:rPr>
              <a:t>美容液・乳液
2026/3〜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25696" y="1764792"/>
            <a:ext cx="941832" cy="621792"/>
          </a:xfrm>
          <a:prstGeom prst="rect">
            <a:avLst/>
          </a:prstGeom>
          <a:solidFill>
            <a:srgbClr val="DFE5E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425696" y="1764792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他社（推定）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000000"/>
                </a:solidFill>
              </a:rPr>
              <a:t>クリーム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67528" y="1764792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367528" y="1764792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1764792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09360" y="1764792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要確認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51192" y="1764792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251192" y="1764792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2386584"/>
            <a:ext cx="1325880" cy="621792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74320" y="2386584"/>
            <a:ext cx="132588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000000"/>
                </a:solidFill>
              </a:rPr>
              <a:t>ブランドB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600200" y="2386584"/>
            <a:ext cx="941832" cy="621792"/>
          </a:xfrm>
          <a:prstGeom prst="rect">
            <a:avLst/>
          </a:prstGeom>
          <a:solidFill>
            <a:srgbClr val="DFE5E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600200" y="2386584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他社（推定）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000000"/>
                </a:solidFill>
              </a:rPr>
              <a:t>ガラス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542032" y="2386584"/>
            <a:ext cx="941832" cy="621792"/>
          </a:xfrm>
          <a:prstGeom prst="rect">
            <a:avLst/>
          </a:prstGeom>
          <a:solidFill>
            <a:srgbClr val="DFE5E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2542032" y="2386584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他社（推定）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83864" y="2386584"/>
            <a:ext cx="941832" cy="621792"/>
          </a:xfrm>
          <a:prstGeom prst="rect">
            <a:avLst/>
          </a:prstGeom>
          <a:solidFill>
            <a:srgbClr val="DFE5E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83864" y="2386584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他社（推定）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25696" y="2386584"/>
            <a:ext cx="941832" cy="621792"/>
          </a:xfrm>
          <a:prstGeom prst="rect">
            <a:avLst/>
          </a:prstGeom>
          <a:solidFill>
            <a:srgbClr val="DFE5E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425696" y="2386584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他社（推定）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000000"/>
                </a:solidFill>
              </a:rPr>
              <a:t>ガラス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67528" y="2386584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67528" y="2386584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2386584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09360" y="2386584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51192" y="2386584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251192" y="2386584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3008376"/>
            <a:ext cx="1325880" cy="621792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74320" y="3008376"/>
            <a:ext cx="132588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000000"/>
                </a:solidFill>
              </a:rPr>
              <a:t>ブランドD（UV）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600200" y="3008376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1600200" y="3008376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542032" y="3008376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2542032" y="3008376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83864" y="3008376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483864" y="3008376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425696" y="3008376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425696" y="3008376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67528" y="3008376"/>
            <a:ext cx="941832" cy="621792"/>
          </a:xfrm>
          <a:prstGeom prst="rect">
            <a:avLst/>
          </a:prstGeom>
          <a:solidFill>
            <a:srgbClr val="DFE5E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5367528" y="3008376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他社（推定）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000000"/>
                </a:solidFill>
              </a:rPr>
              <a:t>ラミネート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3008376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309360" y="3008376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251192" y="3008376"/>
            <a:ext cx="941832" cy="621792"/>
          </a:xfrm>
          <a:prstGeom prst="rect">
            <a:avLst/>
          </a:prstGeom>
          <a:solidFill>
            <a:srgbClr val="FFFFFF"/>
          </a:solidFill>
          <a:ln w="22225">
            <a:solidFill>
              <a:srgbClr val="FF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251192" y="3008376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0000"/>
                </a:solidFill>
              </a:rPr>
              <a:t>新規発生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0000"/>
                </a:solidFill>
              </a:rPr>
              <a:t>スティック
2026/6〜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3630168"/>
            <a:ext cx="1325880" cy="621792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274320" y="3630168"/>
            <a:ext cx="132588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000000"/>
                </a:solidFill>
              </a:rPr>
              <a:t>ブランドC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00200" y="3630168"/>
            <a:ext cx="941832" cy="621792"/>
          </a:xfrm>
          <a:prstGeom prst="rect">
            <a:avLst/>
          </a:prstGeom>
          <a:solidFill>
            <a:srgbClr val="4C6C9C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600200" y="3630168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</a:rPr>
              <a:t>当社取引中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</a:rPr>
              <a:t>本体ボトル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542032" y="3630168"/>
            <a:ext cx="941832" cy="621792"/>
          </a:xfrm>
          <a:prstGeom prst="rect">
            <a:avLst/>
          </a:prstGeom>
          <a:solidFill>
            <a:srgbClr val="DFE5E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2542032" y="3630168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他社（推定）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000000"/>
                </a:solidFill>
              </a:rPr>
              <a:t>ポンプ部品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483864" y="3630168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3483864" y="3630168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25696" y="3630168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425696" y="3630168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367528" y="3630168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5367528" y="3630168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09360" y="3630168"/>
            <a:ext cx="941832" cy="621792"/>
          </a:xfrm>
          <a:prstGeom prst="rect">
            <a:avLst/>
          </a:prstGeom>
          <a:solidFill>
            <a:srgbClr val="DFE5E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6309360" y="3630168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他社（推定）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251192" y="3630168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7251192" y="3630168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4251960"/>
            <a:ext cx="1325880" cy="621792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274320" y="4251960"/>
            <a:ext cx="132588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000000"/>
                </a:solidFill>
              </a:rPr>
              <a:t>ボディ・その他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600200" y="4251960"/>
            <a:ext cx="941832" cy="621792"/>
          </a:xfrm>
          <a:prstGeom prst="rect">
            <a:avLst/>
          </a:prstGeom>
          <a:solidFill>
            <a:srgbClr val="DFE5E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1600200" y="4251960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他社（推定）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542032" y="4251960"/>
            <a:ext cx="941832" cy="621792"/>
          </a:xfrm>
          <a:prstGeom prst="rect">
            <a:avLst/>
          </a:prstGeom>
          <a:solidFill>
            <a:srgbClr val="DFE5E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2542032" y="4251960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他社（推定）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000000"/>
                </a:solidFill>
              </a:rPr>
              <a:t>泡ポンプ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483864" y="4251960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483864" y="4251960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25696" y="4251960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4425696" y="4251960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367528" y="4251960"/>
            <a:ext cx="941832" cy="621792"/>
          </a:xfrm>
          <a:prstGeom prst="rect">
            <a:avLst/>
          </a:prstGeom>
          <a:solidFill>
            <a:srgbClr val="DFE5E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5367528" y="4251960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他社（推定）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4251960"/>
            <a:ext cx="941832" cy="621792"/>
          </a:xfrm>
          <a:prstGeom prst="rect">
            <a:avLst/>
          </a:prstGeom>
          <a:solidFill>
            <a:srgbClr val="DFE5E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309360" y="4251960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他社（推定）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251192" y="4251960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7251192" y="4251960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4320" y="4873752"/>
            <a:ext cx="1325880" cy="621792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274320" y="4873752"/>
            <a:ext cx="1325880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000000"/>
                </a:solidFill>
              </a:rPr>
              <a:t>海外生産品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600200" y="4873752"/>
            <a:ext cx="941832" cy="621792"/>
          </a:xfrm>
          <a:prstGeom prst="rect">
            <a:avLst/>
          </a:prstGeom>
          <a:solidFill>
            <a:srgbClr val="FFFFFF"/>
          </a:solidFill>
          <a:ln w="22225">
            <a:solidFill>
              <a:srgbClr val="FF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1600200" y="4873752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0000"/>
                </a:solidFill>
              </a:rPr>
              <a:t>新規発生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0000"/>
                </a:solidFill>
              </a:rPr>
              <a:t>2026/10〜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542032" y="4873752"/>
            <a:ext cx="941832" cy="621792"/>
          </a:xfrm>
          <a:prstGeom prst="rect">
            <a:avLst/>
          </a:prstGeom>
          <a:solidFill>
            <a:srgbClr val="FFFFFF"/>
          </a:solidFill>
          <a:ln w="22225">
            <a:solidFill>
              <a:srgbClr val="FF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2542032" y="4873752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0000"/>
                </a:solidFill>
              </a:rPr>
              <a:t>新規発生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0000"/>
                </a:solidFill>
              </a:rPr>
              <a:t>同左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483864" y="4873752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3483864" y="4873752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要確認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404040"/>
                </a:solidFill>
              </a:rPr>
              <a:t>品目未公表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425696" y="4873752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4425696" y="4873752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要確認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404040"/>
                </a:solidFill>
              </a:rPr>
              <a:t>品目未公表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367528" y="4873752"/>
            <a:ext cx="941832" cy="621792"/>
          </a:xfrm>
          <a:prstGeom prst="rect">
            <a:avLst/>
          </a:prstGeom>
          <a:solidFill>
            <a:srgbClr val="FFFFFF"/>
          </a:solidFill>
          <a:ln w="22225">
            <a:solidFill>
              <a:srgbClr val="FF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5367528" y="4873752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0000"/>
                </a:solidFill>
              </a:rPr>
              <a:t>新規発生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0000"/>
                </a:solidFill>
              </a:rPr>
              <a:t>同左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309360" y="4873752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309360" y="4873752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要確認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251192" y="4873752"/>
            <a:ext cx="94183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251192" y="4873752"/>
            <a:ext cx="94183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04040"/>
                </a:solidFill>
              </a:rPr>
              <a:t>−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74320" y="5623559"/>
            <a:ext cx="256032" cy="146304"/>
          </a:xfrm>
          <a:prstGeom prst="rect">
            <a:avLst/>
          </a:prstGeom>
          <a:solidFill>
            <a:srgbClr val="4C6C9C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585216" y="5586983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当社取引中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645920" y="5623559"/>
            <a:ext cx="256032" cy="146304"/>
          </a:xfrm>
          <a:prstGeom prst="rect">
            <a:avLst/>
          </a:prstGeom>
          <a:solidFill>
            <a:srgbClr val="DFE5E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956816" y="5586983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他社（推定）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017520" y="5623559"/>
            <a:ext cx="25603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3328415" y="5586983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新規発生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389120" y="5623559"/>
            <a:ext cx="25603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4700016" y="5586983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要確認</a:t>
            </a:r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0E9D625D-7BD2-3E57-7667-52E095331E12}"/>
              </a:ext>
            </a:extLst>
          </p:cNvPr>
          <p:cNvGrpSpPr/>
          <p:nvPr/>
        </p:nvGrpSpPr>
        <p:grpSpPr>
          <a:xfrm>
            <a:off x="8229600" y="1325880"/>
            <a:ext cx="1554480" cy="302434"/>
            <a:chOff x="609600" y="1373966"/>
            <a:chExt cx="3962400" cy="302434"/>
          </a:xfrm>
        </p:grpSpPr>
        <p:sp>
          <p:nvSpPr>
            <p:cNvPr id="5" name="Line 3">
              <a:extLst>
                <a:ext uri="{FF2B5EF4-FFF2-40B4-BE49-F238E27FC236}">
                  <a16:creationId xmlns:a16="http://schemas.microsoft.com/office/drawing/2014/main" id="{9D9CA35A-33F9-A9FF-4985-0EEB2B1212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9600" y="1676400"/>
              <a:ext cx="396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0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7" name="Text Box 4">
              <a:extLst>
                <a:ext uri="{FF2B5EF4-FFF2-40B4-BE49-F238E27FC236}">
                  <a16:creationId xmlns:a16="http://schemas.microsoft.com/office/drawing/2014/main" id="{1FA28364-7533-BAFB-FBBF-538321723A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99084" y="1373966"/>
              <a:ext cx="2181870" cy="2881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36000" tIns="36000" rIns="36000" bIns="36000" anchor="b">
              <a:spAutoFit/>
            </a:bodyPr>
            <a:lstStyle>
              <a:lvl1pPr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1pPr>
              <a:lvl2pPr marL="742950" indent="-28575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2pPr>
              <a:lvl3pPr marL="11430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3pPr>
              <a:lvl4pPr marL="16002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4pPr>
              <a:lvl5pPr marL="20574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未確認事項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</p:grpSp>
      <p:sp>
        <p:nvSpPr>
          <p:cNvPr id="125" name="TextBox 124"/>
          <p:cNvSpPr txBox="1"/>
          <p:nvPr/>
        </p:nvSpPr>
        <p:spPr>
          <a:xfrm>
            <a:off x="8229600" y="1737360"/>
            <a:ext cx="1572768" cy="3291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FF0000"/>
                </a:solidFill>
              </a:rPr>
              <a:t>・ブランドAの詰替の有無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</a:rPr>
              <a:t>・エアレス容器の仕様決定の時期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</a:rPr>
              <a:t>・ポンプ部品の調達先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FF0000"/>
                </a:solidFill>
              </a:rPr>
              <a:t>・海外生産の品目と、容器の調達方針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29184" y="644652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000000"/>
                </a:solidFill>
              </a:rPr>
              <a:t>出所：依頼元の取引実績（架空設定）、公式サイト・求人情報（想定）　　注：他社は公開情報からの推定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タイトル 1">
            <a:extLst>
              <a:ext uri="{FF2B5EF4-FFF2-40B4-BE49-F238E27FC236}">
                <a16:creationId xmlns:a16="http://schemas.microsoft.com/office/drawing/2014/main" id="{A0A9F3C6-F87E-4BD2-0801-535EADD8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28600"/>
            <a:ext cx="9163050" cy="762000"/>
          </a:xfrm>
        </p:spPr>
        <p:txBody>
          <a:bodyPr vert="horz" rIns="36000"/>
          <a:lstStyle/>
          <a:p>
            <a:r>
              <a:rPr kumimoji="1" lang="ja-JP" altLang="en-US"/>
              <a:t>サンプル化粧品株式会社（9）　優先順位と営業アクション</a:t>
            </a:r>
            <a:br>
              <a:rPr kumimoji="1" lang="en-US" altLang="ja-JP"/>
            </a:br>
            <a:br>
              <a:rPr kumimoji="1" lang="en-US" altLang="ja-JP" sz="1800"/>
            </a:br>
            <a:r>
              <a:rPr kumimoji="1" lang="ja-JP" altLang="en-US" sz="1800"/>
              <a:t>優先はブランドAのエアレス容器。11月中にパッケージ開発部へ初回訪問する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8F1CA14-368C-9DBD-826A-E5EE11C666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t>- 9 -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03920" y="45720"/>
            <a:ext cx="12618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000000"/>
                </a:solidFill>
              </a:rPr>
              <a:t>架空企業のサンプル</a:t>
            </a:r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0E9D625D-7BD2-3E57-7667-52E095331E12}"/>
              </a:ext>
            </a:extLst>
          </p:cNvPr>
          <p:cNvGrpSpPr/>
          <p:nvPr/>
        </p:nvGrpSpPr>
        <p:grpSpPr>
          <a:xfrm>
            <a:off x="274320" y="1325880"/>
            <a:ext cx="3383280" cy="302434"/>
            <a:chOff x="609600" y="1373966"/>
            <a:chExt cx="3962400" cy="302434"/>
          </a:xfrm>
        </p:grpSpPr>
        <p:sp>
          <p:nvSpPr>
            <p:cNvPr id="5" name="Line 3">
              <a:extLst>
                <a:ext uri="{FF2B5EF4-FFF2-40B4-BE49-F238E27FC236}">
                  <a16:creationId xmlns:a16="http://schemas.microsoft.com/office/drawing/2014/main" id="{9D9CA35A-33F9-A9FF-4985-0EEB2B1212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9600" y="1676400"/>
              <a:ext cx="396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0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7" name="Text Box 4">
              <a:extLst>
                <a:ext uri="{FF2B5EF4-FFF2-40B4-BE49-F238E27FC236}">
                  <a16:creationId xmlns:a16="http://schemas.microsoft.com/office/drawing/2014/main" id="{1FA28364-7533-BAFB-FBBF-538321723A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99084" y="1373966"/>
              <a:ext cx="2181870" cy="2881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36000" tIns="36000" rIns="36000" bIns="36000" anchor="b">
              <a:spAutoFit/>
            </a:bodyPr>
            <a:lstStyle>
              <a:lvl1pPr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1pPr>
              <a:lvl2pPr marL="742950" indent="-28575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2pPr>
              <a:lvl3pPr marL="11430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3pPr>
              <a:lvl4pPr marL="16002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4pPr>
              <a:lvl5pPr marL="20574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提案テーマの優先順位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</p:grpSp>
      <p:sp>
        <p:nvSpPr>
          <p:cNvPr id="9" name="Rectangle 8"/>
          <p:cNvSpPr/>
          <p:nvPr/>
        </p:nvSpPr>
        <p:spPr>
          <a:xfrm>
            <a:off x="685800" y="1783080"/>
            <a:ext cx="2880360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>
            <a:off x="2125980" y="1783080"/>
            <a:ext cx="0" cy="288036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5800" y="3223260"/>
            <a:ext cx="2880360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700016"/>
            <a:ext cx="2880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確度　→（高い）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" y="1783080"/>
            <a:ext cx="411480" cy="2880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規模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↑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</a:rPr>
              <a:t>大</a:t>
            </a:r>
          </a:p>
        </p:txBody>
      </p:sp>
      <p:sp>
        <p:nvSpPr>
          <p:cNvPr id="14" name="Oval 13"/>
          <p:cNvSpPr/>
          <p:nvPr/>
        </p:nvSpPr>
        <p:spPr>
          <a:xfrm>
            <a:off x="2743200" y="2112264"/>
            <a:ext cx="493776" cy="493776"/>
          </a:xfrm>
          <a:prstGeom prst="ellipse">
            <a:avLst/>
          </a:prstGeom>
          <a:solidFill>
            <a:srgbClr val="4C6C9C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06040" y="2112264"/>
            <a:ext cx="76809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2221991" y="2800807"/>
            <a:ext cx="384048" cy="384048"/>
          </a:xfrm>
          <a:prstGeom prst="ellipse">
            <a:avLst/>
          </a:prstGeom>
          <a:solidFill>
            <a:srgbClr val="6F8DB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084831" y="2800807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530705" y="3232861"/>
            <a:ext cx="384048" cy="384048"/>
          </a:xfrm>
          <a:prstGeom prst="ellipse">
            <a:avLst/>
          </a:prstGeom>
          <a:solidFill>
            <a:srgbClr val="C3CFE1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393545" y="3232861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0000"/>
                </a:solidFill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1078992" y="3904487"/>
            <a:ext cx="365760" cy="365760"/>
          </a:xfrm>
          <a:prstGeom prst="ellipse">
            <a:avLst/>
          </a:prstGeom>
          <a:solidFill>
            <a:srgbClr val="DFE5E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41832" y="3904487"/>
            <a:ext cx="640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00000"/>
                </a:solidFill>
              </a:rPr>
              <a:t>見送り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983480"/>
            <a:ext cx="338328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00000"/>
                </a:solidFill>
              </a:rPr>
              <a:t>1　ブランドAのエアレス容器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000000"/>
                </a:solidFill>
              </a:rPr>
              <a:t>2　ブランドCの本体ボトル再設計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000000"/>
                </a:solidFill>
              </a:rPr>
              <a:t>3　海外生産品の容器供給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000000"/>
                </a:solidFill>
              </a:rPr>
              <a:t>見送り：ブランドDのスティック容器</a:t>
            </a:r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0E9D625D-7BD2-3E57-7667-52E095331E12}"/>
              </a:ext>
            </a:extLst>
          </p:cNvPr>
          <p:cNvGrpSpPr/>
          <p:nvPr/>
        </p:nvGrpSpPr>
        <p:grpSpPr>
          <a:xfrm>
            <a:off x="3886200" y="1325880"/>
            <a:ext cx="5897880" cy="302434"/>
            <a:chOff x="609600" y="1373966"/>
            <a:chExt cx="3962400" cy="302434"/>
          </a:xfrm>
        </p:grpSpPr>
        <p:sp>
          <p:nvSpPr>
            <p:cNvPr id="5" name="Line 3">
              <a:extLst>
                <a:ext uri="{FF2B5EF4-FFF2-40B4-BE49-F238E27FC236}">
                  <a16:creationId xmlns:a16="http://schemas.microsoft.com/office/drawing/2014/main" id="{9D9CA35A-33F9-A9FF-4985-0EEB2B1212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9600" y="1676400"/>
              <a:ext cx="396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0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  <p:sp>
          <p:nvSpPr>
            <p:cNvPr id="7" name="Text Box 4">
              <a:extLst>
                <a:ext uri="{FF2B5EF4-FFF2-40B4-BE49-F238E27FC236}">
                  <a16:creationId xmlns:a16="http://schemas.microsoft.com/office/drawing/2014/main" id="{1FA28364-7533-BAFB-FBBF-538321723A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99084" y="1373966"/>
              <a:ext cx="2181870" cy="2881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36000" tIns="36000" rIns="36000" bIns="36000" anchor="b">
              <a:spAutoFit/>
            </a:bodyPr>
            <a:lstStyle>
              <a:lvl1pPr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1pPr>
              <a:lvl2pPr marL="742950" indent="-28575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2pPr>
              <a:lvl3pPr marL="11430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3pPr>
              <a:lvl4pPr marL="16002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4pPr>
              <a:lvl5pPr marL="2057400" indent="-228600" eaLnBrk="0" hangingPunct="0"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600">
                  <a:solidFill>
                    <a:schemeClr val="tx1"/>
                  </a:solidFill>
                  <a:latin typeface="Arial"/>
                  <a:ea typeface="ＭＳ Ｐゴシック" pitchFamily="50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ＭＳ Ｐゴシック"/>
                  <a:ea typeface="ＭＳ Ｐゴシック"/>
                  <a:cs typeface="+mn-cs"/>
                </a:rPr>
                <a:t>アクションプラン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ＭＳ Ｐゴシック"/>
                <a:ea typeface="ＭＳ Ｐゴシック"/>
                <a:cs typeface="+mn-cs"/>
              </a:endParaRPr>
            </a:p>
          </p:txBody>
        </p:sp>
      </p:grpSp>
      <p:sp>
        <p:nvSpPr>
          <p:cNvPr id="23" name="Rectangle 22"/>
          <p:cNvSpPr/>
          <p:nvPr/>
        </p:nvSpPr>
        <p:spPr>
          <a:xfrm>
            <a:off x="3886200" y="1783080"/>
            <a:ext cx="1051560" cy="310896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886200" y="1783080"/>
            <a:ext cx="10515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0000"/>
                </a:solidFill>
              </a:rPr>
              <a:t>テーマ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60" y="1783080"/>
            <a:ext cx="1325880" cy="310896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0" y="1783080"/>
            <a:ext cx="132588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0000"/>
                </a:solidFill>
              </a:rPr>
              <a:t>対象部門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1783080"/>
            <a:ext cx="2331720" cy="310896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63640" y="1783080"/>
            <a:ext cx="23317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0000"/>
                </a:solidFill>
              </a:rPr>
              <a:t>商談で確認すること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1783080"/>
            <a:ext cx="1188720" cy="310896"/>
          </a:xfrm>
          <a:prstGeom prst="rect">
            <a:avLst/>
          </a:prstGeom>
          <a:solidFill>
            <a:srgbClr val="EAEAE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95360" y="1783080"/>
            <a:ext cx="11887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0000"/>
                </a:solidFill>
              </a:rPr>
              <a:t>次のアクション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86200" y="2093976"/>
            <a:ext cx="10515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886200" y="2093976"/>
            <a:ext cx="1051560" cy="8686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0000"/>
                </a:solidFill>
              </a:rPr>
              <a:t>1 エアレス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37760" y="2093976"/>
            <a:ext cx="13258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937760" y="2093976"/>
            <a:ext cx="1325880" cy="8686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パッケージ開発部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2093976"/>
            <a:ext cx="23317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263640" y="2093976"/>
            <a:ext cx="2331720" cy="8686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リニューアルの日程と、容器仕様の決定時期／評価中のサプライヤー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95360" y="2093976"/>
            <a:ext cx="11887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595360" y="2093976"/>
            <a:ext cx="1188720" cy="8686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0000"/>
                </a:solidFill>
              </a:rPr>
              <a:t>11月：初回訪問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86200" y="2962656"/>
            <a:ext cx="10515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886200" y="2962656"/>
            <a:ext cx="1051560" cy="8686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2 本体再設計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2962656"/>
            <a:ext cx="13258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937760" y="2962656"/>
            <a:ext cx="1325880" cy="8686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購買部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2962656"/>
            <a:ext cx="23317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263640" y="2962656"/>
            <a:ext cx="2331720" cy="8686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再生材の目標比率と時期／付け替え式の検討状況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60" y="2962656"/>
            <a:ext cx="11887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595360" y="2962656"/>
            <a:ext cx="1188720" cy="8686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12月：サンプル提出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86200" y="3831336"/>
            <a:ext cx="10515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886200" y="3831336"/>
            <a:ext cx="1051560" cy="8686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3 海外生産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37760" y="3831336"/>
            <a:ext cx="13258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937760" y="3831336"/>
            <a:ext cx="1325880" cy="8686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海外事業部・購買部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831336"/>
            <a:ext cx="23317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63640" y="3831336"/>
            <a:ext cx="2331720" cy="8686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現地生産の品目／容器の調達方針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95360" y="3831336"/>
            <a:ext cx="11887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595360" y="3831336"/>
            <a:ext cx="1188720" cy="8686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000000"/>
                </a:solidFill>
              </a:rPr>
              <a:t>1月：方針を確認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86200" y="4800600"/>
            <a:ext cx="5897880" cy="1371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</a:rPr>
              <a:t>初回訪問で持ち込むもの（サンプル）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000000"/>
                </a:solidFill>
              </a:rPr>
              <a:t>・既存の化粧水ボトルと意匠をそろえたエアレス容器の試作品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000000"/>
                </a:solidFill>
              </a:rPr>
              <a:t>・再生材ボトルの採用事例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000000"/>
                </a:solidFill>
              </a:rPr>
              <a:t>・中計のプラスチック削減目標に対する、容器別の削減効果の試算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9184" y="644652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000000"/>
                </a:solidFill>
              </a:rPr>
              <a:t>出所：(1)〜(8)の分析（架空）　　注：確度・規模は公開情報と取引実績からの見立て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32687&quot;&gt;&lt;version val=&quot;38748&quot;/&gt;&lt;CPresentation id=&quot;1&quot;&gt;&lt;m_precDefaultOrdinal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3&quot;&gt;&lt;elem m_fUsage=&quot;1.62900000000000000355E+00&quot;&gt;&lt;m_msothmcolidx val=&quot;0&quot;/&gt;&lt;m_rgb r=&quot;8B&quot; g=&quot;09&quot; b=&quot;21&quot;/&gt;&lt;/elem&gt;&lt;elem m_fUsage=&quot;1.00000000000000000000E+00&quot;&gt;&lt;m_msothmcolidx val=&quot;0&quot;/&gt;&lt;m_rgb r=&quot;FE&quot; g=&quot;B4&quot; b=&quot;C4&quot;/&gt;&lt;/elem&gt;&lt;elem m_fUsage=&quot;8.10000000000000053291E-01&quot;&gt;&lt;m_msothmcolidx val=&quot;0&quot;/&gt;&lt;m_rgb r=&quot;8B&quot; g=&quot;53&quot; b=&quot;5A&quot;/&gt;&lt;/elem&gt;&lt;/m_vecMRU&gt;&lt;/m_mruColor&gt;&lt;m_eweekdayFirstOfWeek val=&quot;1&quot;/&gt;&lt;m_eweekdayFirstOfWorkweek val=&quot;2&quot;/&gt;&lt;m_eweekdayFirstOfWeekend val=&quot;7&quot;/&gt;&lt;/CPresentation&gt;&lt;/root&gt;"/>
</p:tagLst>
</file>

<file path=ppt/theme/theme1.xml><?xml version="1.0" encoding="utf-8"?>
<a:theme xmlns:a="http://schemas.openxmlformats.org/drawingml/2006/main" name="標準デザイン">
  <a:themeElements>
    <a:clrScheme name="ユーザー定義 1">
      <a:dk1>
        <a:srgbClr val="111111"/>
      </a:dk1>
      <a:lt1>
        <a:srgbClr val="FFFFFF"/>
      </a:lt1>
      <a:dk2>
        <a:srgbClr val="4A4A4A"/>
      </a:dk2>
      <a:lt2>
        <a:srgbClr val="F2F2F2"/>
      </a:lt2>
      <a:accent1>
        <a:srgbClr val="2E2E2E"/>
      </a:accent1>
      <a:accent2>
        <a:srgbClr val="626262"/>
      </a:accent2>
      <a:accent3>
        <a:srgbClr val="929292"/>
      </a:accent3>
      <a:accent4>
        <a:srgbClr val="BDBDBD"/>
      </a:accent4>
      <a:accent5>
        <a:srgbClr val="D9D9D9"/>
      </a:accent5>
      <a:accent6>
        <a:srgbClr val="EEEEEE"/>
      </a:accent6>
      <a:hlink>
        <a:srgbClr val="2F73FF"/>
      </a:hlink>
      <a:folHlink>
        <a:srgbClr val="7391B2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ln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FFFFFF"/>
        </a:accent1>
        <a:accent2>
          <a:srgbClr val="DDDDDD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FFFFFF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AEAEAE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_標準デザイン">
  <a:themeElements>
    <a:clrScheme name="標準デザイン 2">
      <a:dk1>
        <a:srgbClr val="000000"/>
      </a:dk1>
      <a:lt1>
        <a:srgbClr val="FFFFFF"/>
      </a:lt1>
      <a:dk2>
        <a:srgbClr val="000000"/>
      </a:dk2>
      <a:lt2>
        <a:srgbClr val="333333"/>
      </a:lt2>
      <a:accent1>
        <a:srgbClr val="FFFFFF"/>
      </a:accent1>
      <a:accent2>
        <a:srgbClr val="DDDDDD"/>
      </a:accent2>
      <a:accent3>
        <a:srgbClr val="FFFFFF"/>
      </a:accent3>
      <a:accent4>
        <a:srgbClr val="000000"/>
      </a:accent4>
      <a:accent5>
        <a:srgbClr val="FFFFFF"/>
      </a:accent5>
      <a:accent6>
        <a:srgbClr val="C8C8C8"/>
      </a:accent6>
      <a:hlink>
        <a:srgbClr val="808080"/>
      </a:hlink>
      <a:folHlink>
        <a:srgbClr val="B2B2B2"/>
      </a:folHlink>
    </a:clrScheme>
    <a:fontScheme name="ユーザー定義 1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lnDef>
    <a:txDef>
      <a:spPr bwMode="auto">
        <a:noFill/>
        <a:ln>
          <a:noFill/>
          <a:prstDash val="solid"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>
              <a:solidFill>
                <a:prstClr val="black"/>
              </a:solidFill>
              <a:prstDash val="solid"/>
            </a14:hiddenLine>
          </a:ext>
        </a:extLst>
      </a:spPr>
      <a:bodyPr vert="horz" wrap="square" lIns="91440" tIns="45720" rIns="91440" bIns="45720" rtlCol="0" anchor="t">
        <a:noAutofit/>
      </a:bodyPr>
      <a:lstStyle>
        <a:defPPr marL="266700" indent="-266700" algn="l" fontAlgn="auto">
          <a:spcBef>
            <a:spcPts val="576"/>
          </a:spcBef>
          <a:spcAft>
            <a:spcPts val="0"/>
          </a:spcAft>
          <a:buClr>
            <a:schemeClr val="tx1"/>
          </a:buClr>
          <a:defRPr dirty="0" smtClean="0">
            <a:solidFill>
              <a:srgbClr val="000000"/>
            </a:solidFill>
            <a:latin typeface="+mj-lt"/>
            <a:ea typeface="+mj-ea"/>
          </a:defRPr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FFFFFF"/>
        </a:accent1>
        <a:accent2>
          <a:srgbClr val="DDDDDD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FFFFFF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AEAEAE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2_標準デザイン">
  <a:themeElements>
    <a:clrScheme name="標準デザイン 2">
      <a:dk1>
        <a:srgbClr val="000000"/>
      </a:dk1>
      <a:lt1>
        <a:srgbClr val="FFFFFF"/>
      </a:lt1>
      <a:dk2>
        <a:srgbClr val="000000"/>
      </a:dk2>
      <a:lt2>
        <a:srgbClr val="333333"/>
      </a:lt2>
      <a:accent1>
        <a:srgbClr val="FFFFFF"/>
      </a:accent1>
      <a:accent2>
        <a:srgbClr val="DDDDDD"/>
      </a:accent2>
      <a:accent3>
        <a:srgbClr val="FFFFFF"/>
      </a:accent3>
      <a:accent4>
        <a:srgbClr val="000000"/>
      </a:accent4>
      <a:accent5>
        <a:srgbClr val="FFFFFF"/>
      </a:accent5>
      <a:accent6>
        <a:srgbClr val="C8C8C8"/>
      </a:accent6>
      <a:hlink>
        <a:srgbClr val="808080"/>
      </a:hlink>
      <a:folHlink>
        <a:srgbClr val="B2B2B2"/>
      </a:folHlink>
    </a:clrScheme>
    <a:fontScheme name="ユーザー定義 1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lnDef>
    <a:txDef>
      <a:spPr bwMode="auto">
        <a:noFill/>
        <a:ln>
          <a:noFill/>
          <a:prstDash val="solid"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>
              <a:solidFill>
                <a:prstClr val="black"/>
              </a:solidFill>
              <a:prstDash val="solid"/>
            </a14:hiddenLine>
          </a:ext>
        </a:extLst>
      </a:spPr>
      <a:bodyPr vert="horz" wrap="square" lIns="91440" tIns="45720" rIns="91440" bIns="45720" rtlCol="0" anchor="t">
        <a:noAutofit/>
      </a:bodyPr>
      <a:lstStyle>
        <a:defPPr marL="266700" indent="-266700" algn="l" fontAlgn="auto">
          <a:spcBef>
            <a:spcPts val="576"/>
          </a:spcBef>
          <a:spcAft>
            <a:spcPts val="0"/>
          </a:spcAft>
          <a:buClr>
            <a:schemeClr val="tx1"/>
          </a:buClr>
          <a:defRPr dirty="0" smtClean="0">
            <a:solidFill>
              <a:srgbClr val="000000"/>
            </a:solidFill>
            <a:latin typeface="+mj-lt"/>
            <a:ea typeface="+mj-ea"/>
          </a:defRPr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FFFFFF"/>
        </a:accent1>
        <a:accent2>
          <a:srgbClr val="DDDDDD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FFFFFF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AEAEAE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13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Company>Neunon Consulting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サンプル化粧品株式会社　企業クローズアップ（架空企業による分析サンプル）</dc:title>
  <dc:creator>Neunon Consulting</dc:creator>
</cp:coreProperties>
</file>