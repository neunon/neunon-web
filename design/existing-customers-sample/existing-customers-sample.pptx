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000"/>
          <c:y val="0.10256"/>
          <c:w val="1.00000"/>
          <c:h val="0.76923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事業D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事業C</c:v>
                </c:pt>
              </c:strCache>
            </c:strRef>
          </c:tx>
          <c:spPr>
            <a:solidFill>
              <a:srgbClr val="6B88B4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</c:v>
                </c:pt>
                <c:pt idx="1">
                  <c:v>70</c:v>
                </c:pt>
                <c:pt idx="2">
                  <c:v>78</c:v>
                </c:pt>
                <c:pt idx="3">
                  <c:v>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事業B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事業A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131</c:v>
                </c:pt>
                <c:pt idx="1">
                  <c:v>135</c:v>
                </c:pt>
                <c:pt idx="2">
                  <c:v>143</c:v>
                </c:pt>
                <c:pt idx="3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3.200000000000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678"/>
          <c:y val="0.01786"/>
          <c:w val="0.86441"/>
          <c:h val="0.91071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チャネルE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チャネルD</c:v>
                </c:pt>
              </c:strCache>
            </c:strRef>
          </c:tx>
          <c:spPr>
            <a:solidFill>
              <a:srgbClr val="46628F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10</c:v>
                </c:pt>
                <c:pt idx="2">
                  <c:v>10</c:v>
                </c:pt>
                <c:pt idx="3">
                  <c:v>9</c:v>
                </c:pt>
                <c:pt idx="4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チャネルC</c:v>
                </c:pt>
              </c:strCache>
            </c:strRef>
          </c:tx>
          <c:spPr>
            <a:solidFill>
              <a:srgbClr val="9AAFCD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9</c:v>
                </c:pt>
                <c:pt idx="2">
                  <c:v>11</c:v>
                </c:pt>
                <c:pt idx="3">
                  <c:v>13</c:v>
                </c:pt>
                <c:pt idx="4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チャネルB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14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チャネルA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63</c:v>
                </c:pt>
                <c:pt idx="1">
                  <c:v>63</c:v>
                </c:pt>
                <c:pt idx="2">
                  <c:v>60</c:v>
                </c:pt>
                <c:pt idx="3">
                  <c:v>60</c:v>
                </c:pt>
                <c:pt idx="4">
                  <c:v>56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サンプル化粧品株式会社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サンプル容器株式会社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2026/10/22　（架空企業による分析サンプル）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サンプル化粧品株式会社（1）　会社概要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基本情報・業績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47672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8528" y="1947672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13969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947672"/>
            <a:ext cx="146304" cy="118872"/>
          </a:xfrm>
          <a:prstGeom prst="rect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7121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1568" y="1947672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0273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1336" y="190195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207008" y="2157984"/>
          <a:ext cx="3538728" cy="21396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営業利益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7869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18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（5.3%）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22551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21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（5.9%）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7233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24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（6.3%）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1914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（7.0%）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従業員数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809744"/>
            <a:ext cx="35387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単体：○○○名、連結：○,○○○名（2026/3）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事業概要
経営動向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248656"/>
            <a:ext cx="353872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7216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グループ組織図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157216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サンプルホールディングス株式会社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65492" y="2286000"/>
            <a:ext cx="0" cy="27432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438644" y="2304288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65492" y="298094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29300" y="3163824"/>
            <a:ext cx="30723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29300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884164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子会社A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機能A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65492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420356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子会社B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機能B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901684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956548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70%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子会社C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57216" y="4059936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主な関連会社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157216" y="4370832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212080" y="4443984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4443984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59368" y="4443984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157216" y="4791456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12080" y="4791456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791456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59368" y="4791456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157216" y="5138928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212080" y="5138928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45936" y="5138928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59368" y="5138928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157216" y="5486400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5157216" y="5632704"/>
            <a:ext cx="4416552" cy="60350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5285232" y="5632704"/>
            <a:ext cx="4160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提案の着眼点</a:t>
            </a:r>
          </a:p>
          <a:p>
            <a:pPr algn="l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95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サンプル化粧品株式会社（2）　主要組織図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注：公開情報から提案活動の観点で整理した参考図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536192"/>
            <a:ext cx="146304" cy="118872"/>
          </a:xfrm>
          <a:prstGeom prst="rect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1481328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" y="1773936"/>
            <a:ext cx="146304" cy="118872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技術検討先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51476" y="1810512"/>
            <a:ext cx="0" cy="109728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  <a:r>
              <a:rPr sz="9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氏）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51476" y="2304288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02436" y="2487168"/>
            <a:ext cx="74980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0243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2918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ブランド・企画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7695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20370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研究・開発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95147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7822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調達・品質・生産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部門C-2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2599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95274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販売・顧客接点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70051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782726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経営・全社基盤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9184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部門B-2・部門C-1：提案の起点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1672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599688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部門B-1・部門C-2：技術検討先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14160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742176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部門A-2・部門D-2：関係部署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サンプル化粧品株式会社（3）　販売チャネル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53949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チャネル別売上構成比の推移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539496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29384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0352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7008" y="1929384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08176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84832" y="1929384"/>
            <a:ext cx="146304" cy="118872"/>
          </a:xfrm>
          <a:prstGeom prst="rect">
            <a:avLst/>
          </a:prstGeom>
          <a:solidFill>
            <a:srgbClr val="9AAF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86000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62656" y="1929384"/>
            <a:ext cx="146304" cy="118872"/>
          </a:xfrm>
          <a:prstGeom prst="rect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163824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929384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041648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9184" y="2139696"/>
          <a:ext cx="5394960" cy="40965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4957624" y="4805354"/>
            <a:ext cx="0" cy="560345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911904" y="4805354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11904" y="5365699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30776" y="4856927"/>
            <a:ext cx="6933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＋9pt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1481328"/>
            <a:ext cx="357530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販売チャネルの特徴・戦略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8464" y="1792224"/>
            <a:ext cx="357530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98464" y="1901952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71055" y="1901952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63% → 56%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8464" y="2249424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98464" y="2340864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3346704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1055" y="3346704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7% → 16%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98464" y="3694176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98464" y="3785616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98464" y="4791456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1055" y="4791456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4% → 6%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98464" y="5138928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98464" y="5230368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サンプル化粧品株式会社（4）　商品ラインナップ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注：価格は税込。容器のカテゴリは (7) の列と同じ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ブランドA（事業A）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9184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主な商品：商品A-1〜A-4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4097095"/>
            <a:ext cx="410651" cy="1480744"/>
          </a:xfrm>
          <a:prstGeom prst="rect">
            <a:avLst/>
          </a:prstGeom>
        </p:spPr>
      </p:pic>
      <p:pic>
        <p:nvPicPr>
          <p:cNvPr id="15" name="Picture 14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71" y="4342886"/>
            <a:ext cx="410651" cy="1234953"/>
          </a:xfrm>
          <a:prstGeom prst="rect">
            <a:avLst/>
          </a:prstGeom>
        </p:spPr>
      </p:pic>
      <p:pic>
        <p:nvPicPr>
          <p:cNvPr id="16" name="Picture 15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8231" y="4366866"/>
            <a:ext cx="281761" cy="1210973"/>
          </a:xfrm>
          <a:prstGeom prst="rect">
            <a:avLst/>
          </a:prstGeom>
        </p:spPr>
      </p:pic>
      <p:pic>
        <p:nvPicPr>
          <p:cNvPr id="17" name="Picture 16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4000" y="4963360"/>
            <a:ext cx="659441" cy="6144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9184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8778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5426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21" name="Oval 20"/>
          <p:cNvSpPr/>
          <p:nvPr/>
        </p:nvSpPr>
        <p:spPr>
          <a:xfrm>
            <a:off x="1762506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93624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10997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86050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ブランドB（事業A）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86050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686050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主な商品：商品B-1〜B-3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容器：カテゴリA〜D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86050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classica-lo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2642" y="4154046"/>
            <a:ext cx="455613" cy="1423793"/>
          </a:xfrm>
          <a:prstGeom prst="rect">
            <a:avLst/>
          </a:prstGeom>
        </p:spPr>
      </p:pic>
      <p:pic>
        <p:nvPicPr>
          <p:cNvPr id="29" name="Picture 28" descr="classica-seru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2264" y="4366866"/>
            <a:ext cx="305740" cy="1210973"/>
          </a:xfrm>
          <a:prstGeom prst="rect">
            <a:avLst/>
          </a:prstGeom>
        </p:spPr>
      </p:pic>
      <p:pic>
        <p:nvPicPr>
          <p:cNvPr id="30" name="Picture 29" descr="classica-cre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2012" y="4939381"/>
            <a:ext cx="671430" cy="63845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686050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5644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2292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34" name="Oval 33"/>
          <p:cNvSpPr/>
          <p:nvPr/>
        </p:nvSpPr>
        <p:spPr>
          <a:xfrm>
            <a:off x="411937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293108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466844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42916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ブランドC（事業B）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42916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42916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主な商品：商品C-1〜C-3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容器：カテゴリA・B・F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42916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refre-shampo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538" y="4074614"/>
            <a:ext cx="470601" cy="1503225"/>
          </a:xfrm>
          <a:prstGeom prst="rect">
            <a:avLst/>
          </a:prstGeom>
        </p:spPr>
      </p:pic>
      <p:pic>
        <p:nvPicPr>
          <p:cNvPr id="42" name="Picture 41" descr="refre-treatme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8147" y="4074614"/>
            <a:ext cx="470601" cy="1503225"/>
          </a:xfrm>
          <a:prstGeom prst="rect">
            <a:avLst/>
          </a:prstGeom>
        </p:spPr>
      </p:pic>
      <p:pic>
        <p:nvPicPr>
          <p:cNvPr id="43" name="Picture 42" descr="refre-refi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756" y="4266451"/>
            <a:ext cx="563522" cy="131138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042916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2510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9158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47" name="Oval 46"/>
          <p:cNvSpPr/>
          <p:nvPr/>
        </p:nvSpPr>
        <p:spPr>
          <a:xfrm>
            <a:off x="647623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64997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82371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399782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ブランドD（事業C）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399782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399782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主な商品：商品D-1〜D-3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99782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harenohi-tub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70" y="4246968"/>
            <a:ext cx="353700" cy="1330871"/>
          </a:xfrm>
          <a:prstGeom prst="rect">
            <a:avLst/>
          </a:prstGeom>
        </p:spPr>
      </p:pic>
      <p:pic>
        <p:nvPicPr>
          <p:cNvPr id="55" name="Picture 54" descr="harenohi-spra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3879" y="4390846"/>
            <a:ext cx="329720" cy="1186993"/>
          </a:xfrm>
          <a:prstGeom prst="rect">
            <a:avLst/>
          </a:prstGeom>
        </p:spPr>
      </p:pic>
      <p:pic>
        <p:nvPicPr>
          <p:cNvPr id="56" name="Picture 55" descr="harenohi-stic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7607" y="4666612"/>
            <a:ext cx="269771" cy="9112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399782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9376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36024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</a:t>
            </a:r>
          </a:p>
        </p:txBody>
      </p:sp>
      <p:sp>
        <p:nvSpPr>
          <p:cNvPr id="60" name="Oval 59"/>
          <p:cNvSpPr/>
          <p:nvPr/>
        </p:nvSpPr>
        <p:spPr>
          <a:xfrm>
            <a:off x="883310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00684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9180576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サンプル化粧品株式会社（5）　「ブランドA」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ブランド概要・戦略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457200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1901952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○○億円（2026/3予）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286000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○○商品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主な顧客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2670048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054096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チャネルA、チャネルC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3438144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○,○○○〜○,○○○円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ブランド戦略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3913631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容器戦略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4718303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顧客の声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5522975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1224" y="1481328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商品画像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21224" y="1792224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221224" y="1901952"/>
            <a:ext cx="4352544" cy="23408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773" y="2121408"/>
            <a:ext cx="537607" cy="1938528"/>
          </a:xfrm>
          <a:prstGeom prst="rect">
            <a:avLst/>
          </a:prstGeom>
        </p:spPr>
      </p:pic>
      <p:pic>
        <p:nvPicPr>
          <p:cNvPr id="40" name="Picture 39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397" y="2443187"/>
            <a:ext cx="537607" cy="1616748"/>
          </a:xfrm>
          <a:prstGeom prst="rect">
            <a:avLst/>
          </a:prstGeom>
        </p:spPr>
      </p:pic>
      <p:pic>
        <p:nvPicPr>
          <p:cNvPr id="41" name="Picture 40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021" y="2474581"/>
            <a:ext cx="368869" cy="1585354"/>
          </a:xfrm>
          <a:prstGeom prst="rect">
            <a:avLst/>
          </a:prstGeom>
        </p:spPr>
      </p:pic>
      <p:pic>
        <p:nvPicPr>
          <p:cNvPr id="42" name="Picture 41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906" y="3255486"/>
            <a:ext cx="863312" cy="80444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221224" y="4279392"/>
            <a:ext cx="43525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21224" y="4572000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提案・連携余地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21224" y="4882896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21224" y="4974336"/>
            <a:ext cx="4352544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サンプル化粧品株式会社（6）　直近の事業動向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注：赤は提案に関わる出来事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0712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92240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9184" y="2048256"/>
            <a:ext cx="9244584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956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6994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640330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8109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5147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72185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62622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3300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80338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375029" y="1938528"/>
            <a:ext cx="219456" cy="219456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329309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327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31" name="Oval 30"/>
          <p:cNvSpPr/>
          <p:nvPr/>
        </p:nvSpPr>
        <p:spPr>
          <a:xfrm>
            <a:off x="2915793" y="1938528"/>
            <a:ext cx="219456" cy="219456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870073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4041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34" name="Oval 33"/>
          <p:cNvSpPr/>
          <p:nvPr/>
        </p:nvSpPr>
        <p:spPr>
          <a:xfrm>
            <a:off x="3942969" y="1938528"/>
            <a:ext cx="219456" cy="219456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897249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4121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37" name="Oval 36"/>
          <p:cNvSpPr/>
          <p:nvPr/>
        </p:nvSpPr>
        <p:spPr>
          <a:xfrm>
            <a:off x="5740527" y="1938528"/>
            <a:ext cx="219456" cy="219456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94807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38775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40" name="Oval 39"/>
          <p:cNvSpPr/>
          <p:nvPr/>
        </p:nvSpPr>
        <p:spPr>
          <a:xfrm>
            <a:off x="7024497" y="1938528"/>
            <a:ext cx="219456" cy="219456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978777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2745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43" name="Oval 42"/>
          <p:cNvSpPr/>
          <p:nvPr/>
        </p:nvSpPr>
        <p:spPr>
          <a:xfrm>
            <a:off x="7281291" y="1938528"/>
            <a:ext cx="219456" cy="219456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235571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9539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46" name="Oval 45"/>
          <p:cNvSpPr/>
          <p:nvPr/>
        </p:nvSpPr>
        <p:spPr>
          <a:xfrm>
            <a:off x="7794879" y="1938528"/>
            <a:ext cx="219456" cy="219456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49159" y="1938528"/>
            <a:ext cx="310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312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時期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区分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提案への影響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" y="277977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" y="277977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63" name="Oval 62"/>
          <p:cNvSpPr/>
          <p:nvPr/>
        </p:nvSpPr>
        <p:spPr>
          <a:xfrm>
            <a:off x="1783080" y="2926080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737360" y="2926080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66543" y="277977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9544" y="277977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98464" y="277977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76488" y="277977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中期経営計画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29184" y="327355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9184" y="327355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" y="327355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72" name="Oval 71"/>
          <p:cNvSpPr/>
          <p:nvPr/>
        </p:nvSpPr>
        <p:spPr>
          <a:xfrm>
            <a:off x="1783080" y="3419856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737360" y="341985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66543" y="327355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9544" y="327355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98464" y="327355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76488" y="327355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29184" y="3767328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29184" y="3767328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6424" y="3767328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81" name="Oval 80"/>
          <p:cNvSpPr/>
          <p:nvPr/>
        </p:nvSpPr>
        <p:spPr>
          <a:xfrm>
            <a:off x="1783080" y="3913631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737360" y="3913631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6543" y="3767328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09544" y="3767328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98464" y="3767328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76488" y="3767328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業界紙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29184" y="4261104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29184" y="4261104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6424" y="4261104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海外</a:t>
            </a:r>
          </a:p>
        </p:txBody>
      </p:sp>
      <p:sp>
        <p:nvSpPr>
          <p:cNvPr id="90" name="Oval 89"/>
          <p:cNvSpPr/>
          <p:nvPr/>
        </p:nvSpPr>
        <p:spPr>
          <a:xfrm>
            <a:off x="1783080" y="4407407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737360" y="4407407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66543" y="4261104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09544" y="4261104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98464" y="4261104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76488" y="4261104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329184" y="4754880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329184" y="4754880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06424" y="4754880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99" name="Oval 98"/>
          <p:cNvSpPr/>
          <p:nvPr/>
        </p:nvSpPr>
        <p:spPr>
          <a:xfrm>
            <a:off x="1783080" y="4901183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737360" y="4901183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66543" y="4754880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09544" y="4754880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4754880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76488" y="4754880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求人情報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329184" y="524865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329184" y="524865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6424" y="524865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08" name="Oval 107"/>
          <p:cNvSpPr/>
          <p:nvPr/>
        </p:nvSpPr>
        <p:spPr>
          <a:xfrm>
            <a:off x="1783080" y="5394959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737360" y="5394959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66543" y="524865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出来事F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09544" y="524865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98464" y="524865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76488" y="524865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人事発表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329184" y="574243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29184" y="574243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06424" y="574243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17" name="Oval 116"/>
          <p:cNvSpPr/>
          <p:nvPr/>
        </p:nvSpPr>
        <p:spPr>
          <a:xfrm>
            <a:off x="1783080" y="5888736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737360" y="588873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66543" y="574243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09544" y="574243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98464" y="574243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76488" y="574243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329184" y="6236208"/>
            <a:ext cx="92445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サンプル化粧品株式会社（7）　既存取引との照合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注：他社は公開情報からの推定。カテゴリは容器の種類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商品A-1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300984" y="186537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商品C-1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85432" y="3895344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2026/6〜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その他・新規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1508760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404872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093207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29184" y="6053327"/>
            <a:ext cx="237744" cy="137160"/>
          </a:xfrm>
          <a:prstGeom prst="rect">
            <a:avLst/>
          </a:prstGeom>
          <a:solidFill>
            <a:srgbClr val="46628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3093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655064" y="6053327"/>
            <a:ext cx="237744" cy="137160"/>
          </a:xfrm>
          <a:prstGeom prst="rect">
            <a:avLst/>
          </a:prstGeom>
          <a:solidFill>
            <a:srgbClr val="E1E7F0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195681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98094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328269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30682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460857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19288" y="1481328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区画の数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19288" y="1792224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8019288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41080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6628F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019288" y="2432304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8019288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13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8019288" y="3035808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8019288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41080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8019288" y="3639312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8019288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641080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8019288" y="4242816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019288" y="4443984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未確認事項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8019288" y="4754880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019288" y="4846320"/>
            <a:ext cx="155448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サンプル化粧品株式会社（8）　提案・連携余地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20116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20116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23744" y="1481328"/>
            <a:ext cx="32461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根拠となる事実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1792224"/>
            <a:ext cx="324612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52744" y="1481328"/>
            <a:ext cx="22402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提案の切り口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1792224"/>
            <a:ext cx="22402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75904" y="1481328"/>
            <a:ext cx="11978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対象商品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75904" y="1792224"/>
            <a:ext cx="11978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9184" y="1975104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75488" y="2432304"/>
            <a:ext cx="384048" cy="384048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2432304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1975104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1975104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1975104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75904" y="1975104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minamo-se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5050" y="2265141"/>
            <a:ext cx="209099" cy="898682"/>
          </a:xfrm>
          <a:prstGeom prst="rect">
            <a:avLst/>
          </a:prstGeom>
        </p:spPr>
      </p:pic>
      <p:pic>
        <p:nvPicPr>
          <p:cNvPr id="26" name="Picture 25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870" y="2247345"/>
            <a:ext cx="304751" cy="916478"/>
          </a:xfrm>
          <a:prstGeom prst="rect">
            <a:avLst/>
          </a:prstGeom>
        </p:spPr>
      </p:pic>
      <p:cxnSp>
        <p:nvCxnSpPr>
          <p:cNvPr id="27" name="Connector 26"/>
          <p:cNvCxnSpPr/>
          <p:nvPr/>
        </p:nvCxnSpPr>
        <p:spPr>
          <a:xfrm>
            <a:off x="329184" y="3346704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29184" y="3419856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75488" y="3877056"/>
            <a:ext cx="384048" cy="384048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3877056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419856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419856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3419856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75904" y="3419856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256" y="3493008"/>
            <a:ext cx="349240" cy="1115568"/>
          </a:xfrm>
          <a:prstGeom prst="rect">
            <a:avLst/>
          </a:prstGeom>
        </p:spPr>
      </p:pic>
      <p:pic>
        <p:nvPicPr>
          <p:cNvPr id="36" name="Picture 35" descr="refre-re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216" y="3635373"/>
            <a:ext cx="418198" cy="973202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329184" y="4791456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29184" y="4864608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75488" y="5321808"/>
            <a:ext cx="384048" cy="38404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29768" y="5321808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" y="4864608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23744" y="4864608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52744" y="4864608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75904" y="4864608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harenohi-tu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0631" y="5065666"/>
            <a:ext cx="262486" cy="987661"/>
          </a:xfrm>
          <a:prstGeom prst="rect">
            <a:avLst/>
          </a:prstGeom>
        </p:spPr>
      </p:pic>
      <p:pic>
        <p:nvPicPr>
          <p:cNvPr id="46" name="Picture 45" descr="harenohi-st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838" y="5377091"/>
            <a:ext cx="200201" cy="6762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サンプル化粧品株式会社（9）　優先順位と営業アクション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1188720" cy="211636"/>
          </a:xfrm>
        </p:spPr>
        <p:txBody>
          <a:bodyPr wrap="none"/>
          <a:lstStyle/>
          <a:p>
            <a:r>
              <a:rPr sz="90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2026/10/22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注：確度・規模は公開情報と取引実績からの見立て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481328"/>
            <a:ext cx="36118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提案テーマの優先順位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" y="1792224"/>
            <a:ext cx="36118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94944" y="1920240"/>
            <a:ext cx="32461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318004" y="1920240"/>
            <a:ext cx="1623060" cy="1828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2318004" y="1920240"/>
            <a:ext cx="0" cy="365760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" y="3749039"/>
            <a:ext cx="324612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318004" y="1975104"/>
            <a:ext cx="15499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優先して着手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1920240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347472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規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5358383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614416"/>
            <a:ext cx="3246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確度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30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5998464"/>
            <a:ext cx="36118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円の大きさは想定される取引の規模</a:t>
            </a:r>
          </a:p>
        </p:txBody>
      </p:sp>
      <p:sp>
        <p:nvSpPr>
          <p:cNvPr id="24" name="Oval 23"/>
          <p:cNvSpPr/>
          <p:nvPr/>
        </p:nvSpPr>
        <p:spPr>
          <a:xfrm>
            <a:off x="2851099" y="2340864"/>
            <a:ext cx="621792" cy="621792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805379" y="2340864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0475" y="2990088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27" name="Oval 26"/>
          <p:cNvSpPr/>
          <p:nvPr/>
        </p:nvSpPr>
        <p:spPr>
          <a:xfrm>
            <a:off x="2395728" y="2880360"/>
            <a:ext cx="493776" cy="493776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350008" y="2880360"/>
            <a:ext cx="5852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096" y="3401568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30" name="Oval 29"/>
          <p:cNvSpPr/>
          <p:nvPr/>
        </p:nvSpPr>
        <p:spPr>
          <a:xfrm>
            <a:off x="1588312" y="3831335"/>
            <a:ext cx="420624" cy="420624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542592" y="3831335"/>
            <a:ext cx="5120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7104" y="427939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33" name="Oval 32"/>
          <p:cNvSpPr/>
          <p:nvPr/>
        </p:nvSpPr>
        <p:spPr>
          <a:xfrm>
            <a:off x="1188720" y="4764024"/>
            <a:ext cx="310896" cy="310896"/>
          </a:xfrm>
          <a:prstGeom prst="ellipse">
            <a:avLst/>
          </a:prstGeom>
          <a:solidFill>
            <a:srgbClr val="E1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43000" y="4764024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0235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テーマD（見送り）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61104" y="148132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アクションプラン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261104" y="1792224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対象部門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商談で確認すること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次のアクション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2194560"/>
            <a:ext cx="5312664" cy="9144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325112" y="2514600"/>
            <a:ext cx="274320" cy="274320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279392" y="25146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21945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0096" y="21945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21945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3919" y="21945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○月：初回訪問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61104" y="31089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325112" y="3429000"/>
            <a:ext cx="274320" cy="274320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279392" y="34290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31089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0096" y="31089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37376" y="31089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19" y="31089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○月：サンプル提出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61104" y="40233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325112" y="4343400"/>
            <a:ext cx="274320" cy="274320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279392" y="43434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40233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0096" y="40233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37376" y="40233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19" y="40233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○月：方針の確認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261104" y="4937760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61104" y="504748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初回訪問で持ち込むもの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261104" y="5358383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261104" y="5449824"/>
            <a:ext cx="53126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