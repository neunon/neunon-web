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業務用</c:v>
                </c:pt>
              </c:strCache>
            </c:strRef>
          </c:tx>
          <c:spPr>
            <a:solidFill>
              <a:srgbClr val="6F8DB9"/>
            </a:solidFill>
            <a:ln w="6350">
              <a:solidFill>
                <a:srgbClr val="404040"/>
              </a:solidFill>
            </a:ln>
          </c:spPr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34</c:v>
                </c:pt>
                <c:pt idx="2">
                  <c:v>40</c:v>
                </c:pt>
                <c:pt idx="3">
                  <c:v>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調味料</c:v>
                </c:pt>
              </c:strCache>
            </c:strRef>
          </c:tx>
          <c:spPr>
            <a:solidFill>
              <a:srgbClr val="9DB1CF"/>
            </a:solidFill>
            <a:ln w="6350">
              <a:solidFill>
                <a:srgbClr val="404040"/>
              </a:solidFill>
            </a:ln>
          </c:spPr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1A1A1A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</c:v>
                </c:pt>
                <c:pt idx="1">
                  <c:v>53</c:v>
                </c:pt>
                <c:pt idx="2">
                  <c:v>52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チルド惣菜</c:v>
                </c:pt>
              </c:strCache>
            </c:strRef>
          </c:tx>
          <c:spPr>
            <a:solidFill>
              <a:srgbClr val="C3CFE1"/>
            </a:solidFill>
            <a:ln w="6350">
              <a:solidFill>
                <a:srgbClr val="404040"/>
              </a:solidFill>
            </a:ln>
          </c:spPr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1A1A1A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61</c:v>
                </c:pt>
                <c:pt idx="1">
                  <c:v>62</c:v>
                </c:pt>
                <c:pt idx="2">
                  <c:v>63</c:v>
                </c:pt>
                <c:pt idx="3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冷凍食品</c:v>
                </c:pt>
              </c:strCache>
            </c:strRef>
          </c:tx>
          <c:spPr>
            <a:solidFill>
              <a:srgbClr val="DFE5EF"/>
            </a:solidFill>
            <a:ln w="6350">
              <a:solidFill>
                <a:srgbClr val="404040"/>
              </a:solidFill>
            </a:ln>
          </c:spPr>
          <c:dLbls>
            <c:numFmt formatCode="0" sourceLinked="0"/>
            <c:txPr>
              <a:bodyPr/>
              <a:lstStyle/>
              <a:p>
                <a:pPr>
                  <a:defRPr sz="900">
                    <a:solidFill>
                      <a:srgbClr val="1A1A1A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2026予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68</c:v>
                </c:pt>
                <c:pt idx="1">
                  <c:v>79</c:v>
                </c:pt>
                <c:pt idx="2">
                  <c:v>96</c:v>
                </c:pt>
                <c:pt idx="3">
                  <c:v>113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91714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ミオリ食品株式会社（架空）（1）　会社概要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86384"/>
            <a:ext cx="935431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冷凍食品を成長の柱に、3年で売上を約2割伸ばした関東の中堅食品メーカー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7072" y="73152"/>
            <a:ext cx="120700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架空サンプル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547104"/>
            <a:ext cx="7498079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出所：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架空の決算公告・会社案内・プレスリリースを想定して作成。数値・出来事・商品はすべて架空（実在企業の情報ではない）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47104"/>
            <a:ext cx="10972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2026/10 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7968" y="6547104"/>
            <a:ext cx="75895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- 1 -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4434840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5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基本情報・業績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" y="1737360"/>
            <a:ext cx="4434839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074920" y="1371600"/>
            <a:ext cx="4526280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5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特徴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737360"/>
            <a:ext cx="4526280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274320" y="1865376"/>
            <a:ext cx="384048" cy="2697480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 vert="eaVert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売上・利益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828800"/>
            <a:ext cx="1097280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単位：億円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13232" y="2011680"/>
          <a:ext cx="2852928" cy="239572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67765" y="2485752"/>
            <a:ext cx="603504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1503" y="2383646"/>
            <a:ext cx="603504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5240" y="2236870"/>
            <a:ext cx="603504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978" y="2077330"/>
            <a:ext cx="603504" cy="21945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276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21024" y="2121408"/>
            <a:ext cx="182880" cy="146304"/>
          </a:xfrm>
          <a:prstGeom prst="rect">
            <a:avLst/>
          </a:prstGeom>
          <a:solidFill>
            <a:srgbClr val="DFE5EF"/>
          </a:solidFill>
          <a:ln w="63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58768" y="2066543"/>
            <a:ext cx="173736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21024" y="2368296"/>
            <a:ext cx="182880" cy="146304"/>
          </a:xfrm>
          <a:prstGeom prst="rect">
            <a:avLst/>
          </a:prstGeom>
          <a:solidFill>
            <a:srgbClr val="C3CFE1"/>
          </a:solidFill>
          <a:ln w="63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2313432"/>
            <a:ext cx="173736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チルド惣菜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21024" y="2615184"/>
            <a:ext cx="182880" cy="146304"/>
          </a:xfrm>
          <a:prstGeom prst="rect">
            <a:avLst/>
          </a:prstGeom>
          <a:solidFill>
            <a:srgbClr val="9DB1CF"/>
          </a:solidFill>
          <a:ln w="63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58768" y="2560320"/>
            <a:ext cx="173736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調味料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21024" y="2862072"/>
            <a:ext cx="182880" cy="146304"/>
          </a:xfrm>
          <a:prstGeom prst="rect">
            <a:avLst/>
          </a:prstGeom>
          <a:solidFill>
            <a:srgbClr val="6F8DB9"/>
          </a:solidFill>
          <a:ln w="635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58768" y="2807208"/>
            <a:ext cx="173736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1024" y="3200400"/>
            <a:ext cx="109728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0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営業利益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2023　9.8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2024　11.2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2025　12.9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2026予　14.6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636008"/>
            <a:ext cx="1097280" cy="310896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従業員数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636008"/>
            <a:ext cx="320040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640名（2026/3、単体）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020056"/>
            <a:ext cx="1097280" cy="310896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上場区分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5020056"/>
            <a:ext cx="3200400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非上場（創業家が過半を保有）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04104"/>
            <a:ext cx="1097280" cy="914400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事業内容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17320" y="5358384"/>
            <a:ext cx="3310128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冷凍食品・チルド惣菜・調味料の製造販売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外食・中食向けの業務用食品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埼玉・群馬に3工場、関西に配送拠点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1865376"/>
            <a:ext cx="987552" cy="2395728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特徴・強み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1810512"/>
            <a:ext cx="3493008" cy="248716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冷凍ギョーザ「羽根つき一番」が主力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冷凍食品売上の約4割を占める看板商品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冷凍食品の売上比率は32%→41%（2023→26予）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中計で2028年度に50%を目標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具材の下処理から包装まで自社工場で完結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チルドと冷凍の両温度帯を持ち、量販の惣菜売場と冷凍売場の双方に棚を持つ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創業家の社長が経営判断を主導、投資判断は比較的速い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2026年4月に物流部を新設し、配送体制を見直し中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物流企画職の求人で「委託先の再編」に言及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74920" y="4334256"/>
            <a:ext cx="987552" cy="1993392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顧客・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販売チャネル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44768" y="4279392"/>
            <a:ext cx="3493008" cy="2103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量販店（関東・関西のSM）が売上の約6割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CVS向けはPB惣菜を中心に約1割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業務用は外食チェーン・弁当事業者向け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2026年度から関西・中部の外食へ拡販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2025年10月に公式ECを開設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ふるさと納税の返礼品にも冷凍ギョーザを提供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91714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ミオリ食品株式会社（架空）（2）　商品ラインナップ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86384"/>
            <a:ext cx="935431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冷凍とチルドの2温度帯を持ち、冷凍は量販・EC・業務用へ販路が広がっている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7072" y="73152"/>
            <a:ext cx="120700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架空サンプル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498079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出所：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架空の自社サイト・商品カタログを想定して作成。数値・出来事・商品はすべて架空（実在企業の情報ではない）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注：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*1. 店頭想定価格（税込）。温度帯は冷凍＝−18℃以下、チルド＝10℃以下、常温＝温度管理不要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47104"/>
            <a:ext cx="10972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2026/10 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7968" y="6547104"/>
            <a:ext cx="75895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- 2 -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353312"/>
            <a:ext cx="2258568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4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6032" y="1719072"/>
            <a:ext cx="2258568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56032" y="1810512"/>
            <a:ext cx="2258568" cy="2651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冷凍ギョーザ・炒飯・麺の3本柱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羽根つき一番、香ばし炒飯、讃岐風うどん など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298〜498円*1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冷凍（−18℃以下）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量販・CVSに加え、ECとふるさと納税へ拡大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群馬第2工場の稼働で生産量が約1.5倍に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物流の接点が最も大きく、伸びも大きい</a:t>
            </a:r>
          </a:p>
        </p:txBody>
      </p:sp>
      <p:pic>
        <p:nvPicPr>
          <p:cNvPr id="11" name="Picture 10" descr="frozen-gyoza-tr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4902288"/>
            <a:ext cx="697991" cy="986447"/>
          </a:xfrm>
          <a:prstGeom prst="rect">
            <a:avLst/>
          </a:prstGeom>
        </p:spPr>
      </p:pic>
      <p:pic>
        <p:nvPicPr>
          <p:cNvPr id="12" name="Picture 11" descr="frozen-friedrice-tr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" y="4902288"/>
            <a:ext cx="697991" cy="986447"/>
          </a:xfrm>
          <a:prstGeom prst="rect">
            <a:avLst/>
          </a:prstGeom>
        </p:spPr>
      </p:pic>
      <p:pic>
        <p:nvPicPr>
          <p:cNvPr id="13" name="Picture 12" descr="frozen-udon-tri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0032" y="4902288"/>
            <a:ext cx="697991" cy="98644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56032" y="5980176"/>
            <a:ext cx="2258568" cy="310896"/>
          </a:xfrm>
          <a:prstGeom prst="rect">
            <a:avLst/>
          </a:prstGeom>
          <a:solidFill>
            <a:srgbClr val="3F5A8A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" y="5980176"/>
            <a:ext cx="2258568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FFFFFF"/>
                </a:solidFill>
                <a:latin typeface="Arial"/>
                <a:ea typeface="ＭＳ Ｐゴシック"/>
                <a:cs typeface="ＭＳ Ｐゴシック"/>
              </a:rPr>
              <a:t>物流の接点：大　物量の伸び：大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353312"/>
            <a:ext cx="2258568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4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チルド惣菜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78608" y="1719072"/>
            <a:ext cx="2258568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78608" y="1810512"/>
            <a:ext cx="2258568" cy="2651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焼くだけ餃子、ポテトサラダ、きんぴら等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198〜398円*1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チルド（10℃以下）、賞味期限3〜5日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量販の惣菜売場向けに毎日納品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当社が関西の配送を担当中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売上は横ばいで、物量の伸びは小さい</a:t>
            </a:r>
          </a:p>
        </p:txBody>
      </p:sp>
      <p:pic>
        <p:nvPicPr>
          <p:cNvPr id="19" name="Picture 18" descr="chilled-gyoza-tri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5184" y="4890882"/>
            <a:ext cx="1317553" cy="997853"/>
          </a:xfrm>
          <a:prstGeom prst="rect">
            <a:avLst/>
          </a:prstGeom>
        </p:spPr>
      </p:pic>
      <p:pic>
        <p:nvPicPr>
          <p:cNvPr id="20" name="Picture 19" descr="chilled-salad-tri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8458" y="4890882"/>
            <a:ext cx="822141" cy="997853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578608" y="5980176"/>
            <a:ext cx="2258568" cy="310896"/>
          </a:xfrm>
          <a:prstGeom prst="rect">
            <a:avLst/>
          </a:prstGeom>
          <a:solidFill>
            <a:srgbClr val="9DB1CF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78608" y="5980176"/>
            <a:ext cx="2258568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当社取引中　物量は横ばい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1184" y="1353312"/>
            <a:ext cx="2258568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4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調味料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01184" y="1719072"/>
            <a:ext cx="2258568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901184" y="1810512"/>
            <a:ext cx="2258568" cy="2651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餃子のたれ、そばつゆ、胡麻ドレッシング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198〜548円*1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常温（温度管理不要）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冷凍ギョーザとの同梱・セット販売あり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常温品のため当社の強みは出にくい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EC向けの冷凍品との同梱出荷は論点</a:t>
            </a:r>
          </a:p>
        </p:txBody>
      </p:sp>
      <p:pic>
        <p:nvPicPr>
          <p:cNvPr id="26" name="Picture 25" descr="sauce-gyoza-tr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4474876"/>
            <a:ext cx="652265" cy="1413859"/>
          </a:xfrm>
          <a:prstGeom prst="rect">
            <a:avLst/>
          </a:prstGeom>
        </p:spPr>
      </p:pic>
      <p:pic>
        <p:nvPicPr>
          <p:cNvPr id="27" name="Picture 26" descr="sauce-tsuyu-tri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35745" y="4474876"/>
            <a:ext cx="720855" cy="1413859"/>
          </a:xfrm>
          <a:prstGeom prst="rect">
            <a:avLst/>
          </a:prstGeom>
        </p:spPr>
      </p:pic>
      <p:pic>
        <p:nvPicPr>
          <p:cNvPr id="28" name="Picture 27" descr="sauce-dressing-trim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2320" y="4474876"/>
            <a:ext cx="720855" cy="141385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901184" y="5980176"/>
            <a:ext cx="2258568" cy="310896"/>
          </a:xfrm>
          <a:prstGeom prst="rect">
            <a:avLst/>
          </a:prstGeom>
          <a:solidFill>
            <a:srgbClr val="EAEAEA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01184" y="5980176"/>
            <a:ext cx="2258568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物流の接点：小（常温）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1353312"/>
            <a:ext cx="2258568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4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23760" y="1719072"/>
            <a:ext cx="2258568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223760" y="1810512"/>
            <a:ext cx="2258568" cy="2651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業務用冷凍ギョーザ（50個入）、スープの素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外食チェーン・弁当事業者向け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冷凍が中心、ケース単位の多店舗配送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2026年度から関西・中部の外食へ拡販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店舗別の定期配送が新たに発生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当社の関西配送網と重なる</a:t>
            </a:r>
          </a:p>
        </p:txBody>
      </p:sp>
      <p:pic>
        <p:nvPicPr>
          <p:cNvPr id="34" name="Picture 33" descr="bulk-gyoza-tri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0336" y="4577051"/>
            <a:ext cx="1069847" cy="1311684"/>
          </a:xfrm>
          <a:prstGeom prst="rect">
            <a:avLst/>
          </a:prstGeom>
        </p:spPr>
      </p:pic>
      <p:pic>
        <p:nvPicPr>
          <p:cNvPr id="35" name="Picture 34" descr="bulk-soup-trim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5904" y="4577051"/>
            <a:ext cx="1069847" cy="131168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7223760" y="5980176"/>
            <a:ext cx="2258568" cy="310896"/>
          </a:xfrm>
          <a:prstGeom prst="rect">
            <a:avLst/>
          </a:prstGeom>
          <a:solidFill>
            <a:srgbClr val="6F8DB9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5980176"/>
            <a:ext cx="2258568" cy="31089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FFFFFF"/>
                </a:solidFill>
                <a:latin typeface="Arial"/>
                <a:ea typeface="ＭＳ Ｐゴシック"/>
                <a:cs typeface="ＭＳ Ｐゴシック"/>
              </a:rPr>
              <a:t>物流の接点：中　新規に発生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91714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ミオリ食品株式会社（架空）（3）　直近の動向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86384"/>
            <a:ext cx="935431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中計で冷凍比率50%を掲げ、新工場・EC・業務用の3方面で冷凍の物量が増える局面にある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7072" y="73152"/>
            <a:ext cx="120700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架空サンプル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498079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出所：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架空のプレスリリース・中期経営計画を想定して作成。数値・出来事・商品はすべて架空（実在企業の情報ではない）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注：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*1. 冷凍食品の売上・生産能力から推計した出荷量の伸び。実際の物量は要確認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47104"/>
            <a:ext cx="10972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2026/10 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7968" y="6547104"/>
            <a:ext cx="75895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- 3 -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53312"/>
            <a:ext cx="9354312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5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主な出来事（2024〜2026年）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" y="1719072"/>
            <a:ext cx="9354312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57200" y="2212848"/>
            <a:ext cx="9006840" cy="0"/>
          </a:xfrm>
          <a:prstGeom prst="line">
            <a:avLst/>
          </a:prstGeom>
          <a:ln w="25400">
            <a:solidFill>
              <a:srgbClr val="3F5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78992" y="2139696"/>
            <a:ext cx="155448" cy="155448"/>
          </a:xfrm>
          <a:prstGeom prst="ellipse">
            <a:avLst/>
          </a:prstGeom>
          <a:solidFill>
            <a:srgbClr val="3F5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810512"/>
            <a:ext cx="176479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1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2024/04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432304"/>
            <a:ext cx="176479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487168"/>
            <a:ext cx="1728216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中期経営計画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「冷凍シフト2028」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3017520"/>
            <a:ext cx="1307592" cy="0"/>
          </a:xfrm>
          <a:prstGeom prst="line">
            <a:avLst/>
          </a:prstGeom>
          <a:ln w="635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" y="3054096"/>
            <a:ext cx="172821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冷凍食品の売上比率を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2028年度に50%へ</a:t>
            </a:r>
          </a:p>
        </p:txBody>
      </p:sp>
      <p:sp>
        <p:nvSpPr>
          <p:cNvPr id="17" name="Oval 16"/>
          <p:cNvSpPr/>
          <p:nvPr/>
        </p:nvSpPr>
        <p:spPr>
          <a:xfrm>
            <a:off x="2953511" y="2139696"/>
            <a:ext cx="155448" cy="155448"/>
          </a:xfrm>
          <a:prstGeom prst="ellipse">
            <a:avLst/>
          </a:prstGeom>
          <a:solidFill>
            <a:srgbClr val="6F8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39" y="1810512"/>
            <a:ext cx="176479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1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2025/03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39" y="2432304"/>
            <a:ext cx="176479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7" y="2487168"/>
            <a:ext cx="1728216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群馬第2工場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着工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77439" y="3017520"/>
            <a:ext cx="1307592" cy="0"/>
          </a:xfrm>
          <a:prstGeom prst="line">
            <a:avLst/>
          </a:prstGeom>
          <a:ln w="635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167127" y="3054096"/>
            <a:ext cx="172821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冷凍ギョーザ・冷凍麺の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専用ライン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1" y="2139696"/>
            <a:ext cx="155448" cy="155448"/>
          </a:xfrm>
          <a:prstGeom prst="ellipse">
            <a:avLst/>
          </a:prstGeom>
          <a:solidFill>
            <a:srgbClr val="6F8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59" y="1810512"/>
            <a:ext cx="176479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1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2025/10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59" y="2432304"/>
            <a:ext cx="176479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41647" y="2487168"/>
            <a:ext cx="1728216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公式EC開設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ふるさと納税参入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251959" y="3017520"/>
            <a:ext cx="1307592" cy="0"/>
          </a:xfrm>
          <a:prstGeom prst="line">
            <a:avLst/>
          </a:prstGeom>
          <a:ln w="635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041647" y="3054096"/>
            <a:ext cx="172821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冷凍ギョーザを中心に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個人宅へ直送</a:t>
            </a:r>
          </a:p>
        </p:txBody>
      </p:sp>
      <p:sp>
        <p:nvSpPr>
          <p:cNvPr id="29" name="Oval 28"/>
          <p:cNvSpPr/>
          <p:nvPr/>
        </p:nvSpPr>
        <p:spPr>
          <a:xfrm>
            <a:off x="6702551" y="2139696"/>
            <a:ext cx="155448" cy="155448"/>
          </a:xfrm>
          <a:prstGeom prst="ellipse">
            <a:avLst/>
          </a:prstGeom>
          <a:solidFill>
            <a:srgbClr val="3F5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79" y="1810512"/>
            <a:ext cx="176479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1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2026/04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97879" y="2432304"/>
            <a:ext cx="176479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16167" y="2487168"/>
            <a:ext cx="1728216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群馬第2工場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稼働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126479" y="3017520"/>
            <a:ext cx="1307592" cy="0"/>
          </a:xfrm>
          <a:prstGeom prst="line">
            <a:avLst/>
          </a:prstGeom>
          <a:ln w="635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16167" y="3054096"/>
            <a:ext cx="172821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冷凍の生産能力が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約1.5倍に</a:t>
            </a:r>
          </a:p>
        </p:txBody>
      </p:sp>
      <p:sp>
        <p:nvSpPr>
          <p:cNvPr id="35" name="Oval 34"/>
          <p:cNvSpPr/>
          <p:nvPr/>
        </p:nvSpPr>
        <p:spPr>
          <a:xfrm>
            <a:off x="8577072" y="2139696"/>
            <a:ext cx="155448" cy="155448"/>
          </a:xfrm>
          <a:prstGeom prst="ellipse">
            <a:avLst/>
          </a:prstGeom>
          <a:solidFill>
            <a:srgbClr val="6F8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1810512"/>
            <a:ext cx="1764792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1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2026/06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0" y="2432304"/>
            <a:ext cx="176479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8" y="2487168"/>
            <a:ext cx="1728216" cy="512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業務用の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関西・中部拡販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001000" y="3017520"/>
            <a:ext cx="1307592" cy="0"/>
          </a:xfrm>
          <a:prstGeom prst="line">
            <a:avLst/>
          </a:prstGeom>
          <a:ln w="6350">
            <a:solidFill>
              <a:srgbClr val="A0A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790688" y="3054096"/>
            <a:ext cx="1728216" cy="53035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外食チェーン3社と</a:t>
            </a:r>
          </a:p>
          <a:p>
            <a:pPr algn="ctr">
              <a:lnSpc>
                <a:spcPct val="92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供給開始（予定）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3712463"/>
            <a:ext cx="9354312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5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動向が当社（低温物流）の領域に与える影響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74320" y="4078224"/>
            <a:ext cx="9354312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274320" y="4261104"/>
            <a:ext cx="2103120" cy="274320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動向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32304" y="4261104"/>
            <a:ext cx="4187952" cy="274320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物流への影響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75120" y="4261104"/>
            <a:ext cx="1517904" cy="274320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物量の伸び*1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47888" y="4261104"/>
            <a:ext cx="1371600" cy="274320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当社の現状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8" y="4590288"/>
            <a:ext cx="210312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群馬第2工場の稼働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32304" y="4590288"/>
            <a:ext cx="420624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【推察】関東発の冷凍品の保管・横持ち・量販センター配送が増える。既存の冷凍倉庫の容量が不足する可能性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590288"/>
            <a:ext cx="1517904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大（約1.5倍）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47888" y="4590288"/>
            <a:ext cx="137160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未取引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74320" y="5102351"/>
            <a:ext cx="9345168" cy="0"/>
          </a:xfrm>
          <a:prstGeom prst="line">
            <a:avLst/>
          </a:prstGeom>
          <a:ln w="6350">
            <a:solidFill>
              <a:srgbClr val="909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2608" y="5138927"/>
            <a:ext cx="210312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公式EC・ふるさと納税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32304" y="5138927"/>
            <a:ext cx="420624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【推察】冷凍の個人宅向け小口配送が新たに発生。年末の需要集中に対応できる体制が要る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5138927"/>
            <a:ext cx="1517904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中（新規）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7888" y="5138927"/>
            <a:ext cx="137160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未取引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74320" y="5650992"/>
            <a:ext cx="9345168" cy="0"/>
          </a:xfrm>
          <a:prstGeom prst="line">
            <a:avLst/>
          </a:prstGeom>
          <a:ln w="6350">
            <a:solidFill>
              <a:srgbClr val="909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92608" y="5687568"/>
            <a:ext cx="210312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業務用の関西・中部拡販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32304" y="5687568"/>
            <a:ext cx="420624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【推察】外食店舗へのケース単位の定期配送が発生。関西は当社の既存配送網と重なる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5687568"/>
            <a:ext cx="1517904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中（新規）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47888" y="5687568"/>
            <a:ext cx="1371600" cy="49377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一部隣接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91714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ミオリ食品株式会社（架空）（4）　取引状況の整理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86384"/>
            <a:ext cx="935431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当社の取引はチルドの関西配送に限られ、伸びている冷凍の物流はほぼ未取引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7072" y="73152"/>
            <a:ext cx="120700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架空サンプル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498079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出所：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依頼元の取引実績（架空）と公開情報を突合して作成。数値・出来事・商品はすべて架空（実在企業の情報ではない）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注：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他社委託は求人情報・取引先公表などからの推定を含む。現行の委託先・契約条件は要確認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47104"/>
            <a:ext cx="10972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2026/10 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7968" y="6547104"/>
            <a:ext cx="75895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- 4 -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53312"/>
            <a:ext cx="6446520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5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商品カテゴリ × 物流工程の取引マップ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" y="1719072"/>
            <a:ext cx="6446520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967728" y="1353312"/>
            <a:ext cx="2651760" cy="329184"/>
          </a:xfrm>
          <a:prstGeom prst="rect">
            <a:avLst/>
          </a:prstGeom>
          <a:noFill/>
        </p:spPr>
        <p:txBody>
          <a:bodyPr wrap="square" anchor="b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5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読み取れること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67728" y="1719072"/>
            <a:ext cx="2651760" cy="0"/>
          </a:xfrm>
          <a:prstGeom prst="line">
            <a:avLst/>
          </a:prstGeom>
          <a:ln w="15875">
            <a:solidFill>
              <a:srgbClr val="26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463040" y="1883664"/>
            <a:ext cx="1298448" cy="51206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工場〜倉庫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保管・横持ち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6352" y="1883664"/>
            <a:ext cx="1298448" cy="51206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量販・CVS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センター配送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4" y="1883664"/>
            <a:ext cx="1298448" cy="51206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EC・ギフト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個人宅配送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22975" y="1883664"/>
            <a:ext cx="1298448" cy="51206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外食・中食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店舗配送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50592"/>
            <a:ext cx="1133856" cy="78638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冷凍食品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2450592"/>
            <a:ext cx="1298448" cy="786384"/>
          </a:xfrm>
          <a:prstGeom prst="rect">
            <a:avLst/>
          </a:prstGeom>
          <a:solidFill>
            <a:srgbClr val="C3CFE1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23744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他社委託（推定）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834640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関東・他社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16352" y="2450592"/>
            <a:ext cx="1298448" cy="786384"/>
          </a:xfrm>
          <a:prstGeom prst="rect">
            <a:avLst/>
          </a:prstGeom>
          <a:solidFill>
            <a:srgbClr val="C3CFE1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16352" y="2523744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他社委託（推定）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6352" y="2834640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大手3PL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9664" y="2450592"/>
            <a:ext cx="1298448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E01E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9664" y="2523744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新規発生・未取引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9664" y="2834640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2025/10〜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2975" y="2450592"/>
            <a:ext cx="1298448" cy="786384"/>
          </a:xfrm>
          <a:prstGeom prst="rect">
            <a:avLst/>
          </a:prstGeom>
          <a:solidFill>
            <a:srgbClr val="F4F4F4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22975" y="2523744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対象外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22975" y="2834640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291840"/>
            <a:ext cx="1133856" cy="78638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チルド惣菜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63040" y="3291840"/>
            <a:ext cx="1298448" cy="786384"/>
          </a:xfrm>
          <a:prstGeom prst="rect">
            <a:avLst/>
          </a:prstGeom>
          <a:solidFill>
            <a:srgbClr val="C3CFE1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63040" y="3364992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他社委託（推定）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3675888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自社倉庫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16352" y="3291840"/>
            <a:ext cx="1298448" cy="786384"/>
          </a:xfrm>
          <a:prstGeom prst="rect">
            <a:avLst/>
          </a:prstGeom>
          <a:solidFill>
            <a:srgbClr val="3F5A8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16352" y="3364992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FFFFFF"/>
                </a:solidFill>
                <a:latin typeface="Arial"/>
                <a:ea typeface="ＭＳ Ｐゴシック"/>
                <a:cs typeface="ＭＳ Ｐゴシック"/>
              </a:rPr>
              <a:t>当社取引中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16352" y="3675888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FFFFFF"/>
                </a:solidFill>
                <a:latin typeface="Arial"/>
                <a:ea typeface="ＭＳ Ｐゴシック"/>
                <a:cs typeface="ＭＳ Ｐゴシック"/>
              </a:rPr>
              <a:t>関西のみ当社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69664" y="3291840"/>
            <a:ext cx="1298448" cy="786384"/>
          </a:xfrm>
          <a:prstGeom prst="rect">
            <a:avLst/>
          </a:prstGeom>
          <a:solidFill>
            <a:srgbClr val="F4F4F4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69664" y="3364992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対象外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9664" y="3675888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22975" y="3291840"/>
            <a:ext cx="1298448" cy="786384"/>
          </a:xfrm>
          <a:prstGeom prst="rect">
            <a:avLst/>
          </a:prstGeom>
          <a:solidFill>
            <a:srgbClr val="F4F4F4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22975" y="3364992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対象外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22975" y="3675888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133087"/>
            <a:ext cx="1133856" cy="78638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調味料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63040" y="4133087"/>
            <a:ext cx="1298448" cy="786384"/>
          </a:xfrm>
          <a:prstGeom prst="rect">
            <a:avLst/>
          </a:prstGeom>
          <a:solidFill>
            <a:srgbClr val="C3CFE1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63040" y="4206240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他社委託（推定）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63040" y="4517136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常温・他社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16352" y="4133087"/>
            <a:ext cx="1298448" cy="786384"/>
          </a:xfrm>
          <a:prstGeom prst="rect">
            <a:avLst/>
          </a:prstGeom>
          <a:solidFill>
            <a:srgbClr val="C3CFE1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16352" y="4206240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他社委託（推定）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16352" y="4517136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大手3PL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69664" y="4133087"/>
            <a:ext cx="1298448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E01E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69664" y="4206240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新規発生・未取引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4" y="4517136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冷凍と同梱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22975" y="4133087"/>
            <a:ext cx="1298448" cy="786384"/>
          </a:xfrm>
          <a:prstGeom prst="rect">
            <a:avLst/>
          </a:prstGeom>
          <a:solidFill>
            <a:srgbClr val="F4F4F4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522975" y="4206240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対象外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5" y="4517136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74336"/>
            <a:ext cx="1133856" cy="786384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63040" y="4974336"/>
            <a:ext cx="1298448" cy="786384"/>
          </a:xfrm>
          <a:prstGeom prst="rect">
            <a:avLst/>
          </a:prstGeom>
          <a:solidFill>
            <a:srgbClr val="C3CFE1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63040" y="5047488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他社委託（推定）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40" y="5358383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関東・他社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816352" y="4974336"/>
            <a:ext cx="1298448" cy="786384"/>
          </a:xfrm>
          <a:prstGeom prst="rect">
            <a:avLst/>
          </a:prstGeom>
          <a:solidFill>
            <a:srgbClr val="F4F4F4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816352" y="5047488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対象外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16352" y="5358383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69664" y="4974336"/>
            <a:ext cx="1298448" cy="786384"/>
          </a:xfrm>
          <a:prstGeom prst="rect">
            <a:avLst/>
          </a:prstGeom>
          <a:solidFill>
            <a:srgbClr val="F4F4F4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69664" y="5047488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対象外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69664" y="5358383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522975" y="4974336"/>
            <a:ext cx="1298448" cy="786384"/>
          </a:xfrm>
          <a:prstGeom prst="rect">
            <a:avLst/>
          </a:prstGeom>
          <a:solidFill>
            <a:srgbClr val="FFFFFF"/>
          </a:solidFill>
          <a:ln w="22225">
            <a:solidFill>
              <a:srgbClr val="E01E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522975" y="5047488"/>
            <a:ext cx="1298448" cy="3291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000" b="1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新規発生・未取引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22975" y="5358383"/>
            <a:ext cx="1298448" cy="31089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2026/06〜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5870448"/>
            <a:ext cx="219456" cy="164592"/>
          </a:xfrm>
          <a:prstGeom prst="rect">
            <a:avLst/>
          </a:prstGeom>
          <a:solidFill>
            <a:srgbClr val="3F5A8A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5824728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当社取引中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901952" y="5870448"/>
            <a:ext cx="219456" cy="164592"/>
          </a:xfrm>
          <a:prstGeom prst="rect">
            <a:avLst/>
          </a:prstGeom>
          <a:solidFill>
            <a:srgbClr val="C3CFE1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176272" y="5824728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他社委託（推定）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29584" y="5870448"/>
            <a:ext cx="219456" cy="164592"/>
          </a:xfrm>
          <a:prstGeom prst="rect">
            <a:avLst/>
          </a:prstGeom>
          <a:solidFill>
            <a:srgbClr val="FFFFFF"/>
          </a:solidFill>
          <a:ln w="15240">
            <a:solidFill>
              <a:srgbClr val="E01E1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803904" y="5824728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新規発生・未取引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57216" y="5870448"/>
            <a:ext cx="219456" cy="164592"/>
          </a:xfrm>
          <a:prstGeom prst="rect">
            <a:avLst/>
          </a:prstGeom>
          <a:solidFill>
            <a:srgbClr val="F4F4F4"/>
          </a:solidFill>
          <a:ln w="76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31536" y="5824728"/>
            <a:ext cx="1371600" cy="256032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対象外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67728" y="1847088"/>
            <a:ext cx="2670048" cy="4297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【事実】当社の取引は「チルド惣菜×関西の量販センター配送」の1区画のみ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【推定】冷凍の保管・配送は関東の大手3PLに委託されている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冷凍の売上は3年で約1.7倍に伸びている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【事実】EC・業務用で新しい配送区画が発生している</a:t>
            </a:r>
          </a:p>
          <a:p>
            <a:pPr algn="l" marL="384048" indent="-182880">
              <a:lnSpc>
                <a:spcPct val="100000"/>
              </a:lnSpc>
              <a:spcBef>
                <a:spcPts val="100"/>
              </a:spcBef>
              <a:buFont typeface="Arial"/>
              <a:buChar char="–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まだ委託先が固まっていない可能性がある</a:t>
            </a:r>
          </a:p>
          <a:p>
            <a:pPr algn="l" marL="182880" indent="-182880">
              <a:lnSpc>
                <a:spcPct val="100000"/>
              </a:lnSpc>
              <a:spcBef>
                <a:spcPts val="300"/>
              </a:spcBef>
              <a:buFont typeface="Wingdings"/>
              <a:buChar char="§"/>
            </a:pPr>
            <a:r>
              <a:rPr sz="105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既存の大手3PLとの正面からの置換より、新規発生区画からの参入が現実的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01168"/>
            <a:ext cx="917143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ミオリ食品株式会社（架空）（5）　提案・連携余地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86384"/>
            <a:ext cx="9354312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6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新工場の稼働に伴う関東の冷凍保管を入口に、EC小口と業務用配送へ取引を広げる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8577072" y="73152"/>
            <a:ext cx="1207008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架空サンプル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498079" cy="384048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出所：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(1)〜(4)の分析にもとづく仮説。数値・出来事・商品はすべて架空（実在企業の情報ではない）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注：</a:t>
            </a: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提案の確度は公開情報から判断した目安。実際の提案前に、顧客の物流部門への確認が必要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47104"/>
            <a:ext cx="1097280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900" b="0">
                <a:solidFill>
                  <a:srgbClr val="595959"/>
                </a:solidFill>
                <a:latin typeface="Arial"/>
                <a:ea typeface="ＭＳ Ｐゴシック"/>
                <a:cs typeface="ＭＳ Ｐゴシック"/>
              </a:rPr>
              <a:t>2026/10 時点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7968" y="6547104"/>
            <a:ext cx="75895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- 5 -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2468880" cy="1316736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群馬第2工場の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冷凍保管・横持ち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444752"/>
            <a:ext cx="841248" cy="237744"/>
          </a:xfrm>
          <a:prstGeom prst="rect">
            <a:avLst/>
          </a:prstGeom>
          <a:solidFill>
            <a:srgbClr val="E01E1E"/>
          </a:solidFill>
          <a:ln w="9525">
            <a:solidFill>
              <a:srgbClr val="E0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35608"/>
            <a:ext cx="841248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1">
                <a:solidFill>
                  <a:srgbClr val="FFFFFF"/>
                </a:solidFill>
                <a:latin typeface="Arial"/>
                <a:ea typeface="ＭＳ Ｐゴシック"/>
                <a:cs typeface="ＭＳ Ｐゴシック"/>
              </a:rPr>
              <a:t>優先度 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316736"/>
            <a:ext cx="6693408" cy="1426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【事実】2026/04稼働で冷凍の生産能力が約1.5倍</a:t>
            </a:r>
          </a:p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【推察】既存の冷凍倉庫だけでは保管が不足し、外部倉庫の追加が必要になる可能性が高い</a:t>
            </a:r>
          </a:p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工場近隣の当社冷凍倉庫での一時保管と、量販センターへの横持ちを提案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想定規模（推計）：冷凍保管 300〜500パレット、横持ち 日2〜3便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初回の打ち手：年末の繁忙期前に、物流部へ保管枠の空き状況を提示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確認事項：工場内の保管能力、現行3PLとの契約更新時期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" y="2779776"/>
            <a:ext cx="9345168" cy="0"/>
          </a:xfrm>
          <a:prstGeom prst="line">
            <a:avLst/>
          </a:prstGeom>
          <a:ln w="9525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74320" y="2852928"/>
            <a:ext cx="2468880" cy="1316736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EC・ふるさと納税の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冷凍小口配送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926080"/>
            <a:ext cx="841248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E0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" y="2916936"/>
            <a:ext cx="841248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1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優先度 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798064"/>
            <a:ext cx="6693408" cy="1426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【事実】2025/10に公式ECを開設、返礼品にも採用</a:t>
            </a:r>
          </a:p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【推察】年末に出荷が集中し、大手3PLの通常便では波動に対応しにくい</a:t>
            </a:r>
          </a:p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繁忙期の出荷代行と、調味料との同梱出荷をセットで提案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想定規模（推計）：年末のピーク時に日1,000件前後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初回の打ち手：11月までに、年末の波動に合わせた出荷代行プランを提示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確認事項：月間出荷件数、現在の発送方法（自社出荷か委託か）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4320" y="4261104"/>
            <a:ext cx="9345168" cy="0"/>
          </a:xfrm>
          <a:prstGeom prst="line">
            <a:avLst/>
          </a:prstGeom>
          <a:ln w="9525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74320" y="4334256"/>
            <a:ext cx="2468880" cy="1316736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業務用の</a:t>
            </a:r>
          </a:p>
          <a:p>
            <a:pPr algn="ctr"/>
            <a:r>
              <a:rPr sz="12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関西・中部店舗配送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407408"/>
            <a:ext cx="841248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E0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4398264"/>
            <a:ext cx="841248" cy="25603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950" b="1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優先度 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279392"/>
            <a:ext cx="6693408" cy="1426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【事実】2026/06から外食チェーン3社へ供給開始の予定</a:t>
            </a:r>
          </a:p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【推察】関西は当社のチルド配送網と経路が重なり、混載で単価を抑えられる</a:t>
            </a:r>
          </a:p>
          <a:p>
            <a:pPr algn="l" marL="182880" indent="-182880">
              <a:lnSpc>
                <a:spcPct val="94000"/>
              </a:lnSpc>
              <a:spcBef>
                <a:spcPts val="300"/>
              </a:spcBef>
              <a:buFont typeface="Wingdings"/>
              <a:buChar char="§"/>
            </a:pPr>
            <a:r>
              <a:rPr sz="1000" b="0">
                <a:solidFill>
                  <a:srgbClr val="E01E1E"/>
                </a:solidFill>
                <a:latin typeface="Arial"/>
                <a:ea typeface="ＭＳ Ｐゴシック"/>
                <a:cs typeface="ＭＳ Ｐゴシック"/>
              </a:rPr>
              <a:t>既存の関西チルド便に冷凍の店舗配送を加える提案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想定規模（推計）：関西・中部の約120店舗へ週2回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初回の打ち手：既存チルド便の経路図に店舗を重ねた混載案を作って持参</a:t>
            </a:r>
          </a:p>
          <a:p>
            <a:pPr algn="l" marL="384048" indent="-182880">
              <a:lnSpc>
                <a:spcPct val="94000"/>
              </a:lnSpc>
              <a:spcBef>
                <a:spcPts val="100"/>
              </a:spcBef>
              <a:buFont typeface="Arial"/>
              <a:buChar char="–"/>
            </a:pPr>
            <a:r>
              <a:rPr sz="95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確認事項：店舗数・納品頻度、冷凍・チルドの混載可否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74320" y="5833872"/>
            <a:ext cx="9345168" cy="0"/>
          </a:xfrm>
          <a:prstGeom prst="line">
            <a:avLst/>
          </a:prstGeom>
          <a:ln w="9525">
            <a:solidFill>
              <a:srgbClr val="8080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274320" y="5907024"/>
            <a:ext cx="1188720" cy="402336"/>
          </a:xfrm>
          <a:prstGeom prst="rect">
            <a:avLst/>
          </a:prstGeom>
          <a:solidFill>
            <a:srgbClr val="EAEAEA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1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留意点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870448"/>
            <a:ext cx="8046720" cy="47548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95000"/>
              </a:lnSpc>
              <a:spcBef>
                <a:spcPts val="100"/>
              </a:spcBef>
            </a:pP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冷凍の主委託先（大手3PL）とは長期契約の可能性が高く、既存区画の置換は難しい。</a:t>
            </a:r>
            <a:r>
              <a:rPr sz="1000" b="0">
                <a:solidFill>
                  <a:srgbClr val="1A1A1A"/>
                </a:solidFill>
                <a:latin typeface="Arial"/>
                <a:ea typeface="ＭＳ Ｐゴシック"/>
                <a:cs typeface="ＭＳ Ｐゴシック"/>
              </a:rPr>
              <a:t>意思決定は物流部ではなく生産本部が持つ可能性があり、提案先の確認から始める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